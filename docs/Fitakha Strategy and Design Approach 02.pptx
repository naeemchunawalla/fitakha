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63" r:id="rId2"/>
    <p:sldId id="285" r:id="rId3"/>
    <p:sldId id="286" r:id="rId4"/>
    <p:sldId id="287" r:id="rId5"/>
    <p:sldId id="288" r:id="rId6"/>
    <p:sldId id="289" r:id="rId7"/>
    <p:sldId id="261" r:id="rId8"/>
    <p:sldId id="267" r:id="rId9"/>
    <p:sldId id="276" r:id="rId10"/>
    <p:sldId id="268" r:id="rId11"/>
    <p:sldId id="277" r:id="rId12"/>
    <p:sldId id="269" r:id="rId13"/>
    <p:sldId id="270" r:id="rId14"/>
    <p:sldId id="271" r:id="rId15"/>
    <p:sldId id="272" r:id="rId16"/>
    <p:sldId id="273" r:id="rId17"/>
    <p:sldId id="274" r:id="rId18"/>
    <p:sldId id="275" r:id="rId19"/>
    <p:sldId id="279" r:id="rId20"/>
    <p:sldId id="278" r:id="rId21"/>
    <p:sldId id="283" r:id="rId22"/>
    <p:sldId id="282" r:id="rId23"/>
    <p:sldId id="284" r:id="rId24"/>
    <p:sldId id="281" r:id="rId25"/>
    <p:sldId id="262" r:id="rId26"/>
    <p:sldId id="264" r:id="rId27"/>
    <p:sldId id="256" r:id="rId28"/>
    <p:sldId id="26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86" autoAdjust="0"/>
    <p:restoredTop sz="94404" autoAdjust="0"/>
  </p:normalViewPr>
  <p:slideViewPr>
    <p:cSldViewPr snapToGrid="0">
      <p:cViewPr varScale="1">
        <p:scale>
          <a:sx n="111" d="100"/>
          <a:sy n="111" d="100"/>
        </p:scale>
        <p:origin x="93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7590D-E8D4-4BF7-959C-A32B676B0E74}"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709B2-75F0-4EC0-A82F-2503D450EAD9}" type="slidenum">
              <a:rPr lang="en-US" smtClean="0"/>
              <a:t>‹#›</a:t>
            </a:fld>
            <a:endParaRPr lang="en-US"/>
          </a:p>
        </p:txBody>
      </p:sp>
    </p:spTree>
    <p:extLst>
      <p:ext uri="{BB962C8B-B14F-4D97-AF65-F5344CB8AC3E}">
        <p14:creationId xmlns:p14="http://schemas.microsoft.com/office/powerpoint/2010/main" val="802874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Fitakha's</a:t>
            </a:r>
            <a:r>
              <a:rPr lang="en-US" b="1" dirty="0"/>
              <a:t> structured exercise knowledge: </a:t>
            </a:r>
            <a:r>
              <a:rPr lang="en-US" dirty="0"/>
              <a:t>A structured exercise library that understands how exercises relate to movement patterns, muscles, equipment, difficulty, goals, safety considerations, regressions, progressions and alternatives.</a:t>
            </a:r>
            <a:endParaRPr lang="en-US" b="1" dirty="0"/>
          </a:p>
          <a:p>
            <a:r>
              <a:rPr lang="en-US" dirty="0"/>
              <a:t>Behind that video, Fitakha knows something like:</a:t>
            </a:r>
          </a:p>
          <a:p>
            <a:r>
              <a:rPr lang="en-US" dirty="0"/>
              <a:t>Attribute - Fitakha metadata</a:t>
            </a:r>
          </a:p>
          <a:p>
            <a:r>
              <a:rPr lang="en-US" dirty="0" err="1"/>
              <a:t>ExerciseBulgarian</a:t>
            </a:r>
            <a:r>
              <a:rPr lang="en-US" dirty="0"/>
              <a:t> - Split Squat</a:t>
            </a:r>
          </a:p>
          <a:p>
            <a:r>
              <a:rPr lang="en-US" dirty="0"/>
              <a:t>Primary muscles - Quads, glutes</a:t>
            </a:r>
          </a:p>
          <a:p>
            <a:r>
              <a:rPr lang="en-US" dirty="0"/>
              <a:t>Secondary - Hamstrings, core</a:t>
            </a:r>
          </a:p>
          <a:p>
            <a:r>
              <a:rPr lang="en-US" dirty="0"/>
              <a:t>Movement - Knee-dominant unilateral</a:t>
            </a:r>
          </a:p>
          <a:p>
            <a:r>
              <a:rPr lang="en-US" dirty="0"/>
              <a:t>Equipment - Bench + dumbbells</a:t>
            </a:r>
          </a:p>
          <a:p>
            <a:r>
              <a:rPr lang="en-US" dirty="0"/>
              <a:t>Skill - Intermediate</a:t>
            </a:r>
          </a:p>
          <a:p>
            <a:r>
              <a:rPr lang="en-US" dirty="0"/>
              <a:t>Stability demand - High</a:t>
            </a:r>
          </a:p>
          <a:p>
            <a:r>
              <a:rPr lang="en-US" dirty="0"/>
              <a:t>Balance demand - High</a:t>
            </a:r>
          </a:p>
          <a:p>
            <a:r>
              <a:rPr lang="en-US" dirty="0"/>
              <a:t>Goal - Strength / hypertrophy / stability</a:t>
            </a:r>
          </a:p>
          <a:p>
            <a:r>
              <a:rPr lang="en-US" dirty="0"/>
              <a:t>Regression - Supported split squat</a:t>
            </a:r>
          </a:p>
          <a:p>
            <a:r>
              <a:rPr lang="en-US" dirty="0"/>
              <a:t>Progression - Weighted Bulgarian split squat</a:t>
            </a:r>
          </a:p>
          <a:p>
            <a:r>
              <a:rPr lang="en-US" dirty="0"/>
              <a:t>Knee stress consideration - Moderate</a:t>
            </a:r>
          </a:p>
          <a:p>
            <a:r>
              <a:rPr lang="en-US" dirty="0"/>
              <a:t>Training phase - Depends on user/program</a:t>
            </a:r>
          </a:p>
          <a:p>
            <a:r>
              <a:rPr lang="en-US" dirty="0"/>
              <a:t>Video - Fitakha YouTube URL</a:t>
            </a:r>
          </a:p>
          <a:p>
            <a:r>
              <a:rPr lang="en-US" dirty="0"/>
              <a:t>-----------------------------------------------------------------------------------------</a:t>
            </a:r>
            <a:br>
              <a:rPr lang="en-US" dirty="0"/>
            </a:br>
            <a:r>
              <a:rPr lang="en-US" b="1" dirty="0"/>
              <a:t>Fitakha Intelligence Engine</a:t>
            </a:r>
          </a:p>
          <a:p>
            <a:r>
              <a:rPr lang="en-US" dirty="0"/>
              <a:t>Suppose two people ask:</a:t>
            </a:r>
          </a:p>
          <a:p>
            <a:r>
              <a:rPr lang="en-US" b="1" dirty="0"/>
              <a:t>Person A</a:t>
            </a:r>
            <a:endParaRPr lang="en-US" dirty="0"/>
          </a:p>
          <a:p>
            <a:r>
              <a:rPr lang="en-US" dirty="0"/>
              <a:t>"I'm 27, experienced, training for hypertrophy, slept well, recovery is good, have dumbbells and a bench."</a:t>
            </a:r>
          </a:p>
          <a:p>
            <a:r>
              <a:rPr lang="en-US" dirty="0"/>
              <a:t>The engine might select:</a:t>
            </a:r>
          </a:p>
          <a:p>
            <a:r>
              <a:rPr lang="en-US" b="1" dirty="0"/>
              <a:t>Bulgarian Split Squat → 3 × 8–10</a:t>
            </a:r>
            <a:endParaRPr lang="en-US" dirty="0"/>
          </a:p>
          <a:p>
            <a:r>
              <a:rPr lang="en-US" dirty="0"/>
              <a:t>and return your Fitakha instructional video.</a:t>
            </a:r>
          </a:p>
          <a:p>
            <a:r>
              <a:rPr lang="en-US" dirty="0"/>
              <a:t>But Person B says:</a:t>
            </a:r>
          </a:p>
          <a:p>
            <a:r>
              <a:rPr lang="en-US" dirty="0"/>
              <a:t>"I'm 62, beginner, poor balance today, training at home and only have resistance bands."</a:t>
            </a:r>
          </a:p>
          <a:p>
            <a:r>
              <a:rPr lang="en-US" dirty="0"/>
              <a:t>The engine might </a:t>
            </a:r>
            <a:r>
              <a:rPr lang="en-US" b="1" dirty="0"/>
              <a:t>not recommend the Bulgarian split squat at all</a:t>
            </a:r>
            <a:r>
              <a:rPr lang="en-US" dirty="0"/>
              <a:t>.</a:t>
            </a:r>
          </a:p>
          <a:p>
            <a:r>
              <a:rPr lang="en-US" dirty="0"/>
              <a:t>Instead:</a:t>
            </a:r>
          </a:p>
          <a:p>
            <a:r>
              <a:rPr lang="en-US" b="1" dirty="0"/>
              <a:t>Supported Split Squat → 2 × 8</a:t>
            </a:r>
            <a:endParaRPr lang="en-US" dirty="0"/>
          </a:p>
          <a:p>
            <a:r>
              <a:rPr lang="en-US" dirty="0"/>
              <a:t>with the appropriate Fitakha instructional content.</a:t>
            </a:r>
          </a:p>
          <a:p>
            <a:r>
              <a:rPr lang="en-US" dirty="0"/>
              <a:t>That's where the real product begins.</a:t>
            </a:r>
          </a:p>
          <a:p>
            <a:endParaRPr lang="en-US" dirty="0"/>
          </a:p>
        </p:txBody>
      </p:sp>
      <p:sp>
        <p:nvSpPr>
          <p:cNvPr id="4" name="Slide Number Placeholder 3"/>
          <p:cNvSpPr>
            <a:spLocks noGrp="1"/>
          </p:cNvSpPr>
          <p:nvPr>
            <p:ph type="sldNum" sz="quarter" idx="5"/>
          </p:nvPr>
        </p:nvSpPr>
        <p:spPr/>
        <p:txBody>
          <a:bodyPr/>
          <a:lstStyle/>
          <a:p>
            <a:fld id="{436709B2-75F0-4EC0-A82F-2503D450EAD9}" type="slidenum">
              <a:rPr lang="en-US" smtClean="0"/>
              <a:t>7</a:t>
            </a:fld>
            <a:endParaRPr lang="en-US"/>
          </a:p>
        </p:txBody>
      </p:sp>
    </p:spTree>
    <p:extLst>
      <p:ext uri="{BB962C8B-B14F-4D97-AF65-F5344CB8AC3E}">
        <p14:creationId xmlns:p14="http://schemas.microsoft.com/office/powerpoint/2010/main" val="2390325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307A7-F825-1F49-52BC-2C0F61BFB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53187-DA2C-C447-A967-6019BDF3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437EBD-6380-5898-5871-84FA9F3333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18E839-A70D-DBD4-C622-A65318FBE2A1}"/>
              </a:ext>
            </a:extLst>
          </p:cNvPr>
          <p:cNvSpPr>
            <a:spLocks noGrp="1"/>
          </p:cNvSpPr>
          <p:nvPr>
            <p:ph type="sldNum" sz="quarter" idx="5"/>
          </p:nvPr>
        </p:nvSpPr>
        <p:spPr/>
        <p:txBody>
          <a:bodyPr/>
          <a:lstStyle/>
          <a:p>
            <a:fld id="{436709B2-75F0-4EC0-A82F-2503D450EAD9}" type="slidenum">
              <a:rPr lang="en-US" smtClean="0"/>
              <a:t>8</a:t>
            </a:fld>
            <a:endParaRPr lang="en-US"/>
          </a:p>
        </p:txBody>
      </p:sp>
    </p:spTree>
    <p:extLst>
      <p:ext uri="{BB962C8B-B14F-4D97-AF65-F5344CB8AC3E}">
        <p14:creationId xmlns:p14="http://schemas.microsoft.com/office/powerpoint/2010/main" val="1814638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75195-D9DC-0017-975B-84BEA25AAB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6B8F3-57C8-908D-50AF-4032379B78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A7BEF-90DA-73E1-F127-F00BD3D08C34}"/>
              </a:ext>
            </a:extLst>
          </p:cNvPr>
          <p:cNvSpPr>
            <a:spLocks noGrp="1"/>
          </p:cNvSpPr>
          <p:nvPr>
            <p:ph type="body" idx="1"/>
          </p:nvPr>
        </p:nvSpPr>
        <p:spPr/>
        <p:txBody>
          <a:bodyPr/>
          <a:lstStyle/>
          <a:p>
            <a:r>
              <a:rPr lang="en-US" dirty="0"/>
              <a:t>SEO - Search Engine Optimization</a:t>
            </a:r>
          </a:p>
        </p:txBody>
      </p:sp>
      <p:sp>
        <p:nvSpPr>
          <p:cNvPr id="4" name="Slide Number Placeholder 3">
            <a:extLst>
              <a:ext uri="{FF2B5EF4-FFF2-40B4-BE49-F238E27FC236}">
                <a16:creationId xmlns:a16="http://schemas.microsoft.com/office/drawing/2014/main" id="{1E9CBFBD-89F2-D856-7260-587E6488DC27}"/>
              </a:ext>
            </a:extLst>
          </p:cNvPr>
          <p:cNvSpPr>
            <a:spLocks noGrp="1"/>
          </p:cNvSpPr>
          <p:nvPr>
            <p:ph type="sldNum" sz="quarter" idx="5"/>
          </p:nvPr>
        </p:nvSpPr>
        <p:spPr/>
        <p:txBody>
          <a:bodyPr/>
          <a:lstStyle/>
          <a:p>
            <a:fld id="{436709B2-75F0-4EC0-A82F-2503D450EAD9}" type="slidenum">
              <a:rPr lang="en-US" smtClean="0"/>
              <a:t>9</a:t>
            </a:fld>
            <a:endParaRPr lang="en-US"/>
          </a:p>
        </p:txBody>
      </p:sp>
    </p:spTree>
    <p:extLst>
      <p:ext uri="{BB962C8B-B14F-4D97-AF65-F5344CB8AC3E}">
        <p14:creationId xmlns:p14="http://schemas.microsoft.com/office/powerpoint/2010/main" val="1675719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5B5E-4437-0157-E54A-433B9ED93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CD0CB-70E1-D779-D930-499EA94D88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811A8-8FF5-3E29-CE01-9063D12D5E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4DA602-331D-773F-69A9-1E52738D59E9}"/>
              </a:ext>
            </a:extLst>
          </p:cNvPr>
          <p:cNvSpPr>
            <a:spLocks noGrp="1"/>
          </p:cNvSpPr>
          <p:nvPr>
            <p:ph type="sldNum" sz="quarter" idx="5"/>
          </p:nvPr>
        </p:nvSpPr>
        <p:spPr/>
        <p:txBody>
          <a:bodyPr/>
          <a:lstStyle/>
          <a:p>
            <a:fld id="{436709B2-75F0-4EC0-A82F-2503D450EAD9}" type="slidenum">
              <a:rPr lang="en-US" smtClean="0"/>
              <a:t>10</a:t>
            </a:fld>
            <a:endParaRPr lang="en-US"/>
          </a:p>
        </p:txBody>
      </p:sp>
    </p:spTree>
    <p:extLst>
      <p:ext uri="{BB962C8B-B14F-4D97-AF65-F5344CB8AC3E}">
        <p14:creationId xmlns:p14="http://schemas.microsoft.com/office/powerpoint/2010/main" val="180613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7F739-9F27-88A9-CBE2-E5E89B17A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C18F3-0CAB-2AB8-97BF-BC26F2E95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96972-010C-763A-A1E5-08E76601A8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03263E-4D40-04C4-6038-219087CF9A26}"/>
              </a:ext>
            </a:extLst>
          </p:cNvPr>
          <p:cNvSpPr>
            <a:spLocks noGrp="1"/>
          </p:cNvSpPr>
          <p:nvPr>
            <p:ph type="sldNum" sz="quarter" idx="5"/>
          </p:nvPr>
        </p:nvSpPr>
        <p:spPr/>
        <p:txBody>
          <a:bodyPr/>
          <a:lstStyle/>
          <a:p>
            <a:fld id="{436709B2-75F0-4EC0-A82F-2503D450EAD9}" type="slidenum">
              <a:rPr lang="en-US" smtClean="0"/>
              <a:t>11</a:t>
            </a:fld>
            <a:endParaRPr lang="en-US"/>
          </a:p>
        </p:txBody>
      </p:sp>
    </p:spTree>
    <p:extLst>
      <p:ext uri="{BB962C8B-B14F-4D97-AF65-F5344CB8AC3E}">
        <p14:creationId xmlns:p14="http://schemas.microsoft.com/office/powerpoint/2010/main" val="3723037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B57F1-4A27-3A1A-5DB6-E94263912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BB10A-2251-BABC-53BF-508EA4B13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27602-5AEE-4888-F7BF-0A90B5A89F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AC6E50-A604-CD60-53D5-0012B01511F7}"/>
              </a:ext>
            </a:extLst>
          </p:cNvPr>
          <p:cNvSpPr>
            <a:spLocks noGrp="1"/>
          </p:cNvSpPr>
          <p:nvPr>
            <p:ph type="sldNum" sz="quarter" idx="5"/>
          </p:nvPr>
        </p:nvSpPr>
        <p:spPr/>
        <p:txBody>
          <a:bodyPr/>
          <a:lstStyle/>
          <a:p>
            <a:fld id="{436709B2-75F0-4EC0-A82F-2503D450EAD9}" type="slidenum">
              <a:rPr lang="en-US" smtClean="0"/>
              <a:t>12</a:t>
            </a:fld>
            <a:endParaRPr lang="en-US"/>
          </a:p>
        </p:txBody>
      </p:sp>
    </p:spTree>
    <p:extLst>
      <p:ext uri="{BB962C8B-B14F-4D97-AF65-F5344CB8AC3E}">
        <p14:creationId xmlns:p14="http://schemas.microsoft.com/office/powerpoint/2010/main" val="1413675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37B21-0DC7-65D3-FCDA-6EEC8C753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D7623-C1B0-20C7-99E7-148B28E8B0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D2E26-CD7E-9A63-0EA7-6116954250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E79740-5C69-2A9A-A87C-85411090B877}"/>
              </a:ext>
            </a:extLst>
          </p:cNvPr>
          <p:cNvSpPr>
            <a:spLocks noGrp="1"/>
          </p:cNvSpPr>
          <p:nvPr>
            <p:ph type="sldNum" sz="quarter" idx="5"/>
          </p:nvPr>
        </p:nvSpPr>
        <p:spPr/>
        <p:txBody>
          <a:bodyPr/>
          <a:lstStyle/>
          <a:p>
            <a:fld id="{436709B2-75F0-4EC0-A82F-2503D450EAD9}" type="slidenum">
              <a:rPr lang="en-US" smtClean="0"/>
              <a:t>13</a:t>
            </a:fld>
            <a:endParaRPr lang="en-US"/>
          </a:p>
        </p:txBody>
      </p:sp>
    </p:spTree>
    <p:extLst>
      <p:ext uri="{BB962C8B-B14F-4D97-AF65-F5344CB8AC3E}">
        <p14:creationId xmlns:p14="http://schemas.microsoft.com/office/powerpoint/2010/main" val="2820204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3746A-F891-06E3-C037-46BD1865C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5600D-D25E-6FC5-A318-9DF9B20DE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1BB041-BE0E-7546-84F2-D5D0577A16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043921-A745-8FEE-61AB-14CC9661BB63}"/>
              </a:ext>
            </a:extLst>
          </p:cNvPr>
          <p:cNvSpPr>
            <a:spLocks noGrp="1"/>
          </p:cNvSpPr>
          <p:nvPr>
            <p:ph type="sldNum" sz="quarter" idx="5"/>
          </p:nvPr>
        </p:nvSpPr>
        <p:spPr/>
        <p:txBody>
          <a:bodyPr/>
          <a:lstStyle/>
          <a:p>
            <a:fld id="{436709B2-75F0-4EC0-A82F-2503D450EAD9}" type="slidenum">
              <a:rPr lang="en-US" smtClean="0"/>
              <a:t>14</a:t>
            </a:fld>
            <a:endParaRPr lang="en-US"/>
          </a:p>
        </p:txBody>
      </p:sp>
    </p:spTree>
    <p:extLst>
      <p:ext uri="{BB962C8B-B14F-4D97-AF65-F5344CB8AC3E}">
        <p14:creationId xmlns:p14="http://schemas.microsoft.com/office/powerpoint/2010/main" val="261223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B2937-EB56-27C1-F358-92C820304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11AA93-3E4F-4104-9D08-6649662CAD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EB393-2639-3534-D2EB-593AE749B0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01DBAA-7528-ABFF-DAC4-EC9AA3B60355}"/>
              </a:ext>
            </a:extLst>
          </p:cNvPr>
          <p:cNvSpPr>
            <a:spLocks noGrp="1"/>
          </p:cNvSpPr>
          <p:nvPr>
            <p:ph type="sldNum" sz="quarter" idx="5"/>
          </p:nvPr>
        </p:nvSpPr>
        <p:spPr/>
        <p:txBody>
          <a:bodyPr/>
          <a:lstStyle/>
          <a:p>
            <a:fld id="{436709B2-75F0-4EC0-A82F-2503D450EAD9}" type="slidenum">
              <a:rPr lang="en-US" smtClean="0"/>
              <a:t>15</a:t>
            </a:fld>
            <a:endParaRPr lang="en-US"/>
          </a:p>
        </p:txBody>
      </p:sp>
    </p:spTree>
    <p:extLst>
      <p:ext uri="{BB962C8B-B14F-4D97-AF65-F5344CB8AC3E}">
        <p14:creationId xmlns:p14="http://schemas.microsoft.com/office/powerpoint/2010/main" val="813103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A4C9-3950-001E-59B0-246538251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6F579-533B-38AA-DFE3-B8B6EB817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754B12-6088-6EEF-B378-836260EFA0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B85FAB-1538-523C-6397-0E1264BD6A44}"/>
              </a:ext>
            </a:extLst>
          </p:cNvPr>
          <p:cNvSpPr>
            <a:spLocks noGrp="1"/>
          </p:cNvSpPr>
          <p:nvPr>
            <p:ph type="sldNum" sz="quarter" idx="5"/>
          </p:nvPr>
        </p:nvSpPr>
        <p:spPr/>
        <p:txBody>
          <a:bodyPr/>
          <a:lstStyle/>
          <a:p>
            <a:fld id="{436709B2-75F0-4EC0-A82F-2503D450EAD9}" type="slidenum">
              <a:rPr lang="en-US" smtClean="0"/>
              <a:t>16</a:t>
            </a:fld>
            <a:endParaRPr lang="en-US"/>
          </a:p>
        </p:txBody>
      </p:sp>
    </p:spTree>
    <p:extLst>
      <p:ext uri="{BB962C8B-B14F-4D97-AF65-F5344CB8AC3E}">
        <p14:creationId xmlns:p14="http://schemas.microsoft.com/office/powerpoint/2010/main" val="3274325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53A9A-6DE5-122C-5C11-48F3B4E2B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B15DF-C037-94E9-731D-0D2A12D41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B5D8B-99A8-9A0A-D677-F97D5BB870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B87C39-E0BF-E316-CE30-AB039E3451E7}"/>
              </a:ext>
            </a:extLst>
          </p:cNvPr>
          <p:cNvSpPr>
            <a:spLocks noGrp="1"/>
          </p:cNvSpPr>
          <p:nvPr>
            <p:ph type="sldNum" sz="quarter" idx="5"/>
          </p:nvPr>
        </p:nvSpPr>
        <p:spPr/>
        <p:txBody>
          <a:bodyPr/>
          <a:lstStyle/>
          <a:p>
            <a:fld id="{436709B2-75F0-4EC0-A82F-2503D450EAD9}" type="slidenum">
              <a:rPr lang="en-US" smtClean="0"/>
              <a:t>17</a:t>
            </a:fld>
            <a:endParaRPr lang="en-US"/>
          </a:p>
        </p:txBody>
      </p:sp>
    </p:spTree>
    <p:extLst>
      <p:ext uri="{BB962C8B-B14F-4D97-AF65-F5344CB8AC3E}">
        <p14:creationId xmlns:p14="http://schemas.microsoft.com/office/powerpoint/2010/main" val="1573733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794FE-B4AB-028D-913C-F8B7E348F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151D2-8CB3-D73A-A2D4-B8A2E8396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CBB98C-9969-732D-8348-7B0569E827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A63ABF-2F8A-C30A-4672-7E4FFC27E215}"/>
              </a:ext>
            </a:extLst>
          </p:cNvPr>
          <p:cNvSpPr>
            <a:spLocks noGrp="1"/>
          </p:cNvSpPr>
          <p:nvPr>
            <p:ph type="sldNum" sz="quarter" idx="5"/>
          </p:nvPr>
        </p:nvSpPr>
        <p:spPr/>
        <p:txBody>
          <a:bodyPr/>
          <a:lstStyle/>
          <a:p>
            <a:fld id="{436709B2-75F0-4EC0-A82F-2503D450EAD9}" type="slidenum">
              <a:rPr lang="en-US" smtClean="0"/>
              <a:t>18</a:t>
            </a:fld>
            <a:endParaRPr lang="en-US"/>
          </a:p>
        </p:txBody>
      </p:sp>
    </p:spTree>
    <p:extLst>
      <p:ext uri="{BB962C8B-B14F-4D97-AF65-F5344CB8AC3E}">
        <p14:creationId xmlns:p14="http://schemas.microsoft.com/office/powerpoint/2010/main" val="2296489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45BF0-8D8D-F891-F371-17BDF47D6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11511-ACEC-4FFE-2449-2568EE8162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254E7-87FD-7173-54FA-5F479242E6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BED726-E408-B8F5-0C15-449DE30EA82A}"/>
              </a:ext>
            </a:extLst>
          </p:cNvPr>
          <p:cNvSpPr>
            <a:spLocks noGrp="1"/>
          </p:cNvSpPr>
          <p:nvPr>
            <p:ph type="sldNum" sz="quarter" idx="5"/>
          </p:nvPr>
        </p:nvSpPr>
        <p:spPr/>
        <p:txBody>
          <a:bodyPr/>
          <a:lstStyle/>
          <a:p>
            <a:fld id="{436709B2-75F0-4EC0-A82F-2503D450EAD9}" type="slidenum">
              <a:rPr lang="en-US" smtClean="0"/>
              <a:t>20</a:t>
            </a:fld>
            <a:endParaRPr lang="en-US"/>
          </a:p>
        </p:txBody>
      </p:sp>
    </p:spTree>
    <p:extLst>
      <p:ext uri="{BB962C8B-B14F-4D97-AF65-F5344CB8AC3E}">
        <p14:creationId xmlns:p14="http://schemas.microsoft.com/office/powerpoint/2010/main" val="1177663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B86F3-D2AD-F7D1-CFB7-CC3536978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2C054-969E-833F-DADE-DE900E601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4B6C53-080C-E5CC-77EC-03BC651E73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DD1463-C6C7-85A2-3D52-93844C4D0B3C}"/>
              </a:ext>
            </a:extLst>
          </p:cNvPr>
          <p:cNvSpPr>
            <a:spLocks noGrp="1"/>
          </p:cNvSpPr>
          <p:nvPr>
            <p:ph type="sldNum" sz="quarter" idx="5"/>
          </p:nvPr>
        </p:nvSpPr>
        <p:spPr/>
        <p:txBody>
          <a:bodyPr/>
          <a:lstStyle/>
          <a:p>
            <a:fld id="{436709B2-75F0-4EC0-A82F-2503D450EAD9}" type="slidenum">
              <a:rPr lang="en-US" smtClean="0"/>
              <a:t>21</a:t>
            </a:fld>
            <a:endParaRPr lang="en-US"/>
          </a:p>
        </p:txBody>
      </p:sp>
    </p:spTree>
    <p:extLst>
      <p:ext uri="{BB962C8B-B14F-4D97-AF65-F5344CB8AC3E}">
        <p14:creationId xmlns:p14="http://schemas.microsoft.com/office/powerpoint/2010/main" val="3783136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F820-A404-7A63-82CE-AE2F56C5B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3DFF0-04FD-BB84-1A13-C9C0FC409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88CA42-4154-39B8-DF21-BBE1347710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0C2658-5B3E-C3C7-6A78-FF5C83C35B4C}"/>
              </a:ext>
            </a:extLst>
          </p:cNvPr>
          <p:cNvSpPr>
            <a:spLocks noGrp="1"/>
          </p:cNvSpPr>
          <p:nvPr>
            <p:ph type="sldNum" sz="quarter" idx="5"/>
          </p:nvPr>
        </p:nvSpPr>
        <p:spPr/>
        <p:txBody>
          <a:bodyPr/>
          <a:lstStyle/>
          <a:p>
            <a:fld id="{436709B2-75F0-4EC0-A82F-2503D450EAD9}" type="slidenum">
              <a:rPr lang="en-US" smtClean="0"/>
              <a:t>22</a:t>
            </a:fld>
            <a:endParaRPr lang="en-US"/>
          </a:p>
        </p:txBody>
      </p:sp>
    </p:spTree>
    <p:extLst>
      <p:ext uri="{BB962C8B-B14F-4D97-AF65-F5344CB8AC3E}">
        <p14:creationId xmlns:p14="http://schemas.microsoft.com/office/powerpoint/2010/main" val="295403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25FEB-B7A4-FF97-A737-31282A7F3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868FB-AB88-71AE-F8A8-965CF85E9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976E6-CCA3-E8C9-D778-7668DB11C5FC}"/>
              </a:ext>
            </a:extLst>
          </p:cNvPr>
          <p:cNvSpPr>
            <a:spLocks noGrp="1"/>
          </p:cNvSpPr>
          <p:nvPr>
            <p:ph type="body" idx="1"/>
          </p:nvPr>
        </p:nvSpPr>
        <p:spPr/>
        <p:txBody>
          <a:bodyPr/>
          <a:lstStyle/>
          <a:p>
            <a:r>
              <a:rPr lang="en-US" b="1" dirty="0"/>
              <a:t>Fitakha Rules Engine Specification V1.0</a:t>
            </a:r>
          </a:p>
          <a:p>
            <a:r>
              <a:rPr lang="en-US" dirty="0"/>
              <a:t>It should contain six core components:</a:t>
            </a:r>
          </a:p>
          <a:p>
            <a:pPr lvl="0"/>
            <a:r>
              <a:rPr lang="en-US" b="1" dirty="0"/>
              <a:t>Rule Data Model</a:t>
            </a:r>
            <a:r>
              <a:rPr lang="en-US" dirty="0"/>
              <a:t> — how a rule itself is represented in JSON/YAML. </a:t>
            </a:r>
          </a:p>
          <a:p>
            <a:pPr lvl="0"/>
            <a:r>
              <a:rPr lang="en-US" b="1" dirty="0"/>
              <a:t>Safety &amp; Contraindication Rules</a:t>
            </a:r>
            <a:r>
              <a:rPr lang="en-US" dirty="0"/>
              <a:t> — hard exclusions and escalation conditions. </a:t>
            </a:r>
          </a:p>
          <a:p>
            <a:pPr lvl="0"/>
            <a:r>
              <a:rPr lang="en-US" b="1" dirty="0"/>
              <a:t>Readiness Rules</a:t>
            </a:r>
            <a:r>
              <a:rPr lang="en-US" dirty="0"/>
              <a:t> — HRV/RHR/sleep/recovery/mood/recent workload. </a:t>
            </a:r>
          </a:p>
          <a:p>
            <a:pPr lvl="0"/>
            <a:r>
              <a:rPr lang="en-US" b="1" dirty="0"/>
              <a:t>Workout Strategy Rules</a:t>
            </a:r>
            <a:r>
              <a:rPr lang="en-US" dirty="0"/>
              <a:t> — goal → workout type/body-region/movement allocation. </a:t>
            </a:r>
          </a:p>
          <a:p>
            <a:pPr lvl="0"/>
            <a:r>
              <a:rPr lang="en-US" b="1" dirty="0"/>
              <a:t>Exercise Filtering &amp; Scoring Rules</a:t>
            </a:r>
            <a:r>
              <a:rPr lang="en-US" dirty="0"/>
              <a:t> — how Master Exercise Catalog entries get filtered/ranked. </a:t>
            </a:r>
          </a:p>
          <a:p>
            <a:pPr lvl="0"/>
            <a:r>
              <a:rPr lang="en-US" b="1" dirty="0"/>
              <a:t>Decision Trace / Explainability</a:t>
            </a:r>
            <a:r>
              <a:rPr lang="en-US" dirty="0"/>
              <a:t> — record </a:t>
            </a:r>
            <a:r>
              <a:rPr lang="en-US" i="1" dirty="0"/>
              <a:t>why</a:t>
            </a:r>
            <a:r>
              <a:rPr lang="en-US" dirty="0"/>
              <a:t> every exercise was selected or rejected. </a:t>
            </a:r>
          </a:p>
          <a:p>
            <a:r>
              <a:rPr lang="en-US" dirty="0"/>
              <a:t>The sixth one will become particularly valuable commercially.</a:t>
            </a:r>
          </a:p>
          <a:p>
            <a:endParaRPr lang="en-US" dirty="0"/>
          </a:p>
          <a:p>
            <a:r>
              <a:rPr lang="en-US" dirty="0"/>
              <a:t>For example:</a:t>
            </a:r>
          </a:p>
          <a:p>
            <a:r>
              <a:rPr lang="en-US" dirty="0"/>
              <a:t>{</a:t>
            </a:r>
          </a:p>
          <a:p>
            <a:r>
              <a:rPr lang="en-US" dirty="0"/>
              <a:t>  "exercise": "Barbell Back Squat",</a:t>
            </a:r>
          </a:p>
          <a:p>
            <a:r>
              <a:rPr lang="en-US" dirty="0"/>
              <a:t>  "eligible": false,</a:t>
            </a:r>
          </a:p>
          <a:p>
            <a:r>
              <a:rPr lang="en-US" dirty="0"/>
              <a:t>  "</a:t>
            </a:r>
            <a:r>
              <a:rPr lang="en-US" dirty="0" err="1"/>
              <a:t>reason_codes</a:t>
            </a:r>
            <a:r>
              <a:rPr lang="en-US" dirty="0"/>
              <a:t>": [</a:t>
            </a:r>
          </a:p>
          <a:p>
            <a:r>
              <a:rPr lang="en-US" dirty="0"/>
              <a:t>    "KNEE_PAIN_CONTRAINDICATION",</a:t>
            </a:r>
          </a:p>
          <a:p>
            <a:r>
              <a:rPr lang="en-US" dirty="0"/>
              <a:t>    "BEGINNER_COMPLEXITY_LIMIT"</a:t>
            </a:r>
          </a:p>
          <a:p>
            <a:r>
              <a:rPr lang="en-US" dirty="0"/>
              <a:t>  ]</a:t>
            </a:r>
          </a:p>
          <a:p>
            <a:r>
              <a:rPr lang="en-US" dirty="0"/>
              <a:t>}</a:t>
            </a:r>
          </a:p>
          <a:p>
            <a:r>
              <a:rPr lang="en-US" dirty="0"/>
              <a:t>OR</a:t>
            </a:r>
          </a:p>
          <a:p>
            <a:r>
              <a:rPr lang="en-US" dirty="0"/>
              <a:t>{</a:t>
            </a:r>
          </a:p>
          <a:p>
            <a:r>
              <a:rPr lang="en-US" dirty="0"/>
              <a:t>  "exercise": "Resistance Band Row",</a:t>
            </a:r>
          </a:p>
          <a:p>
            <a:r>
              <a:rPr lang="en-US" dirty="0"/>
              <a:t>  "eligible": true,</a:t>
            </a:r>
          </a:p>
          <a:p>
            <a:r>
              <a:rPr lang="en-US" dirty="0"/>
              <a:t>  "score": 87,</a:t>
            </a:r>
          </a:p>
          <a:p>
            <a:r>
              <a:rPr lang="en-US" dirty="0"/>
              <a:t>  "</a:t>
            </a:r>
            <a:r>
              <a:rPr lang="en-US" dirty="0" err="1"/>
              <a:t>reason_codes</a:t>
            </a:r>
            <a:r>
              <a:rPr lang="en-US" dirty="0"/>
              <a:t>": [</a:t>
            </a:r>
          </a:p>
          <a:p>
            <a:r>
              <a:rPr lang="en-US" dirty="0"/>
              <a:t>    "EQUIPMENT_MATCH",</a:t>
            </a:r>
          </a:p>
          <a:p>
            <a:r>
              <a:rPr lang="en-US" dirty="0"/>
              <a:t>    "BEGINNER_APPROPRIATE",</a:t>
            </a:r>
          </a:p>
          <a:p>
            <a:r>
              <a:rPr lang="en-US" dirty="0"/>
              <a:t>    "PULL_PATTERN_REQUIRED",</a:t>
            </a:r>
          </a:p>
          <a:p>
            <a:r>
              <a:rPr lang="en-US" dirty="0"/>
              <a:t>    "GOAL_MATCH"</a:t>
            </a:r>
          </a:p>
          <a:p>
            <a:r>
              <a:rPr lang="en-US" dirty="0"/>
              <a:t>  ]</a:t>
            </a:r>
          </a:p>
          <a:p>
            <a:r>
              <a:rPr lang="en-US" dirty="0"/>
              <a:t>}</a:t>
            </a:r>
          </a:p>
          <a:p>
            <a:r>
              <a:rPr lang="en-US" dirty="0"/>
              <a:t>That means Fitakha isn't merely producing AI recommendations. It can explain:</a:t>
            </a:r>
          </a:p>
          <a:p>
            <a:r>
              <a:rPr lang="en-US" b="1" dirty="0"/>
              <a:t>Why this exercise? Why not that exercise?</a:t>
            </a:r>
            <a:endParaRPr lang="en-US" dirty="0"/>
          </a:p>
          <a:p>
            <a:r>
              <a:rPr lang="en-US" dirty="0"/>
              <a:t>That becomes part of the </a:t>
            </a:r>
            <a:r>
              <a:rPr lang="en-US" b="1" dirty="0"/>
              <a:t>Fitness Intelligence Engine moat</a:t>
            </a:r>
            <a:r>
              <a:rPr lang="en-US" dirty="0"/>
              <a:t>.</a:t>
            </a:r>
          </a:p>
        </p:txBody>
      </p:sp>
      <p:sp>
        <p:nvSpPr>
          <p:cNvPr id="4" name="Slide Number Placeholder 3">
            <a:extLst>
              <a:ext uri="{FF2B5EF4-FFF2-40B4-BE49-F238E27FC236}">
                <a16:creationId xmlns:a16="http://schemas.microsoft.com/office/drawing/2014/main" id="{0A955888-F3EB-BE99-9428-067B307703ED}"/>
              </a:ext>
            </a:extLst>
          </p:cNvPr>
          <p:cNvSpPr>
            <a:spLocks noGrp="1"/>
          </p:cNvSpPr>
          <p:nvPr>
            <p:ph type="sldNum" sz="quarter" idx="5"/>
          </p:nvPr>
        </p:nvSpPr>
        <p:spPr/>
        <p:txBody>
          <a:bodyPr/>
          <a:lstStyle/>
          <a:p>
            <a:fld id="{436709B2-75F0-4EC0-A82F-2503D450EAD9}" type="slidenum">
              <a:rPr lang="en-US" smtClean="0"/>
              <a:t>23</a:t>
            </a:fld>
            <a:endParaRPr lang="en-US"/>
          </a:p>
        </p:txBody>
      </p:sp>
    </p:spTree>
    <p:extLst>
      <p:ext uri="{BB962C8B-B14F-4D97-AF65-F5344CB8AC3E}">
        <p14:creationId xmlns:p14="http://schemas.microsoft.com/office/powerpoint/2010/main" val="56679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484E-E09A-7131-6013-58ED5E024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EDBE2-A892-117E-2DAE-C114EAB6F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D0EBF-1942-483F-05CB-F943988F37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38DC80-8F43-264D-6F64-E89507C4772E}"/>
              </a:ext>
            </a:extLst>
          </p:cNvPr>
          <p:cNvSpPr>
            <a:spLocks noGrp="1"/>
          </p:cNvSpPr>
          <p:nvPr>
            <p:ph type="sldNum" sz="quarter" idx="5"/>
          </p:nvPr>
        </p:nvSpPr>
        <p:spPr/>
        <p:txBody>
          <a:bodyPr/>
          <a:lstStyle/>
          <a:p>
            <a:fld id="{436709B2-75F0-4EC0-A82F-2503D450EAD9}" type="slidenum">
              <a:rPr lang="en-US" smtClean="0"/>
              <a:t>24</a:t>
            </a:fld>
            <a:endParaRPr lang="en-US"/>
          </a:p>
        </p:txBody>
      </p:sp>
    </p:spTree>
    <p:extLst>
      <p:ext uri="{BB962C8B-B14F-4D97-AF65-F5344CB8AC3E}">
        <p14:creationId xmlns:p14="http://schemas.microsoft.com/office/powerpoint/2010/main" val="756145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key is that </a:t>
            </a:r>
            <a:r>
              <a:rPr lang="en-US" b="1" dirty="0"/>
              <a:t>AI should choose from </a:t>
            </a:r>
            <a:r>
              <a:rPr lang="en-US" b="1" dirty="0" err="1"/>
              <a:t>Fitakha's</a:t>
            </a:r>
            <a:r>
              <a:rPr lang="en-US" b="1" dirty="0"/>
              <a:t> controlled universe</a:t>
            </a:r>
            <a:r>
              <a:rPr lang="en-US" dirty="0"/>
              <a:t>, rather than freely inventing exercises or searching YouTube every time.</a:t>
            </a:r>
          </a:p>
          <a:p>
            <a:r>
              <a:rPr lang="en-US" dirty="0"/>
              <a:t>That gives you the best of both worlds: AI personalization without losing control.</a:t>
            </a:r>
          </a:p>
          <a:p>
            <a:r>
              <a:rPr lang="en-US" dirty="0"/>
              <a:t>For V1, I would use AI mainly for </a:t>
            </a:r>
            <a:r>
              <a:rPr lang="en-US" b="1" dirty="0"/>
              <a:t>workout construction, adaptation, explanation, substitutions, progression suggestions, and natural-language interaction</a:t>
            </a:r>
            <a:r>
              <a:rPr lang="en-US" dirty="0"/>
              <a:t>. I would keep safety exclusions, exercise eligibility, and key programming constraints deterministic wherever possible.</a:t>
            </a:r>
          </a:p>
          <a:p>
            <a:r>
              <a:rPr lang="en-US" dirty="0"/>
              <a:t>So the answer is: </a:t>
            </a:r>
            <a:r>
              <a:rPr lang="en-US" b="1" dirty="0"/>
              <a:t>yes, Fitakha still needs AI — but AI becomes the intelligence layer, not the database.</a:t>
            </a:r>
            <a:r>
              <a:rPr lang="en-US" dirty="0"/>
              <a:t> That is actually a stronger architecture than relying on AI alone.</a:t>
            </a:r>
          </a:p>
          <a:p>
            <a:endParaRPr lang="en-US" dirty="0"/>
          </a:p>
        </p:txBody>
      </p:sp>
      <p:sp>
        <p:nvSpPr>
          <p:cNvPr id="4" name="Slide Number Placeholder 3"/>
          <p:cNvSpPr>
            <a:spLocks noGrp="1"/>
          </p:cNvSpPr>
          <p:nvPr>
            <p:ph type="sldNum" sz="quarter" idx="5"/>
          </p:nvPr>
        </p:nvSpPr>
        <p:spPr/>
        <p:txBody>
          <a:bodyPr/>
          <a:lstStyle/>
          <a:p>
            <a:fld id="{436709B2-75F0-4EC0-A82F-2503D450EAD9}" type="slidenum">
              <a:rPr lang="en-US" smtClean="0"/>
              <a:t>28</a:t>
            </a:fld>
            <a:endParaRPr lang="en-US"/>
          </a:p>
        </p:txBody>
      </p:sp>
    </p:spTree>
    <p:extLst>
      <p:ext uri="{BB962C8B-B14F-4D97-AF65-F5344CB8AC3E}">
        <p14:creationId xmlns:p14="http://schemas.microsoft.com/office/powerpoint/2010/main" val="1531259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4176D-6708-29AC-2F5F-AB4787D3B1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AD4929-BADC-40B7-7371-BC53D8709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7FF99A-6E1E-740B-B586-69D9E135D4A0}"/>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5" name="Footer Placeholder 4">
            <a:extLst>
              <a:ext uri="{FF2B5EF4-FFF2-40B4-BE49-F238E27FC236}">
                <a16:creationId xmlns:a16="http://schemas.microsoft.com/office/drawing/2014/main" id="{A38296E8-5809-D02C-9A5B-7B93C6378A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633CD8-9DFE-9C66-92BB-1777BEA925F3}"/>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3308535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F7F1C-FBE7-8043-0657-4FF67BBD3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A74675-162A-13E2-BFA8-EAD1F0310D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ED690C-1D75-A6C8-3ECD-3372ED8E7A19}"/>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5" name="Footer Placeholder 4">
            <a:extLst>
              <a:ext uri="{FF2B5EF4-FFF2-40B4-BE49-F238E27FC236}">
                <a16:creationId xmlns:a16="http://schemas.microsoft.com/office/drawing/2014/main" id="{1BD823FE-04F2-EE0D-95D0-CB91D952B4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1710A-F84F-904E-E66E-67B513740748}"/>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3343562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C2D2E-4A1F-17B4-965B-6D3B598705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DD3A3B-2DE8-07CD-C0A1-EDCCD82AE3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7EA7AB-2B36-DC94-40BD-E7422FA3FF84}"/>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5" name="Footer Placeholder 4">
            <a:extLst>
              <a:ext uri="{FF2B5EF4-FFF2-40B4-BE49-F238E27FC236}">
                <a16:creationId xmlns:a16="http://schemas.microsoft.com/office/drawing/2014/main" id="{64C3BC9B-29CA-3ABA-96D4-BA2BCA9D30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762552-DDEF-01F4-1183-A998EB68F2A5}"/>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853441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550FE-B533-6FBB-8D6D-7E3127B18F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43FE8E-37EB-00DE-896A-E26AD14BEE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E5D57F-1D3B-1CFE-E39C-9B3DA99725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B9DA1E-5593-2801-E219-9E100838EDA8}"/>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6" name="Footer Placeholder 5">
            <a:extLst>
              <a:ext uri="{FF2B5EF4-FFF2-40B4-BE49-F238E27FC236}">
                <a16:creationId xmlns:a16="http://schemas.microsoft.com/office/drawing/2014/main" id="{A6C4A692-99B7-69F1-8AA2-445E06E12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0F49D9-F55E-4F0C-982A-E2A8491A0B1C}"/>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2092459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00762-3E0E-6103-A4EE-F34049A5D5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44E9E8-287B-2EEC-DC77-A653FEFC49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C2B707-3A9D-4832-51ED-E920F094EA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AAFEF3-DB10-D09D-3C48-DDF1BE89CE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04927C-FC0C-9C58-F59B-517C70138E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3F2CD3-FB04-3304-79F9-90C2EA0CB20A}"/>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8" name="Footer Placeholder 7">
            <a:extLst>
              <a:ext uri="{FF2B5EF4-FFF2-40B4-BE49-F238E27FC236}">
                <a16:creationId xmlns:a16="http://schemas.microsoft.com/office/drawing/2014/main" id="{ECBF396F-85FB-8A1C-A93C-608813F2B4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DB6161-4D73-8058-57A5-142E9AF8A1E5}"/>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3797221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3866F-F25D-7FF7-617B-716F279381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F5E81-1683-2F98-5CDB-05780B5A3778}"/>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4" name="Footer Placeholder 3">
            <a:extLst>
              <a:ext uri="{FF2B5EF4-FFF2-40B4-BE49-F238E27FC236}">
                <a16:creationId xmlns:a16="http://schemas.microsoft.com/office/drawing/2014/main" id="{6C74A544-388B-0506-335D-4FEE543139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9C2E51-0825-3D39-795C-AB5DECC6FC8D}"/>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2657131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541B8-ED3E-9BE1-EDCB-484FF83E5628}"/>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3" name="Footer Placeholder 2">
            <a:extLst>
              <a:ext uri="{FF2B5EF4-FFF2-40B4-BE49-F238E27FC236}">
                <a16:creationId xmlns:a16="http://schemas.microsoft.com/office/drawing/2014/main" id="{44144B40-D32F-F173-64E6-B0FDE6F238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5F3540-08B7-7112-C61B-3FB91C8C968A}"/>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1965980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A255F-2396-4CD2-B90C-4D9AD55223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BAFB33-D546-613B-8A7D-2EF64DEFF6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1C7771-6D09-3EF2-FC8A-7FBDC3615D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2DD1A3-1AD1-4C6B-24B8-E626FCDD5E66}"/>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6" name="Footer Placeholder 5">
            <a:extLst>
              <a:ext uri="{FF2B5EF4-FFF2-40B4-BE49-F238E27FC236}">
                <a16:creationId xmlns:a16="http://schemas.microsoft.com/office/drawing/2014/main" id="{2BBF1BAB-10D5-F18F-2D0E-03F8C40B3A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E7F379-ACE3-4A49-FEBB-3FFD99B0AE1D}"/>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2761202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C7804-C982-1ABF-D0E7-E1D253593C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C24506-E124-1101-E62C-668FA335BC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B33DA3-CC67-96C4-8C3D-BA7214BEC8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78F8F5-6BE6-3DC1-71E7-6F3E6D1B3A35}"/>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6" name="Footer Placeholder 5">
            <a:extLst>
              <a:ext uri="{FF2B5EF4-FFF2-40B4-BE49-F238E27FC236}">
                <a16:creationId xmlns:a16="http://schemas.microsoft.com/office/drawing/2014/main" id="{1301038D-2996-4F96-646D-EB950658B7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8E583-E0A4-4A96-20A7-8C2D4FCA238F}"/>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4290047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B2D3-473D-D106-FBA6-A3B4D8C4C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691A25-78FD-9A1F-2D4C-8FB34DE27E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B3CA7B-4789-FE21-4E45-8CF1BC150636}"/>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5" name="Footer Placeholder 4">
            <a:extLst>
              <a:ext uri="{FF2B5EF4-FFF2-40B4-BE49-F238E27FC236}">
                <a16:creationId xmlns:a16="http://schemas.microsoft.com/office/drawing/2014/main" id="{CD4B6E40-9418-4C10-2BAE-B265CE784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66C7F-1384-7B1D-C2EA-D3952A658B84}"/>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2632048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6DCD3E-29F9-2720-494E-3EEBD413D1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CDEA9-345B-901B-83F7-003679129E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861AAC-B253-7828-9075-7C5C162F2194}"/>
              </a:ext>
            </a:extLst>
          </p:cNvPr>
          <p:cNvSpPr>
            <a:spLocks noGrp="1"/>
          </p:cNvSpPr>
          <p:nvPr>
            <p:ph type="dt" sz="half" idx="10"/>
          </p:nvPr>
        </p:nvSpPr>
        <p:spPr/>
        <p:txBody>
          <a:bodyPr/>
          <a:lstStyle/>
          <a:p>
            <a:fld id="{2663E70F-9E1F-45EB-979B-5FE626F8045D}" type="datetimeFigureOut">
              <a:rPr lang="en-US" smtClean="0"/>
              <a:t>9/21/2026</a:t>
            </a:fld>
            <a:endParaRPr lang="en-US"/>
          </a:p>
        </p:txBody>
      </p:sp>
      <p:sp>
        <p:nvSpPr>
          <p:cNvPr id="5" name="Footer Placeholder 4">
            <a:extLst>
              <a:ext uri="{FF2B5EF4-FFF2-40B4-BE49-F238E27FC236}">
                <a16:creationId xmlns:a16="http://schemas.microsoft.com/office/drawing/2014/main" id="{D2A441D7-84DC-BF80-E948-CEDABB957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E9AED5-D487-23AF-6C52-5DD6E4796987}"/>
              </a:ext>
            </a:extLst>
          </p:cNvPr>
          <p:cNvSpPr>
            <a:spLocks noGrp="1"/>
          </p:cNvSpPr>
          <p:nvPr>
            <p:ph type="sldNum" sz="quarter" idx="12"/>
          </p:nvPr>
        </p:nvSpPr>
        <p:spPr/>
        <p:txBody>
          <a:bodyPr/>
          <a:lstStyle/>
          <a:p>
            <a:fld id="{17408043-4F17-4B76-97D7-207E1B63F699}" type="slidenum">
              <a:rPr lang="en-US" smtClean="0"/>
              <a:t>‹#›</a:t>
            </a:fld>
            <a:endParaRPr lang="en-US"/>
          </a:p>
        </p:txBody>
      </p:sp>
    </p:spTree>
    <p:extLst>
      <p:ext uri="{BB962C8B-B14F-4D97-AF65-F5344CB8AC3E}">
        <p14:creationId xmlns:p14="http://schemas.microsoft.com/office/powerpoint/2010/main" val="4014981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E9EFAF-F9C8-15A8-43F9-5EF4A02E46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B22A9C-5EA8-D4ED-F5B4-BC778462D8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E4FCD8-67BF-FB19-C811-408B0B740E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63E70F-9E1F-45EB-979B-5FE626F8045D}" type="datetimeFigureOut">
              <a:rPr lang="en-US" smtClean="0"/>
              <a:t>9/21/2026</a:t>
            </a:fld>
            <a:endParaRPr lang="en-US"/>
          </a:p>
        </p:txBody>
      </p:sp>
      <p:sp>
        <p:nvSpPr>
          <p:cNvPr id="5" name="Footer Placeholder 4">
            <a:extLst>
              <a:ext uri="{FF2B5EF4-FFF2-40B4-BE49-F238E27FC236}">
                <a16:creationId xmlns:a16="http://schemas.microsoft.com/office/drawing/2014/main" id="{B61A71AB-8FE3-E96C-C8FA-4B1E9BD002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1C299A-0BAB-97E3-0726-D4683D67B8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408043-4F17-4B76-97D7-207E1B63F699}" type="slidenum">
              <a:rPr lang="en-US" smtClean="0"/>
              <a:t>‹#›</a:t>
            </a:fld>
            <a:endParaRPr lang="en-US"/>
          </a:p>
        </p:txBody>
      </p:sp>
    </p:spTree>
    <p:extLst>
      <p:ext uri="{BB962C8B-B14F-4D97-AF65-F5344CB8AC3E}">
        <p14:creationId xmlns:p14="http://schemas.microsoft.com/office/powerpoint/2010/main" val="2083527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C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3" name="TextBox 2"/>
          <p:cNvSpPr txBox="1"/>
          <p:nvPr/>
        </p:nvSpPr>
        <p:spPr>
          <a:xfrm>
            <a:off x="731520" y="1234440"/>
            <a:ext cx="7578293" cy="1200329"/>
          </a:xfrm>
          <a:prstGeom prst="rect">
            <a:avLst/>
          </a:prstGeom>
          <a:noFill/>
        </p:spPr>
        <p:txBody>
          <a:bodyPr wrap="none">
            <a:spAutoFit/>
          </a:bodyPr>
          <a:lstStyle/>
          <a:p>
            <a:pPr>
              <a:defRPr sz="4800" b="1">
                <a:solidFill>
                  <a:srgbClr val="FFFFFF"/>
                </a:solidFill>
              </a:defRPr>
            </a:pPr>
            <a:r>
              <a:rPr dirty="0">
                <a:latin typeface="Calibri" panose="020F0502020204030204" pitchFamily="34" charset="0"/>
                <a:ea typeface="Calibri" panose="020F0502020204030204" pitchFamily="34" charset="0"/>
                <a:cs typeface="Calibri" panose="020F0502020204030204" pitchFamily="34" charset="0"/>
              </a:rPr>
              <a:t>FITAKHA</a:t>
            </a:r>
          </a:p>
          <a:p>
            <a:pPr>
              <a:defRPr sz="2400">
                <a:solidFill>
                  <a:srgbClr val="27BED2"/>
                </a:solidFill>
              </a:defRPr>
            </a:pPr>
            <a:r>
              <a:rPr lang="en-US" dirty="0">
                <a:latin typeface="Calibri" panose="020F0502020204030204" pitchFamily="34" charset="0"/>
                <a:ea typeface="Calibri" panose="020F0502020204030204" pitchFamily="34" charset="0"/>
                <a:cs typeface="Calibri" panose="020F0502020204030204" pitchFamily="34" charset="0"/>
              </a:rPr>
              <a:t>Content + </a:t>
            </a:r>
            <a:r>
              <a:rPr dirty="0">
                <a:latin typeface="Calibri" panose="020F0502020204030204" pitchFamily="34" charset="0"/>
                <a:ea typeface="Calibri" panose="020F0502020204030204" pitchFamily="34" charset="0"/>
                <a:cs typeface="Calibri" panose="020F0502020204030204" pitchFamily="34" charset="0"/>
              </a:rPr>
              <a:t>Exercise Intelligence + Recommendation Platform</a:t>
            </a:r>
          </a:p>
        </p:txBody>
      </p:sp>
      <p:sp>
        <p:nvSpPr>
          <p:cNvPr id="4" name="TextBox 3"/>
          <p:cNvSpPr txBox="1"/>
          <p:nvPr/>
        </p:nvSpPr>
        <p:spPr>
          <a:xfrm>
            <a:off x="749808" y="2926080"/>
            <a:ext cx="6251327" cy="630942"/>
          </a:xfrm>
          <a:prstGeom prst="rect">
            <a:avLst/>
          </a:prstGeom>
          <a:noFill/>
        </p:spPr>
        <p:txBody>
          <a:bodyPr wrap="none">
            <a:spAutoFit/>
          </a:bodyPr>
          <a:lstStyle/>
          <a:p>
            <a:pPr>
              <a:defRPr sz="2000" b="1">
                <a:solidFill>
                  <a:srgbClr val="FFFFFF"/>
                </a:solidFill>
              </a:defRPr>
            </a:pPr>
            <a:r>
              <a:rPr>
                <a:latin typeface="Calibri" panose="020F0502020204030204" pitchFamily="34" charset="0"/>
                <a:ea typeface="Calibri" panose="020F0502020204030204" pitchFamily="34" charset="0"/>
                <a:cs typeface="Calibri" panose="020F0502020204030204" pitchFamily="34" charset="0"/>
              </a:rPr>
              <a:t>Working strategy deck</a:t>
            </a:r>
          </a:p>
          <a:p>
            <a:pPr>
              <a:defRPr sz="1500">
                <a:solidFill>
                  <a:srgbClr val="BECDDC"/>
                </a:solidFill>
              </a:defRPr>
            </a:pPr>
            <a:r>
              <a:rPr>
                <a:latin typeface="Calibri" panose="020F0502020204030204" pitchFamily="34" charset="0"/>
                <a:ea typeface="Calibri" panose="020F0502020204030204" pitchFamily="34" charset="0"/>
                <a:cs typeface="Calibri" panose="020F0502020204030204" pitchFamily="34" charset="0"/>
              </a:rPr>
              <a:t>Architecture • Moat • Content flywheel • Platform licensing • Business model</a:t>
            </a:r>
          </a:p>
        </p:txBody>
      </p:sp>
      <p:sp>
        <p:nvSpPr>
          <p:cNvPr id="5" name="TextBox 4"/>
          <p:cNvSpPr txBox="1"/>
          <p:nvPr/>
        </p:nvSpPr>
        <p:spPr>
          <a:xfrm>
            <a:off x="749808" y="5257800"/>
            <a:ext cx="2260555" cy="369332"/>
          </a:xfrm>
          <a:prstGeom prst="rect">
            <a:avLst/>
          </a:prstGeom>
          <a:noFill/>
        </p:spPr>
        <p:txBody>
          <a:bodyPr wrap="none">
            <a:spAutoFit/>
          </a:bodyPr>
          <a:lstStyle/>
          <a:p>
            <a:pPr>
              <a:defRPr sz="1800" i="1">
                <a:solidFill>
                  <a:srgbClr val="27BED2"/>
                </a:solidFill>
              </a:defRPr>
            </a:pPr>
            <a:r>
              <a:rPr>
                <a:latin typeface="Calibri" panose="020F0502020204030204" pitchFamily="34" charset="0"/>
                <a:ea typeface="Calibri" panose="020F0502020204030204" pitchFamily="34" charset="0"/>
                <a:cs typeface="Calibri" panose="020F0502020204030204" pitchFamily="34" charset="0"/>
              </a:rPr>
              <a:t>Progress with Purpose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6FF0561-9162-F198-34FA-4EE801D8D73C}"/>
              </a:ext>
            </a:extLst>
          </p:cNvPr>
          <p:cNvGraphicFramePr>
            <a:graphicFrameLocks noGrp="1"/>
          </p:cNvGraphicFramePr>
          <p:nvPr>
            <p:extLst>
              <p:ext uri="{D42A27DB-BD31-4B8C-83A1-F6EECF244321}">
                <p14:modId xmlns:p14="http://schemas.microsoft.com/office/powerpoint/2010/main" val="1671622040"/>
              </p:ext>
            </p:extLst>
          </p:nvPr>
        </p:nvGraphicFramePr>
        <p:xfrm>
          <a:off x="362309" y="448574"/>
          <a:ext cx="11430000" cy="5893015"/>
        </p:xfrm>
        <a:graphic>
          <a:graphicData uri="http://schemas.openxmlformats.org/drawingml/2006/table">
            <a:tbl>
              <a:tblPr>
                <a:tableStyleId>{5C22544A-7EE6-4342-B048-85BDC9FD1C3A}</a:tableStyleId>
              </a:tblPr>
              <a:tblGrid>
                <a:gridCol w="4577324">
                  <a:extLst>
                    <a:ext uri="{9D8B030D-6E8A-4147-A177-3AD203B41FA5}">
                      <a16:colId xmlns:a16="http://schemas.microsoft.com/office/drawing/2014/main" val="1515408496"/>
                    </a:ext>
                  </a:extLst>
                </a:gridCol>
                <a:gridCol w="6852676">
                  <a:extLst>
                    <a:ext uri="{9D8B030D-6E8A-4147-A177-3AD203B41FA5}">
                      <a16:colId xmlns:a16="http://schemas.microsoft.com/office/drawing/2014/main" val="2329055846"/>
                    </a:ext>
                  </a:extLst>
                </a:gridCol>
              </a:tblGrid>
              <a:tr h="307410">
                <a:tc>
                  <a:txBody>
                    <a:bodyPr/>
                    <a:lstStyle/>
                    <a:p>
                      <a:pPr>
                        <a:buNone/>
                      </a:pPr>
                      <a:r>
                        <a:rPr lang="en-US" sz="1800" b="1" dirty="0">
                          <a:latin typeface="Calibri" panose="020F0502020204030204" pitchFamily="34" charset="0"/>
                          <a:ea typeface="Calibri" panose="020F0502020204030204" pitchFamily="34" charset="0"/>
                          <a:cs typeface="Calibri" panose="020F0502020204030204" pitchFamily="34" charset="0"/>
                        </a:rPr>
                        <a:t>Core objective</a:t>
                      </a:r>
                    </a:p>
                  </a:txBody>
                  <a:tcPr marL="59607" marR="59607" marT="29804" marB="29804" anchor="ctr">
                    <a:solidFill>
                      <a:schemeClr val="tx2">
                        <a:lumMod val="10000"/>
                        <a:lumOff val="90000"/>
                      </a:schemeClr>
                    </a:solidFill>
                  </a:tcPr>
                </a:tc>
                <a:tc>
                  <a:txBody>
                    <a:bodyPr/>
                    <a:lstStyle/>
                    <a:p>
                      <a:pPr>
                        <a:buNone/>
                      </a:pPr>
                      <a:r>
                        <a:rPr lang="en-US" sz="1800" b="1" dirty="0">
                          <a:latin typeface="Calibri" panose="020F0502020204030204" pitchFamily="34" charset="0"/>
                          <a:ea typeface="Calibri" panose="020F0502020204030204" pitchFamily="34" charset="0"/>
                          <a:cs typeface="Calibri" panose="020F0502020204030204" pitchFamily="34" charset="0"/>
                        </a:rPr>
                        <a:t>Description</a:t>
                      </a:r>
                    </a:p>
                  </a:txBody>
                  <a:tcPr marL="59607" marR="59607" marT="29804" marB="29804" anchor="ctr">
                    <a:solidFill>
                      <a:schemeClr val="tx2">
                        <a:lumMod val="10000"/>
                        <a:lumOff val="90000"/>
                      </a:schemeClr>
                    </a:solidFill>
                  </a:tcPr>
                </a:tc>
                <a:extLst>
                  <a:ext uri="{0D108BD9-81ED-4DB2-BD59-A6C34878D82A}">
                    <a16:rowId xmlns:a16="http://schemas.microsoft.com/office/drawing/2014/main" val="1353566628"/>
                  </a:ext>
                </a:extLst>
              </a:tr>
              <a:tr h="1698467">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1. Make fitness accessible and achievable for everyone</a:t>
                      </a:r>
                    </a:p>
                  </a:txBody>
                  <a:tcPr marL="59607" marR="59607" marT="29804" marB="29804" anchor="ctr">
                    <a:noFill/>
                  </a:tcPr>
                </a:tc>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Help people build consistent fitness habits regardless of experience, equipment, or location. Provide clear exercise demonstrations, proper technique, common mistakes, and adaptable workouts through the Be a Fitakha channel and platform—supporting movement at home, in office, in the gym, or while traveling.</a:t>
                      </a:r>
                    </a:p>
                  </a:txBody>
                  <a:tcPr marL="59607" marR="59607" marT="29804" marB="29804" anchor="ctr">
                    <a:noFill/>
                  </a:tcPr>
                </a:tc>
                <a:extLst>
                  <a:ext uri="{0D108BD9-81ED-4DB2-BD59-A6C34878D82A}">
                    <a16:rowId xmlns:a16="http://schemas.microsoft.com/office/drawing/2014/main" val="2640038575"/>
                  </a:ext>
                </a:extLst>
              </a:tr>
              <a:tr h="1930310">
                <a:tc>
                  <a:txBody>
                    <a:bodyPr/>
                    <a:lstStyle/>
                    <a:p>
                      <a:pPr>
                        <a:buNone/>
                      </a:pPr>
                      <a:r>
                        <a:rPr lang="en-US" sz="1600">
                          <a:latin typeface="Calibri" panose="020F0502020204030204" pitchFamily="34" charset="0"/>
                          <a:ea typeface="Calibri" panose="020F0502020204030204" pitchFamily="34" charset="0"/>
                          <a:cs typeface="Calibri" panose="020F0502020204030204" pitchFamily="34" charset="0"/>
                        </a:rPr>
                        <a:t>2. Deliver personalized, adaptive fitness guidance</a:t>
                      </a:r>
                    </a:p>
                  </a:txBody>
                  <a:tcPr marL="59607" marR="59607" marT="29804" marB="29804" anchor="ctr">
                    <a:noFill/>
                  </a:tcPr>
                </a:tc>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Build the Fitakha Fitness Intelligence Engine to recommend workouts based on individual goals, abilities, preferences, equipment, and relevant health and recovery data when available. Adapt recommendations as users progress, supporting weight management, strength, mobility, general fitness, and sports preparation through </a:t>
                      </a:r>
                      <a:r>
                        <a:rPr lang="en-US" sz="1600" dirty="0" err="1">
                          <a:latin typeface="Calibri" panose="020F0502020204030204" pitchFamily="34" charset="0"/>
                          <a:ea typeface="Calibri" panose="020F0502020204030204" pitchFamily="34" charset="0"/>
                          <a:cs typeface="Calibri" panose="020F0502020204030204" pitchFamily="34" charset="0"/>
                        </a:rPr>
                        <a:t>Fitakha’s</a:t>
                      </a:r>
                      <a:r>
                        <a:rPr lang="en-US" sz="1600" dirty="0">
                          <a:latin typeface="Calibri" panose="020F0502020204030204" pitchFamily="34" charset="0"/>
                          <a:ea typeface="Calibri" panose="020F0502020204030204" pitchFamily="34" charset="0"/>
                          <a:cs typeface="Calibri" panose="020F0502020204030204" pitchFamily="34" charset="0"/>
                        </a:rPr>
                        <a:t> app and APIs for other platforms.</a:t>
                      </a:r>
                    </a:p>
                  </a:txBody>
                  <a:tcPr marL="59607" marR="59607" marT="29804" marB="29804" anchor="ctr">
                    <a:noFill/>
                  </a:tcPr>
                </a:tc>
                <a:extLst>
                  <a:ext uri="{0D108BD9-81ED-4DB2-BD59-A6C34878D82A}">
                    <a16:rowId xmlns:a16="http://schemas.microsoft.com/office/drawing/2014/main" val="3745127756"/>
                  </a:ext>
                </a:extLst>
              </a:tr>
              <a:tr h="1930310">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3. Connect people with expertise and ongoing support</a:t>
                      </a:r>
                    </a:p>
                  </a:txBody>
                  <a:tcPr marL="59607" marR="59607" marT="29804" marB="29804" anchor="ctr">
                    <a:noFill/>
                  </a:tcPr>
                </a:tc>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Create an integrated ecosystem where users can discover coaches and, over time, nutritionists, dietitians, and other qualified wellness professionals. Combine educational content, professional guidance, and progress tracking to help users sustain healthy habits, while giving professionals a platform to reach and serve clients.</a:t>
                      </a:r>
                    </a:p>
                  </a:txBody>
                  <a:tcPr marL="59607" marR="59607" marT="29804" marB="29804" anchor="ctr">
                    <a:noFill/>
                  </a:tcPr>
                </a:tc>
                <a:extLst>
                  <a:ext uri="{0D108BD9-81ED-4DB2-BD59-A6C34878D82A}">
                    <a16:rowId xmlns:a16="http://schemas.microsoft.com/office/drawing/2014/main" val="3427562060"/>
                  </a:ext>
                </a:extLst>
              </a:tr>
            </a:tbl>
          </a:graphicData>
        </a:graphic>
      </p:graphicFrame>
    </p:spTree>
    <p:extLst>
      <p:ext uri="{BB962C8B-B14F-4D97-AF65-F5344CB8AC3E}">
        <p14:creationId xmlns:p14="http://schemas.microsoft.com/office/powerpoint/2010/main" val="84487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6F57D-A91B-11CE-6FC5-91CB88E0E4F1}"/>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347B068-6E48-4EF7-BE23-3F239753E5A4}"/>
              </a:ext>
            </a:extLst>
          </p:cNvPr>
          <p:cNvGraphicFramePr>
            <a:graphicFrameLocks noGrp="1"/>
          </p:cNvGraphicFramePr>
          <p:nvPr>
            <p:extLst>
              <p:ext uri="{D42A27DB-BD31-4B8C-83A1-F6EECF244321}">
                <p14:modId xmlns:p14="http://schemas.microsoft.com/office/powerpoint/2010/main" val="2378932236"/>
              </p:ext>
            </p:extLst>
          </p:nvPr>
        </p:nvGraphicFramePr>
        <p:xfrm>
          <a:off x="138023" y="138022"/>
          <a:ext cx="11938960" cy="5762068"/>
        </p:xfrm>
        <a:graphic>
          <a:graphicData uri="http://schemas.openxmlformats.org/drawingml/2006/table">
            <a:tbl>
              <a:tblPr>
                <a:tableStyleId>{5C22544A-7EE6-4342-B048-85BDC9FD1C3A}</a:tableStyleId>
              </a:tblPr>
              <a:tblGrid>
                <a:gridCol w="2984740">
                  <a:extLst>
                    <a:ext uri="{9D8B030D-6E8A-4147-A177-3AD203B41FA5}">
                      <a16:colId xmlns:a16="http://schemas.microsoft.com/office/drawing/2014/main" val="1331903979"/>
                    </a:ext>
                  </a:extLst>
                </a:gridCol>
                <a:gridCol w="2984740">
                  <a:extLst>
                    <a:ext uri="{9D8B030D-6E8A-4147-A177-3AD203B41FA5}">
                      <a16:colId xmlns:a16="http://schemas.microsoft.com/office/drawing/2014/main" val="1259828852"/>
                    </a:ext>
                  </a:extLst>
                </a:gridCol>
                <a:gridCol w="2984740">
                  <a:extLst>
                    <a:ext uri="{9D8B030D-6E8A-4147-A177-3AD203B41FA5}">
                      <a16:colId xmlns:a16="http://schemas.microsoft.com/office/drawing/2014/main" val="2848374265"/>
                    </a:ext>
                  </a:extLst>
                </a:gridCol>
                <a:gridCol w="2984740">
                  <a:extLst>
                    <a:ext uri="{9D8B030D-6E8A-4147-A177-3AD203B41FA5}">
                      <a16:colId xmlns:a16="http://schemas.microsoft.com/office/drawing/2014/main" val="577282706"/>
                    </a:ext>
                  </a:extLst>
                </a:gridCol>
              </a:tblGrid>
              <a:tr h="278484">
                <a:tc>
                  <a:txBody>
                    <a:bodyPr/>
                    <a:lstStyle/>
                    <a:p>
                      <a:pPr>
                        <a:buNone/>
                      </a:pPr>
                      <a:r>
                        <a:rPr lang="en-US" sz="1400" b="1" dirty="0">
                          <a:latin typeface="Calibri" panose="020F0502020204030204" pitchFamily="34" charset="0"/>
                          <a:ea typeface="Calibri" panose="020F0502020204030204" pitchFamily="34" charset="0"/>
                          <a:cs typeface="Calibri" panose="020F0502020204030204" pitchFamily="34" charset="0"/>
                        </a:rPr>
                        <a:t>Persona</a:t>
                      </a:r>
                    </a:p>
                  </a:txBody>
                  <a:tcPr marL="23649" marR="23649" marT="11824" marB="11824" anchor="ctr"/>
                </a:tc>
                <a:tc>
                  <a:txBody>
                    <a:bodyPr/>
                    <a:lstStyle/>
                    <a:p>
                      <a:pPr>
                        <a:buNone/>
                      </a:pPr>
                      <a:r>
                        <a:rPr lang="en-US" sz="1400" b="1" dirty="0">
                          <a:latin typeface="Calibri" panose="020F0502020204030204" pitchFamily="34" charset="0"/>
                          <a:ea typeface="Calibri" panose="020F0502020204030204" pitchFamily="34" charset="0"/>
                          <a:cs typeface="Calibri" panose="020F0502020204030204" pitchFamily="34" charset="0"/>
                        </a:rPr>
                        <a:t>Situation and goal</a:t>
                      </a:r>
                    </a:p>
                  </a:txBody>
                  <a:tcPr marL="23649" marR="23649" marT="11824" marB="11824" anchor="ctr"/>
                </a:tc>
                <a:tc>
                  <a:txBody>
                    <a:bodyPr/>
                    <a:lstStyle/>
                    <a:p>
                      <a:pPr>
                        <a:buNone/>
                      </a:pPr>
                      <a:r>
                        <a:rPr lang="en-US" sz="1400" b="1" dirty="0">
                          <a:latin typeface="Calibri" panose="020F0502020204030204" pitchFamily="34" charset="0"/>
                          <a:ea typeface="Calibri" panose="020F0502020204030204" pitchFamily="34" charset="0"/>
                          <a:cs typeface="Calibri" panose="020F0502020204030204" pitchFamily="34" charset="0"/>
                        </a:rPr>
                        <a:t>Fitakha Recommendation Engine use case</a:t>
                      </a:r>
                    </a:p>
                  </a:txBody>
                  <a:tcPr marL="23649" marR="23649" marT="11824" marB="11824" anchor="ctr"/>
                </a:tc>
                <a:tc>
                  <a:txBody>
                    <a:bodyPr/>
                    <a:lstStyle/>
                    <a:p>
                      <a:pPr>
                        <a:buNone/>
                      </a:pPr>
                      <a:r>
                        <a:rPr lang="en-US" sz="1400" b="1" dirty="0">
                          <a:latin typeface="Calibri" panose="020F0502020204030204" pitchFamily="34" charset="0"/>
                          <a:ea typeface="Calibri" panose="020F0502020204030204" pitchFamily="34" charset="0"/>
                          <a:cs typeface="Calibri" panose="020F0502020204030204" pitchFamily="34" charset="0"/>
                        </a:rPr>
                        <a:t>Be a Fitakha channel use case</a:t>
                      </a:r>
                    </a:p>
                  </a:txBody>
                  <a:tcPr marL="23649" marR="23649" marT="11824" marB="11824" anchor="ctr"/>
                </a:tc>
                <a:extLst>
                  <a:ext uri="{0D108BD9-81ED-4DB2-BD59-A6C34878D82A}">
                    <a16:rowId xmlns:a16="http://schemas.microsoft.com/office/drawing/2014/main" val="2443024633"/>
                  </a:ext>
                </a:extLst>
              </a:tr>
              <a:tr h="779754">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1. Bella Bear — Beginner seeking weight management</a:t>
                      </a:r>
                    </a:p>
                  </a:txBody>
                  <a:tcPr marL="23649" marR="23649" marT="11824" marB="11824" anchor="ct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New to exercise and unsure where to start. Wants to manage weight, improve fitness, and build consistency.</a:t>
                      </a:r>
                    </a:p>
                  </a:txBody>
                  <a:tcPr marL="23649" marR="23649" marT="11824" marB="11824" anchor="ct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Creates manageable beginner workouts using fitness level, health history, time, and equipment. Adapts difficulty based on completion, effort, and feedback; wearable data is optional.</a:t>
                      </a:r>
                    </a:p>
                  </a:txBody>
                  <a:tcPr marL="23649" marR="23649" marT="11824" marB="11824" anchor="ct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Beginner follow-along workouts, exercise basics, easier variations, and stories about small, consistent steps. Episode: “Bella Takes Her First Step.”</a:t>
                      </a:r>
                    </a:p>
                  </a:txBody>
                  <a:tcPr marL="23649" marR="23649" marT="11824" marB="11824" anchor="ctr"/>
                </a:tc>
                <a:extLst>
                  <a:ext uri="{0D108BD9-81ED-4DB2-BD59-A6C34878D82A}">
                    <a16:rowId xmlns:a16="http://schemas.microsoft.com/office/drawing/2014/main" val="3540373614"/>
                  </a:ext>
                </a:extLst>
              </a:tr>
              <a:tr h="779754">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2. Theo Tortoise — Desk professional with stiffness</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Spends long hours at a computer, experiences neck, shoulder, or hip stiffness, and has limited exercise time.</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Uses work habits, movement assessments, reported discomfort, and available time to recommend short mobility and strength sessions, with office and travel alternatives.</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Desk movement breaks, posture education, technique demonstrations, and short routines for busy professionals. Episode: “Theo Is Stuck in Loading.”</a:t>
                      </a:r>
                    </a:p>
                  </a:txBody>
                  <a:tcPr marL="23649" marR="23649" marT="11824" marB="11824" anchor="ctr"/>
                </a:tc>
                <a:extLst>
                  <a:ext uri="{0D108BD9-81ED-4DB2-BD59-A6C34878D82A}">
                    <a16:rowId xmlns:a16="http://schemas.microsoft.com/office/drawing/2014/main" val="2267899225"/>
                  </a:ext>
                </a:extLst>
              </a:tr>
              <a:tr h="779754">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3. Sophia Owl — Building strength and balance after 50</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Wants to regain strength, maintain balance, and feel confident climbing stairs, carrying groceries, and performing daily activities.</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Personalizes strength, balance, and mobility work using current ability, health history, and equipment. Provides supported variations and progresses according to performance.</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Accessible strength and balance demonstrations tied to everyday activities, with clear instructions and modifications. Episode: “Sophia Builds Everyday Strength.”</a:t>
                      </a:r>
                    </a:p>
                  </a:txBody>
                  <a:tcPr marL="23649" marR="23649" marT="11824" marB="11824" anchor="ctr"/>
                </a:tc>
                <a:extLst>
                  <a:ext uri="{0D108BD9-81ED-4DB2-BD59-A6C34878D82A}">
                    <a16:rowId xmlns:a16="http://schemas.microsoft.com/office/drawing/2014/main" val="238351966"/>
                  </a:ext>
                </a:extLst>
              </a:tr>
              <a:tr h="696208">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4. Diego Jaguar — Recreational athlete preparing for sport</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Plays basketball or another sport and wants to improve strength, agility, and conditioning before an upcoming competition.</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Builds training around the sport, event date, experience, practice schedule, and recovery. Progresses exercise demands as readiness improves and adjusts around games.</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Sport-focused strength, agility, landing technique, conditioning, and recovery education. Episode: “Diego Gets Ready for Game Day.”</a:t>
                      </a:r>
                    </a:p>
                  </a:txBody>
                  <a:tcPr marL="23649" marR="23649" marT="11824" marB="11824" anchor="ctr"/>
                </a:tc>
                <a:extLst>
                  <a:ext uri="{0D108BD9-81ED-4DB2-BD59-A6C34878D82A}">
                    <a16:rowId xmlns:a16="http://schemas.microsoft.com/office/drawing/2014/main" val="916625577"/>
                  </a:ext>
                </a:extLst>
              </a:tr>
              <a:tr h="863299">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5. Arjun Lion — Experienced exerciser pursuing strength and muscle</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Trains regularly and wants continued progress while balancing training intensity and recovery.</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Uses recent workouts, training volume, soreness, goals, and equipment to determine today’s session focus, progression, substitutions, or lighter training.</a:t>
                      </a:r>
                    </a:p>
                  </a:txBody>
                  <a:tcPr marL="23649" marR="23649" marT="11824" marB="11824" anchor="ct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Lifting technique, progression, common mistakes, and recovery education, supported by stories about discipline and sustainable progress. Episode: “Arjun Learns When to Push—and When to Recover.”</a:t>
                      </a:r>
                    </a:p>
                  </a:txBody>
                  <a:tcPr marL="23649" marR="23649" marT="11824" marB="11824" anchor="ctr"/>
                </a:tc>
                <a:extLst>
                  <a:ext uri="{0D108BD9-81ED-4DB2-BD59-A6C34878D82A}">
                    <a16:rowId xmlns:a16="http://schemas.microsoft.com/office/drawing/2014/main" val="945057819"/>
                  </a:ext>
                </a:extLst>
              </a:tr>
              <a:tr h="946845">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6. Maya Elephant — Homemaker regaining fitness at home</a:t>
                      </a:r>
                    </a:p>
                  </a:txBody>
                  <a:tcPr marL="23649" marR="23649" marT="11824" marB="11824" anchor="ct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Spends much of the day cooking, doing household work, and caring for family. Has no gym access, limited personal time, and posture concerns.</a:t>
                      </a:r>
                    </a:p>
                  </a:txBody>
                  <a:tcPr marL="23649" marR="23649" marT="11824" marB="11824" anchor="ct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Creates short home workouts using body weight and available supports or equipment. Uses movement assessments and symptom feedback to select suitable mobility, strength, and balance exercises, with flexible activity blocks.</a:t>
                      </a:r>
                    </a:p>
                  </a:txBody>
                  <a:tcPr marL="23649" marR="23649" marT="11824" marB="11824" anchor="ct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Home workouts, posture and movement education, easier exercise variations, and movement breaks demonstrated in a clear space away from active cooking. Episode: “Maya Makes Time for Herself.”</a:t>
                      </a:r>
                    </a:p>
                  </a:txBody>
                  <a:tcPr marL="23649" marR="23649" marT="11824" marB="11824" anchor="ctr"/>
                </a:tc>
                <a:extLst>
                  <a:ext uri="{0D108BD9-81ED-4DB2-BD59-A6C34878D82A}">
                    <a16:rowId xmlns:a16="http://schemas.microsoft.com/office/drawing/2014/main" val="91567014"/>
                  </a:ext>
                </a:extLst>
              </a:tr>
            </a:tbl>
          </a:graphicData>
        </a:graphic>
      </p:graphicFrame>
    </p:spTree>
    <p:extLst>
      <p:ext uri="{BB962C8B-B14F-4D97-AF65-F5344CB8AC3E}">
        <p14:creationId xmlns:p14="http://schemas.microsoft.com/office/powerpoint/2010/main" val="2772320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E4DA5-8CEC-959E-272B-1291AEE1391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4647523-74E3-0A5E-42D8-435215AE9B07}"/>
              </a:ext>
            </a:extLst>
          </p:cNvPr>
          <p:cNvGraphicFramePr>
            <a:graphicFrameLocks noGrp="1"/>
          </p:cNvGraphicFramePr>
          <p:nvPr>
            <p:extLst>
              <p:ext uri="{D42A27DB-BD31-4B8C-83A1-F6EECF244321}">
                <p14:modId xmlns:p14="http://schemas.microsoft.com/office/powerpoint/2010/main" val="3440814538"/>
              </p:ext>
            </p:extLst>
          </p:nvPr>
        </p:nvGraphicFramePr>
        <p:xfrm>
          <a:off x="543464" y="189780"/>
          <a:ext cx="10353136" cy="5830699"/>
        </p:xfrm>
        <a:graphic>
          <a:graphicData uri="http://schemas.openxmlformats.org/drawingml/2006/table">
            <a:tbl>
              <a:tblPr>
                <a:tableStyleId>{5C22544A-7EE6-4342-B048-85BDC9FD1C3A}</a:tableStyleId>
              </a:tblPr>
              <a:tblGrid>
                <a:gridCol w="3218277">
                  <a:extLst>
                    <a:ext uri="{9D8B030D-6E8A-4147-A177-3AD203B41FA5}">
                      <a16:colId xmlns:a16="http://schemas.microsoft.com/office/drawing/2014/main" val="3081472551"/>
                    </a:ext>
                  </a:extLst>
                </a:gridCol>
                <a:gridCol w="7134859">
                  <a:extLst>
                    <a:ext uri="{9D8B030D-6E8A-4147-A177-3AD203B41FA5}">
                      <a16:colId xmlns:a16="http://schemas.microsoft.com/office/drawing/2014/main" val="1394487848"/>
                    </a:ext>
                  </a:extLst>
                </a:gridCol>
              </a:tblGrid>
              <a:tr h="158492">
                <a:tc>
                  <a:txBody>
                    <a:bodyPr/>
                    <a:lstStyle/>
                    <a:p>
                      <a:pPr>
                        <a:buNone/>
                      </a:pPr>
                      <a:r>
                        <a:rPr lang="en-US" sz="1400" b="1" dirty="0">
                          <a:latin typeface="Calibri" panose="020F0502020204030204" pitchFamily="34" charset="0"/>
                          <a:ea typeface="Calibri" panose="020F0502020204030204" pitchFamily="34" charset="0"/>
                          <a:cs typeface="Calibri" panose="020F0502020204030204" pitchFamily="34" charset="0"/>
                        </a:rPr>
                        <a:t>Aspect</a:t>
                      </a:r>
                    </a:p>
                  </a:txBody>
                  <a:tcPr marL="31081" marR="31081" marT="15540" marB="15540" anchor="ctr"/>
                </a:tc>
                <a:tc>
                  <a:txBody>
                    <a:bodyPr/>
                    <a:lstStyle/>
                    <a:p>
                      <a:pPr>
                        <a:buNone/>
                      </a:pPr>
                      <a:r>
                        <a:rPr lang="en-US" sz="1400" b="1" dirty="0">
                          <a:latin typeface="Calibri" panose="020F0502020204030204" pitchFamily="34" charset="0"/>
                          <a:ea typeface="Calibri" panose="020F0502020204030204" pitchFamily="34" charset="0"/>
                          <a:cs typeface="Calibri" panose="020F0502020204030204" pitchFamily="34" charset="0"/>
                        </a:rPr>
                        <a:t>Use case</a:t>
                      </a:r>
                    </a:p>
                  </a:txBody>
                  <a:tcPr marL="31081" marR="31081" marT="15540" marB="15540" anchor="ctr"/>
                </a:tc>
                <a:extLst>
                  <a:ext uri="{0D108BD9-81ED-4DB2-BD59-A6C34878D82A}">
                    <a16:rowId xmlns:a16="http://schemas.microsoft.com/office/drawing/2014/main" val="1262137091"/>
                  </a:ext>
                </a:extLst>
              </a:tr>
              <a:tr h="515100">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Persona and situation</a:t>
                      </a:r>
                    </a:p>
                  </a:txBody>
                  <a:tcPr marL="31081" marR="31081" marT="15540" marB="15540" anchor="ctr"/>
                </a:tc>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Maya spends much of her day at home cooking, cleaning, and caring for her family. She has no gym access, little equipment, and limited uninterrupted time for herself.</a:t>
                      </a:r>
                    </a:p>
                  </a:txBody>
                  <a:tcPr marL="31081" marR="31081" marT="15540" marB="15540" anchor="ctr"/>
                </a:tc>
                <a:extLst>
                  <a:ext uri="{0D108BD9-81ED-4DB2-BD59-A6C34878D82A}">
                    <a16:rowId xmlns:a16="http://schemas.microsoft.com/office/drawing/2014/main" val="1157084023"/>
                  </a:ext>
                </a:extLst>
              </a:tr>
              <a:tr h="396231">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Her goal</a:t>
                      </a:r>
                    </a:p>
                  </a:txBody>
                  <a:tcPr marL="31081" marR="31081" marT="15540" marB="15540" anchor="ctr"/>
                </a:tc>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“I want to regain my strength and fitness, improve my posture, and feel more comfortable doing everyday tasks.”</a:t>
                      </a:r>
                    </a:p>
                  </a:txBody>
                  <a:tcPr marL="31081" marR="31081" marT="15540" marB="15540" anchor="ctr"/>
                </a:tc>
                <a:extLst>
                  <a:ext uri="{0D108BD9-81ED-4DB2-BD59-A6C34878D82A}">
                    <a16:rowId xmlns:a16="http://schemas.microsoft.com/office/drawing/2014/main" val="3397939848"/>
                  </a:ext>
                </a:extLst>
              </a:tr>
              <a:tr h="515100">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Posture concern</a:t>
                      </a:r>
                    </a:p>
                  </a:txBody>
                  <a:tcPr marL="31081" marR="31081" marT="15540" marB="15540" anchor="ctr"/>
                </a:tc>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She reports rounded shoulders or discomfort after prolonged standing and leaning over kitchen counters. These are inputs to assess—not a diagnosis inferred from her homemaker role.</a:t>
                      </a:r>
                    </a:p>
                  </a:txBody>
                  <a:tcPr marL="31081" marR="31081" marT="15540" marB="15540" anchor="ctr"/>
                </a:tc>
                <a:extLst>
                  <a:ext uri="{0D108BD9-81ED-4DB2-BD59-A6C34878D82A}">
                    <a16:rowId xmlns:a16="http://schemas.microsoft.com/office/drawing/2014/main" val="262487089"/>
                  </a:ext>
                </a:extLst>
              </a:tr>
              <a:tr h="515100">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What the engine collects</a:t>
                      </a:r>
                    </a:p>
                  </a:txBody>
                  <a:tcPr marL="31081" marR="31081" marT="15540" marB="15540" anchor="ctr"/>
                </a:tc>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Goals, exercise history, available time, equipment, reported discomfort, relevant health history, and movement-assessment findings when available. Wearable data is optional.</a:t>
                      </a:r>
                    </a:p>
                  </a:txBody>
                  <a:tcPr marL="31081" marR="31081" marT="15540" marB="15540" anchor="ctr"/>
                </a:tc>
                <a:extLst>
                  <a:ext uri="{0D108BD9-81ED-4DB2-BD59-A6C34878D82A}">
                    <a16:rowId xmlns:a16="http://schemas.microsoft.com/office/drawing/2014/main" val="3156464462"/>
                  </a:ext>
                </a:extLst>
              </a:tr>
              <a:tr h="633970">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What the engine recommends</a:t>
                      </a:r>
                    </a:p>
                  </a:txBody>
                  <a:tcPr marL="31081" marR="31081" marT="15540" marB="15540" anchor="ctr"/>
                </a:tc>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Short home sessions, with the option to split activity into manageable blocks. Selects mobility, strength, and balance exercises based on her assessed needs, using body weight, a stable chair, a wall, or resistance bands if available.</a:t>
                      </a:r>
                    </a:p>
                  </a:txBody>
                  <a:tcPr marL="31081" marR="31081" marT="15540" marB="15540" anchor="ctr"/>
                </a:tc>
                <a:extLst>
                  <a:ext uri="{0D108BD9-81ED-4DB2-BD59-A6C34878D82A}">
                    <a16:rowId xmlns:a16="http://schemas.microsoft.com/office/drawing/2014/main" val="1993814775"/>
                  </a:ext>
                </a:extLst>
              </a:tr>
              <a:tr h="633970">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How it personalizes</a:t>
                      </a:r>
                    </a:p>
                  </a:txBody>
                  <a:tcPr marL="31081" marR="31081" marT="15540" marB="15540" anchor="ctr"/>
                </a:tc>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Adjusts exercise selection, range of motion, support, and difficulty using her ability and feedback. Posture-related selections follow assessment findings; concerning symptoms prompt professional assessment.</a:t>
                      </a:r>
                    </a:p>
                  </a:txBody>
                  <a:tcPr marL="31081" marR="31081" marT="15540" marB="15540" anchor="ctr"/>
                </a:tc>
                <a:extLst>
                  <a:ext uri="{0D108BD9-81ED-4DB2-BD59-A6C34878D82A}">
                    <a16:rowId xmlns:a16="http://schemas.microsoft.com/office/drawing/2014/main" val="3649370386"/>
                  </a:ext>
                </a:extLst>
              </a:tr>
              <a:tr h="396231">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How it progresses</a:t>
                      </a:r>
                    </a:p>
                  </a:txBody>
                  <a:tcPr marL="31081" marR="31081" marT="15540" marB="15540" anchor="ctr"/>
                </a:tc>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Builds consistency first, then gradually increases repetitions, resistance, or session length as her performance and recovery allow.</a:t>
                      </a:r>
                    </a:p>
                  </a:txBody>
                  <a:tcPr marL="31081" marR="31081" marT="15540" marB="15540" anchor="ctr"/>
                </a:tc>
                <a:extLst>
                  <a:ext uri="{0D108BD9-81ED-4DB2-BD59-A6C34878D82A}">
                    <a16:rowId xmlns:a16="http://schemas.microsoft.com/office/drawing/2014/main" val="2888245859"/>
                  </a:ext>
                </a:extLst>
              </a:tr>
              <a:tr h="752839">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Fitakha channel content</a:t>
                      </a:r>
                    </a:p>
                  </a:txBody>
                  <a:tcPr marL="31081" marR="31081" marT="15540" marB="15540" anchor="ctr"/>
                </a:tc>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Short home workouts, posture and movement education, exercise demonstrations, easier variations, and practical tips for taking movement breaks during household routines. Demonstrations use a clear space away from active cooking, hot surfaces, and slippery floors.</a:t>
                      </a:r>
                    </a:p>
                  </a:txBody>
                  <a:tcPr marL="31081" marR="31081" marT="15540" marB="15540" anchor="ctr"/>
                </a:tc>
                <a:extLst>
                  <a:ext uri="{0D108BD9-81ED-4DB2-BD59-A6C34878D82A}">
                    <a16:rowId xmlns:a16="http://schemas.microsoft.com/office/drawing/2014/main" val="2777086887"/>
                  </a:ext>
                </a:extLst>
              </a:tr>
              <a:tr h="515100">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Example episode</a:t>
                      </a:r>
                    </a:p>
                  </a:txBody>
                  <a:tcPr marL="31081" marR="31081" marT="15540" marB="15540" anchor="ctr"/>
                </a:tc>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“Maya Makes Time for Herself” — Maya realizes she schedules time for everyone except herself. She starts with a brief movement break and builds toward a regular home routine.</a:t>
                      </a:r>
                    </a:p>
                  </a:txBody>
                  <a:tcPr marL="31081" marR="31081" marT="15540" marB="15540" anchor="ctr"/>
                </a:tc>
                <a:extLst>
                  <a:ext uri="{0D108BD9-81ED-4DB2-BD59-A6C34878D82A}">
                    <a16:rowId xmlns:a16="http://schemas.microsoft.com/office/drawing/2014/main" val="1457186924"/>
                  </a:ext>
                </a:extLst>
              </a:tr>
              <a:tr h="515100">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Success measures</a:t>
                      </a:r>
                    </a:p>
                  </a:txBody>
                  <a:tcPr marL="31081" marR="31081" marT="15540" marB="15540" anchor="ctr"/>
                </a:tc>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Consistency, improved exercise technique, greater strength and movement confidence, and easier performance of daily activities—not appearance alone.</a:t>
                      </a:r>
                    </a:p>
                  </a:txBody>
                  <a:tcPr marL="31081" marR="31081" marT="15540" marB="15540" anchor="ctr"/>
                </a:tc>
                <a:extLst>
                  <a:ext uri="{0D108BD9-81ED-4DB2-BD59-A6C34878D82A}">
                    <a16:rowId xmlns:a16="http://schemas.microsoft.com/office/drawing/2014/main" val="1070270848"/>
                  </a:ext>
                </a:extLst>
              </a:tr>
            </a:tbl>
          </a:graphicData>
        </a:graphic>
      </p:graphicFrame>
    </p:spTree>
    <p:extLst>
      <p:ext uri="{BB962C8B-B14F-4D97-AF65-F5344CB8AC3E}">
        <p14:creationId xmlns:p14="http://schemas.microsoft.com/office/powerpoint/2010/main" val="2568356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AB22F-6420-60B9-7FF5-5190F494A1DF}"/>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4190E95-68EA-1637-02E3-0D1B1FEB3124}"/>
              </a:ext>
            </a:extLst>
          </p:cNvPr>
          <p:cNvGraphicFramePr>
            <a:graphicFrameLocks noGrp="1"/>
          </p:cNvGraphicFramePr>
          <p:nvPr>
            <p:extLst>
              <p:ext uri="{D42A27DB-BD31-4B8C-83A1-F6EECF244321}">
                <p14:modId xmlns:p14="http://schemas.microsoft.com/office/powerpoint/2010/main" val="1212541728"/>
              </p:ext>
            </p:extLst>
          </p:nvPr>
        </p:nvGraphicFramePr>
        <p:xfrm>
          <a:off x="336430" y="267420"/>
          <a:ext cx="10717650" cy="5939560"/>
        </p:xfrm>
        <a:graphic>
          <a:graphicData uri="http://schemas.openxmlformats.org/drawingml/2006/table">
            <a:tbl>
              <a:tblPr>
                <a:tableStyleId>{5C22544A-7EE6-4342-B048-85BDC9FD1C3A}</a:tableStyleId>
              </a:tblPr>
              <a:tblGrid>
                <a:gridCol w="2932981">
                  <a:extLst>
                    <a:ext uri="{9D8B030D-6E8A-4147-A177-3AD203B41FA5}">
                      <a16:colId xmlns:a16="http://schemas.microsoft.com/office/drawing/2014/main" val="239233390"/>
                    </a:ext>
                  </a:extLst>
                </a:gridCol>
                <a:gridCol w="4212119">
                  <a:extLst>
                    <a:ext uri="{9D8B030D-6E8A-4147-A177-3AD203B41FA5}">
                      <a16:colId xmlns:a16="http://schemas.microsoft.com/office/drawing/2014/main" val="3526803616"/>
                    </a:ext>
                  </a:extLst>
                </a:gridCol>
                <a:gridCol w="3572550">
                  <a:extLst>
                    <a:ext uri="{9D8B030D-6E8A-4147-A177-3AD203B41FA5}">
                      <a16:colId xmlns:a16="http://schemas.microsoft.com/office/drawing/2014/main" val="1965195759"/>
                    </a:ext>
                  </a:extLst>
                </a:gridCol>
              </a:tblGrid>
              <a:tr h="408806">
                <a:tc>
                  <a:txBody>
                    <a:bodyPr/>
                    <a:lstStyle/>
                    <a:p>
                      <a:pPr>
                        <a:buNone/>
                      </a:pPr>
                      <a:r>
                        <a:rPr lang="en-US" sz="1500" b="1"/>
                        <a:t>Main navigation</a:t>
                      </a:r>
                    </a:p>
                  </a:txBody>
                  <a:tcPr marL="75023" marR="75023" marT="37512" marB="37512" anchor="ctr"/>
                </a:tc>
                <a:tc>
                  <a:txBody>
                    <a:bodyPr/>
                    <a:lstStyle/>
                    <a:p>
                      <a:pPr>
                        <a:buNone/>
                      </a:pPr>
                      <a:r>
                        <a:rPr lang="en-US" sz="1500" b="1"/>
                        <a:t>What it contains</a:t>
                      </a:r>
                    </a:p>
                  </a:txBody>
                  <a:tcPr marL="75023" marR="75023" marT="37512" marB="37512" anchor="ctr"/>
                </a:tc>
                <a:tc>
                  <a:txBody>
                    <a:bodyPr/>
                    <a:lstStyle/>
                    <a:p>
                      <a:pPr>
                        <a:buNone/>
                      </a:pPr>
                      <a:r>
                        <a:rPr lang="en-US" sz="1500" b="1" dirty="0"/>
                        <a:t>Purpose</a:t>
                      </a:r>
                    </a:p>
                  </a:txBody>
                  <a:tcPr marL="75023" marR="75023" marT="37512" marB="37512" anchor="ctr"/>
                </a:tc>
                <a:extLst>
                  <a:ext uri="{0D108BD9-81ED-4DB2-BD59-A6C34878D82A}">
                    <a16:rowId xmlns:a16="http://schemas.microsoft.com/office/drawing/2014/main" val="3191030523"/>
                  </a:ext>
                </a:extLst>
              </a:tr>
              <a:tr h="1332182">
                <a:tc>
                  <a:txBody>
                    <a:bodyPr/>
                    <a:lstStyle/>
                    <a:p>
                      <a:pPr>
                        <a:buNone/>
                      </a:pPr>
                      <a:r>
                        <a:rPr lang="en-US" sz="1500" dirty="0"/>
                        <a:t>Home</a:t>
                      </a:r>
                    </a:p>
                  </a:txBody>
                  <a:tcPr marL="75023" marR="75023" marT="37512" marB="37512" anchor="ctr"/>
                </a:tc>
                <a:tc>
                  <a:txBody>
                    <a:bodyPr/>
                    <a:lstStyle/>
                    <a:p>
                      <a:pPr>
                        <a:buNone/>
                      </a:pPr>
                      <a:r>
                        <a:rPr lang="en-US" sz="1500" dirty="0"/>
                        <a:t>Brand introduction, “Find Your Starting Point” questionnaire, featured programs, exercise videos, coach highlights</a:t>
                      </a:r>
                    </a:p>
                  </a:txBody>
                  <a:tcPr marL="75023" marR="75023" marT="37512" marB="37512" anchor="ctr"/>
                </a:tc>
                <a:tc>
                  <a:txBody>
                    <a:bodyPr/>
                    <a:lstStyle/>
                    <a:p>
                      <a:pPr>
                        <a:buNone/>
                      </a:pPr>
                      <a:r>
                        <a:rPr lang="en-US" sz="1500"/>
                        <a:t>Quickly explain Fitakha and help visitors take their first step</a:t>
                      </a:r>
                    </a:p>
                  </a:txBody>
                  <a:tcPr marL="75023" marR="75023" marT="37512" marB="37512" anchor="ctr"/>
                </a:tc>
                <a:extLst>
                  <a:ext uri="{0D108BD9-81ED-4DB2-BD59-A6C34878D82A}">
                    <a16:rowId xmlns:a16="http://schemas.microsoft.com/office/drawing/2014/main" val="2773726678"/>
                  </a:ext>
                </a:extLst>
              </a:tr>
              <a:tr h="1024389">
                <a:tc>
                  <a:txBody>
                    <a:bodyPr/>
                    <a:lstStyle/>
                    <a:p>
                      <a:pPr>
                        <a:buNone/>
                      </a:pPr>
                      <a:r>
                        <a:rPr lang="en-US" sz="1500" dirty="0"/>
                        <a:t>Find Your Fit</a:t>
                      </a:r>
                    </a:p>
                  </a:txBody>
                  <a:tcPr marL="75023" marR="75023" marT="37512" marB="37512" anchor="ctr"/>
                </a:tc>
                <a:tc>
                  <a:txBody>
                    <a:bodyPr/>
                    <a:lstStyle/>
                    <a:p>
                      <a:pPr>
                        <a:buNone/>
                      </a:pPr>
                      <a:r>
                        <a:rPr lang="en-US" sz="1500" dirty="0"/>
                        <a:t>Guided questionnaire, relatable personas, fitness goals, available equipment, time and preferences</a:t>
                      </a:r>
                    </a:p>
                  </a:txBody>
                  <a:tcPr marL="75023" marR="75023" marT="37512" marB="37512" anchor="ctr"/>
                </a:tc>
                <a:tc>
                  <a:txBody>
                    <a:bodyPr/>
                    <a:lstStyle/>
                    <a:p>
                      <a:pPr>
                        <a:buNone/>
                      </a:pPr>
                      <a:r>
                        <a:rPr lang="en-US" sz="1500"/>
                        <a:t>Help people explore suitable starting options</a:t>
                      </a:r>
                    </a:p>
                  </a:txBody>
                  <a:tcPr marL="75023" marR="75023" marT="37512" marB="37512" anchor="ctr"/>
                </a:tc>
                <a:extLst>
                  <a:ext uri="{0D108BD9-81ED-4DB2-BD59-A6C34878D82A}">
                    <a16:rowId xmlns:a16="http://schemas.microsoft.com/office/drawing/2014/main" val="2861867023"/>
                  </a:ext>
                </a:extLst>
              </a:tr>
              <a:tr h="1024389">
                <a:tc>
                  <a:txBody>
                    <a:bodyPr/>
                    <a:lstStyle/>
                    <a:p>
                      <a:pPr>
                        <a:buNone/>
                      </a:pPr>
                      <a:r>
                        <a:rPr lang="en-US" sz="1500" dirty="0"/>
                        <a:t>Workouts &amp; Learn</a:t>
                      </a:r>
                    </a:p>
                  </a:txBody>
                  <a:tcPr marL="75023" marR="75023" marT="37512" marB="37512" anchor="ctr"/>
                </a:tc>
                <a:tc>
                  <a:txBody>
                    <a:bodyPr/>
                    <a:lstStyle/>
                    <a:p>
                      <a:pPr>
                        <a:buNone/>
                      </a:pPr>
                      <a:r>
                        <a:rPr lang="en-US" sz="1500"/>
                        <a:t>Fitness programs, searchable exercise library, Fitakha YouTube videos, technique guides, FAQs</a:t>
                      </a:r>
                    </a:p>
                  </a:txBody>
                  <a:tcPr marL="75023" marR="75023" marT="37512" marB="37512" anchor="ctr"/>
                </a:tc>
                <a:tc>
                  <a:txBody>
                    <a:bodyPr/>
                    <a:lstStyle/>
                    <a:p>
                      <a:pPr>
                        <a:buNone/>
                      </a:pPr>
                      <a:r>
                        <a:rPr lang="en-US" sz="1500"/>
                        <a:t>Bring exercise instruction and practical answers together</a:t>
                      </a:r>
                    </a:p>
                  </a:txBody>
                  <a:tcPr marL="75023" marR="75023" marT="37512" marB="37512" anchor="ctr"/>
                </a:tc>
                <a:extLst>
                  <a:ext uri="{0D108BD9-81ED-4DB2-BD59-A6C34878D82A}">
                    <a16:rowId xmlns:a16="http://schemas.microsoft.com/office/drawing/2014/main" val="1517368293"/>
                  </a:ext>
                </a:extLst>
              </a:tr>
              <a:tr h="716598">
                <a:tc>
                  <a:txBody>
                    <a:bodyPr/>
                    <a:lstStyle/>
                    <a:p>
                      <a:pPr>
                        <a:buNone/>
                      </a:pPr>
                      <a:r>
                        <a:rPr lang="en-US" sz="1500" dirty="0"/>
                        <a:t>Find an Expert</a:t>
                      </a:r>
                    </a:p>
                  </a:txBody>
                  <a:tcPr marL="75023" marR="75023" marT="37512" marB="37512" anchor="ctr"/>
                </a:tc>
                <a:tc>
                  <a:txBody>
                    <a:bodyPr/>
                    <a:lstStyle/>
                    <a:p>
                      <a:pPr>
                        <a:buNone/>
                      </a:pPr>
                      <a:r>
                        <a:rPr lang="en-US" sz="1500"/>
                        <a:t>Coaches, nutritionists/dietitians, and eventually other specialists</a:t>
                      </a:r>
                    </a:p>
                  </a:txBody>
                  <a:tcPr marL="75023" marR="75023" marT="37512" marB="37512" anchor="ctr"/>
                </a:tc>
                <a:tc>
                  <a:txBody>
                    <a:bodyPr/>
                    <a:lstStyle/>
                    <a:p>
                      <a:pPr>
                        <a:buNone/>
                      </a:pPr>
                      <a:r>
                        <a:rPr lang="en-US" sz="1500"/>
                        <a:t>Connect visitors with personalized support</a:t>
                      </a:r>
                    </a:p>
                  </a:txBody>
                  <a:tcPr marL="75023" marR="75023" marT="37512" marB="37512" anchor="ctr"/>
                </a:tc>
                <a:extLst>
                  <a:ext uri="{0D108BD9-81ED-4DB2-BD59-A6C34878D82A}">
                    <a16:rowId xmlns:a16="http://schemas.microsoft.com/office/drawing/2014/main" val="532076733"/>
                  </a:ext>
                </a:extLst>
              </a:tr>
              <a:tr h="716598">
                <a:tc>
                  <a:txBody>
                    <a:bodyPr/>
                    <a:lstStyle/>
                    <a:p>
                      <a:pPr>
                        <a:buNone/>
                      </a:pPr>
                      <a:r>
                        <a:rPr lang="en-US" sz="1500" dirty="0"/>
                        <a:t>Shop</a:t>
                      </a:r>
                    </a:p>
                  </a:txBody>
                  <a:tcPr marL="75023" marR="75023" marT="37512" marB="37512" anchor="ctr"/>
                </a:tc>
                <a:tc>
                  <a:txBody>
                    <a:bodyPr/>
                    <a:lstStyle/>
                    <a:p>
                      <a:pPr>
                        <a:buNone/>
                      </a:pPr>
                      <a:r>
                        <a:rPr lang="en-US" sz="1500"/>
                        <a:t>Fitakha apparel and future accessories</a:t>
                      </a:r>
                    </a:p>
                  </a:txBody>
                  <a:tcPr marL="75023" marR="75023" marT="37512" marB="37512" anchor="ctr"/>
                </a:tc>
                <a:tc>
                  <a:txBody>
                    <a:bodyPr/>
                    <a:lstStyle/>
                    <a:p>
                      <a:pPr>
                        <a:buNone/>
                      </a:pPr>
                      <a:r>
                        <a:rPr lang="en-US" sz="1500"/>
                        <a:t>Give merchandise a clear home</a:t>
                      </a:r>
                    </a:p>
                  </a:txBody>
                  <a:tcPr marL="75023" marR="75023" marT="37512" marB="37512" anchor="ctr"/>
                </a:tc>
                <a:extLst>
                  <a:ext uri="{0D108BD9-81ED-4DB2-BD59-A6C34878D82A}">
                    <a16:rowId xmlns:a16="http://schemas.microsoft.com/office/drawing/2014/main" val="1108106981"/>
                  </a:ext>
                </a:extLst>
              </a:tr>
              <a:tr h="716598">
                <a:tc>
                  <a:txBody>
                    <a:bodyPr/>
                    <a:lstStyle/>
                    <a:p>
                      <a:pPr>
                        <a:buNone/>
                      </a:pPr>
                      <a:r>
                        <a:rPr lang="en-US" sz="1500"/>
                        <a:t>About Fitakha</a:t>
                      </a:r>
                    </a:p>
                  </a:txBody>
                  <a:tcPr marL="75023" marR="75023" marT="37512" marB="37512" anchor="ctr"/>
                </a:tc>
                <a:tc>
                  <a:txBody>
                    <a:bodyPr/>
                    <a:lstStyle/>
                    <a:p>
                      <a:pPr>
                        <a:buNone/>
                      </a:pPr>
                      <a:r>
                        <a:rPr lang="en-US" sz="1500"/>
                        <a:t>Our story, mission, approach, team profiles</a:t>
                      </a:r>
                    </a:p>
                  </a:txBody>
                  <a:tcPr marL="75023" marR="75023" marT="37512" marB="37512" anchor="ctr"/>
                </a:tc>
                <a:tc>
                  <a:txBody>
                    <a:bodyPr/>
                    <a:lstStyle/>
                    <a:p>
                      <a:pPr>
                        <a:buNone/>
                      </a:pPr>
                      <a:r>
                        <a:rPr lang="en-US" sz="1500" dirty="0"/>
                        <a:t>Build trust and explain what makes Fitakha different</a:t>
                      </a:r>
                    </a:p>
                  </a:txBody>
                  <a:tcPr marL="75023" marR="75023" marT="37512" marB="37512" anchor="ctr"/>
                </a:tc>
                <a:extLst>
                  <a:ext uri="{0D108BD9-81ED-4DB2-BD59-A6C34878D82A}">
                    <a16:rowId xmlns:a16="http://schemas.microsoft.com/office/drawing/2014/main" val="2226679420"/>
                  </a:ext>
                </a:extLst>
              </a:tr>
            </a:tbl>
          </a:graphicData>
        </a:graphic>
      </p:graphicFrame>
    </p:spTree>
    <p:extLst>
      <p:ext uri="{BB962C8B-B14F-4D97-AF65-F5344CB8AC3E}">
        <p14:creationId xmlns:p14="http://schemas.microsoft.com/office/powerpoint/2010/main" val="160926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F868A41-DBBD-844C-3D05-796FE6E27259}"/>
              </a:ext>
            </a:extLst>
          </p:cNvPr>
          <p:cNvGraphicFramePr>
            <a:graphicFrameLocks noGrp="1"/>
          </p:cNvGraphicFramePr>
          <p:nvPr>
            <p:extLst>
              <p:ext uri="{D42A27DB-BD31-4B8C-83A1-F6EECF244321}">
                <p14:modId xmlns:p14="http://schemas.microsoft.com/office/powerpoint/2010/main" val="2580068665"/>
              </p:ext>
            </p:extLst>
          </p:nvPr>
        </p:nvGraphicFramePr>
        <p:xfrm>
          <a:off x="1925968" y="1825625"/>
          <a:ext cx="8340063" cy="4351337"/>
        </p:xfrm>
        <a:graphic>
          <a:graphicData uri="http://schemas.openxmlformats.org/drawingml/2006/table">
            <a:tbl>
              <a:tblPr>
                <a:tableStyleId>{5C22544A-7EE6-4342-B048-85BDC9FD1C3A}</a:tableStyleId>
              </a:tblPr>
              <a:tblGrid>
                <a:gridCol w="2780021">
                  <a:extLst>
                    <a:ext uri="{9D8B030D-6E8A-4147-A177-3AD203B41FA5}">
                      <a16:colId xmlns:a16="http://schemas.microsoft.com/office/drawing/2014/main" val="3160552732"/>
                    </a:ext>
                  </a:extLst>
                </a:gridCol>
                <a:gridCol w="2780021">
                  <a:extLst>
                    <a:ext uri="{9D8B030D-6E8A-4147-A177-3AD203B41FA5}">
                      <a16:colId xmlns:a16="http://schemas.microsoft.com/office/drawing/2014/main" val="3125114184"/>
                    </a:ext>
                  </a:extLst>
                </a:gridCol>
                <a:gridCol w="2780021">
                  <a:extLst>
                    <a:ext uri="{9D8B030D-6E8A-4147-A177-3AD203B41FA5}">
                      <a16:colId xmlns:a16="http://schemas.microsoft.com/office/drawing/2014/main" val="1330037609"/>
                    </a:ext>
                  </a:extLst>
                </a:gridCol>
              </a:tblGrid>
              <a:tr h="290089">
                <a:tc>
                  <a:txBody>
                    <a:bodyPr/>
                    <a:lstStyle/>
                    <a:p>
                      <a:pPr>
                        <a:buNone/>
                      </a:pPr>
                      <a:r>
                        <a:rPr lang="en-US" sz="1400" b="1" dirty="0"/>
                        <a:t>Persona card</a:t>
                      </a:r>
                    </a:p>
                  </a:txBody>
                  <a:tcPr marL="72522" marR="72522" marT="36261" marB="36261" anchor="ctr"/>
                </a:tc>
                <a:tc>
                  <a:txBody>
                    <a:bodyPr/>
                    <a:lstStyle/>
                    <a:p>
                      <a:pPr>
                        <a:buNone/>
                      </a:pPr>
                      <a:r>
                        <a:rPr lang="en-US" sz="1400" b="1"/>
                        <a:t>What the visitor is looking for</a:t>
                      </a:r>
                    </a:p>
                  </a:txBody>
                  <a:tcPr marL="72522" marR="72522" marT="36261" marB="36261" anchor="ctr"/>
                </a:tc>
                <a:tc>
                  <a:txBody>
                    <a:bodyPr/>
                    <a:lstStyle/>
                    <a:p>
                      <a:pPr>
                        <a:buNone/>
                      </a:pPr>
                      <a:r>
                        <a:rPr lang="en-US" sz="1400" b="1" dirty="0"/>
                        <a:t>Suggested destination</a:t>
                      </a:r>
                    </a:p>
                  </a:txBody>
                  <a:tcPr marL="72522" marR="72522" marT="36261" marB="36261" anchor="ctr"/>
                </a:tc>
                <a:extLst>
                  <a:ext uri="{0D108BD9-81ED-4DB2-BD59-A6C34878D82A}">
                    <a16:rowId xmlns:a16="http://schemas.microsoft.com/office/drawing/2014/main" val="2595104017"/>
                  </a:ext>
                </a:extLst>
              </a:tr>
              <a:tr h="507656">
                <a:tc>
                  <a:txBody>
                    <a:bodyPr/>
                    <a:lstStyle/>
                    <a:p>
                      <a:pPr>
                        <a:buNone/>
                      </a:pPr>
                      <a:r>
                        <a:rPr lang="en-US" sz="1400"/>
                        <a:t>“I’m starting from scratch”</a:t>
                      </a:r>
                    </a:p>
                  </a:txBody>
                  <a:tcPr marL="72522" marR="72522" marT="36261" marB="36261" anchor="ctr"/>
                </a:tc>
                <a:tc>
                  <a:txBody>
                    <a:bodyPr/>
                    <a:lstStyle/>
                    <a:p>
                      <a:pPr>
                        <a:buNone/>
                      </a:pPr>
                      <a:r>
                        <a:rPr lang="en-US" sz="1400"/>
                        <a:t>Simple instructions and a manageable routine</a:t>
                      </a:r>
                    </a:p>
                  </a:txBody>
                  <a:tcPr marL="72522" marR="72522" marT="36261" marB="36261" anchor="ctr"/>
                </a:tc>
                <a:tc>
                  <a:txBody>
                    <a:bodyPr/>
                    <a:lstStyle/>
                    <a:p>
                      <a:pPr>
                        <a:buNone/>
                      </a:pPr>
                      <a:r>
                        <a:rPr lang="en-US" sz="1400" dirty="0"/>
                        <a:t>Beginner program collection</a:t>
                      </a:r>
                    </a:p>
                  </a:txBody>
                  <a:tcPr marL="72522" marR="72522" marT="36261" marB="36261" anchor="ctr"/>
                </a:tc>
                <a:extLst>
                  <a:ext uri="{0D108BD9-81ED-4DB2-BD59-A6C34878D82A}">
                    <a16:rowId xmlns:a16="http://schemas.microsoft.com/office/drawing/2014/main" val="4210317519"/>
                  </a:ext>
                </a:extLst>
              </a:tr>
              <a:tr h="507656">
                <a:tc>
                  <a:txBody>
                    <a:bodyPr/>
                    <a:lstStyle/>
                    <a:p>
                      <a:pPr>
                        <a:buNone/>
                      </a:pPr>
                      <a:r>
                        <a:rPr lang="en-US" sz="1400"/>
                        <a:t>“I want to manage my weight”</a:t>
                      </a:r>
                    </a:p>
                  </a:txBody>
                  <a:tcPr marL="72522" marR="72522" marT="36261" marB="36261" anchor="ctr"/>
                </a:tc>
                <a:tc>
                  <a:txBody>
                    <a:bodyPr/>
                    <a:lstStyle/>
                    <a:p>
                      <a:pPr>
                        <a:buNone/>
                      </a:pPr>
                      <a:r>
                        <a:rPr lang="en-US" sz="1400"/>
                        <a:t>Consistency, activity and nutrition support</a:t>
                      </a:r>
                    </a:p>
                  </a:txBody>
                  <a:tcPr marL="72522" marR="72522" marT="36261" marB="36261" anchor="ctr"/>
                </a:tc>
                <a:tc>
                  <a:txBody>
                    <a:bodyPr/>
                    <a:lstStyle/>
                    <a:p>
                      <a:pPr>
                        <a:buNone/>
                      </a:pPr>
                      <a:r>
                        <a:rPr lang="en-US" sz="1400"/>
                        <a:t>Goal-based programs and nutrition directory</a:t>
                      </a:r>
                    </a:p>
                  </a:txBody>
                  <a:tcPr marL="72522" marR="72522" marT="36261" marB="36261" anchor="ctr"/>
                </a:tc>
                <a:extLst>
                  <a:ext uri="{0D108BD9-81ED-4DB2-BD59-A6C34878D82A}">
                    <a16:rowId xmlns:a16="http://schemas.microsoft.com/office/drawing/2014/main" val="3285070032"/>
                  </a:ext>
                </a:extLst>
              </a:tr>
              <a:tr h="507656">
                <a:tc>
                  <a:txBody>
                    <a:bodyPr/>
                    <a:lstStyle/>
                    <a:p>
                      <a:pPr>
                        <a:buNone/>
                      </a:pPr>
                      <a:r>
                        <a:rPr lang="en-US" sz="1400"/>
                        <a:t>“I spend most of my day sitting”</a:t>
                      </a:r>
                    </a:p>
                  </a:txBody>
                  <a:tcPr marL="72522" marR="72522" marT="36261" marB="36261" anchor="ctr"/>
                </a:tc>
                <a:tc>
                  <a:txBody>
                    <a:bodyPr/>
                    <a:lstStyle/>
                    <a:p>
                      <a:pPr>
                        <a:buNone/>
                      </a:pPr>
                      <a:r>
                        <a:rPr lang="en-US" sz="1400"/>
                        <a:t>Movement breaks and posture education</a:t>
                      </a:r>
                    </a:p>
                  </a:txBody>
                  <a:tcPr marL="72522" marR="72522" marT="36261" marB="36261" anchor="ctr"/>
                </a:tc>
                <a:tc>
                  <a:txBody>
                    <a:bodyPr/>
                    <a:lstStyle/>
                    <a:p>
                      <a:pPr>
                        <a:buNone/>
                      </a:pPr>
                      <a:r>
                        <a:rPr lang="en-US" sz="1400"/>
                        <a:t>Mobility guides and beginner strength options</a:t>
                      </a:r>
                    </a:p>
                  </a:txBody>
                  <a:tcPr marL="72522" marR="72522" marT="36261" marB="36261" anchor="ctr"/>
                </a:tc>
                <a:extLst>
                  <a:ext uri="{0D108BD9-81ED-4DB2-BD59-A6C34878D82A}">
                    <a16:rowId xmlns:a16="http://schemas.microsoft.com/office/drawing/2014/main" val="1151533783"/>
                  </a:ext>
                </a:extLst>
              </a:tr>
              <a:tr h="507656">
                <a:tc>
                  <a:txBody>
                    <a:bodyPr/>
                    <a:lstStyle/>
                    <a:p>
                      <a:pPr>
                        <a:buNone/>
                      </a:pPr>
                      <a:r>
                        <a:rPr lang="en-US" sz="1400"/>
                        <a:t>“I’m getting back into exercise”</a:t>
                      </a:r>
                    </a:p>
                  </a:txBody>
                  <a:tcPr marL="72522" marR="72522" marT="36261" marB="36261" anchor="ctr"/>
                </a:tc>
                <a:tc>
                  <a:txBody>
                    <a:bodyPr/>
                    <a:lstStyle/>
                    <a:p>
                      <a:pPr>
                        <a:buNone/>
                      </a:pPr>
                      <a:r>
                        <a:rPr lang="en-US" sz="1400"/>
                        <a:t>A gradual restart</a:t>
                      </a:r>
                    </a:p>
                  </a:txBody>
                  <a:tcPr marL="72522" marR="72522" marT="36261" marB="36261" anchor="ctr"/>
                </a:tc>
                <a:tc>
                  <a:txBody>
                    <a:bodyPr/>
                    <a:lstStyle/>
                    <a:p>
                      <a:pPr>
                        <a:buNone/>
                      </a:pPr>
                      <a:r>
                        <a:rPr lang="en-US" sz="1400"/>
                        <a:t>Return-to-exercise starting options</a:t>
                      </a:r>
                    </a:p>
                  </a:txBody>
                  <a:tcPr marL="72522" marR="72522" marT="36261" marB="36261" anchor="ctr"/>
                </a:tc>
                <a:extLst>
                  <a:ext uri="{0D108BD9-81ED-4DB2-BD59-A6C34878D82A}">
                    <a16:rowId xmlns:a16="http://schemas.microsoft.com/office/drawing/2014/main" val="3729567670"/>
                  </a:ext>
                </a:extLst>
              </a:tr>
              <a:tr h="507656">
                <a:tc>
                  <a:txBody>
                    <a:bodyPr/>
                    <a:lstStyle/>
                    <a:p>
                      <a:pPr>
                        <a:buNone/>
                      </a:pPr>
                      <a:r>
                        <a:rPr lang="en-US" sz="1400"/>
                        <a:t>“I want to get stronger”</a:t>
                      </a:r>
                    </a:p>
                  </a:txBody>
                  <a:tcPr marL="72522" marR="72522" marT="36261" marB="36261" anchor="ctr"/>
                </a:tc>
                <a:tc>
                  <a:txBody>
                    <a:bodyPr/>
                    <a:lstStyle/>
                    <a:p>
                      <a:pPr>
                        <a:buNone/>
                      </a:pPr>
                      <a:r>
                        <a:rPr lang="en-US" sz="1400"/>
                        <a:t>Structured resistance training</a:t>
                      </a:r>
                    </a:p>
                  </a:txBody>
                  <a:tcPr marL="72522" marR="72522" marT="36261" marB="36261" anchor="ctr"/>
                </a:tc>
                <a:tc>
                  <a:txBody>
                    <a:bodyPr/>
                    <a:lstStyle/>
                    <a:p>
                      <a:pPr>
                        <a:buNone/>
                      </a:pPr>
                      <a:r>
                        <a:rPr lang="en-US" sz="1400"/>
                        <a:t>Strength programs by experience and equipment</a:t>
                      </a:r>
                    </a:p>
                  </a:txBody>
                  <a:tcPr marL="72522" marR="72522" marT="36261" marB="36261" anchor="ctr"/>
                </a:tc>
                <a:extLst>
                  <a:ext uri="{0D108BD9-81ED-4DB2-BD59-A6C34878D82A}">
                    <a16:rowId xmlns:a16="http://schemas.microsoft.com/office/drawing/2014/main" val="340108159"/>
                  </a:ext>
                </a:extLst>
              </a:tr>
              <a:tr h="507656">
                <a:tc>
                  <a:txBody>
                    <a:bodyPr/>
                    <a:lstStyle/>
                    <a:p>
                      <a:pPr>
                        <a:buNone/>
                      </a:pPr>
                      <a:r>
                        <a:rPr lang="en-US" sz="1400"/>
                        <a:t>“I want better balance and mobility”</a:t>
                      </a:r>
                    </a:p>
                  </a:txBody>
                  <a:tcPr marL="72522" marR="72522" marT="36261" marB="36261" anchor="ctr"/>
                </a:tc>
                <a:tc>
                  <a:txBody>
                    <a:bodyPr/>
                    <a:lstStyle/>
                    <a:p>
                      <a:pPr>
                        <a:buNone/>
                      </a:pPr>
                      <a:r>
                        <a:rPr lang="en-US" sz="1400"/>
                        <a:t>Confidence in everyday movement</a:t>
                      </a:r>
                    </a:p>
                  </a:txBody>
                  <a:tcPr marL="72522" marR="72522" marT="36261" marB="36261" anchor="ctr"/>
                </a:tc>
                <a:tc>
                  <a:txBody>
                    <a:bodyPr/>
                    <a:lstStyle/>
                    <a:p>
                      <a:pPr>
                        <a:buNone/>
                      </a:pPr>
                      <a:r>
                        <a:rPr lang="en-US" sz="1400"/>
                        <a:t>Balance and mobility collection</a:t>
                      </a:r>
                    </a:p>
                  </a:txBody>
                  <a:tcPr marL="72522" marR="72522" marT="36261" marB="36261" anchor="ctr"/>
                </a:tc>
                <a:extLst>
                  <a:ext uri="{0D108BD9-81ED-4DB2-BD59-A6C34878D82A}">
                    <a16:rowId xmlns:a16="http://schemas.microsoft.com/office/drawing/2014/main" val="2428783479"/>
                  </a:ext>
                </a:extLst>
              </a:tr>
              <a:tr h="507656">
                <a:tc>
                  <a:txBody>
                    <a:bodyPr/>
                    <a:lstStyle/>
                    <a:p>
                      <a:pPr>
                        <a:buNone/>
                      </a:pPr>
                      <a:r>
                        <a:rPr lang="en-US" sz="1400"/>
                        <a:t>“I’m training for a sport or event”</a:t>
                      </a:r>
                    </a:p>
                  </a:txBody>
                  <a:tcPr marL="72522" marR="72522" marT="36261" marB="36261" anchor="ctr"/>
                </a:tc>
                <a:tc>
                  <a:txBody>
                    <a:bodyPr/>
                    <a:lstStyle/>
                    <a:p>
                      <a:pPr>
                        <a:buNone/>
                      </a:pPr>
                      <a:r>
                        <a:rPr lang="en-US" sz="1400"/>
                        <a:t>More specific preparation</a:t>
                      </a:r>
                    </a:p>
                  </a:txBody>
                  <a:tcPr marL="72522" marR="72522" marT="36261" marB="36261" anchor="ctr"/>
                </a:tc>
                <a:tc>
                  <a:txBody>
                    <a:bodyPr/>
                    <a:lstStyle/>
                    <a:p>
                      <a:pPr>
                        <a:buNone/>
                      </a:pPr>
                      <a:r>
                        <a:rPr lang="en-US" sz="1400"/>
                        <a:t>Sport-focused programs and coach matching</a:t>
                      </a:r>
                    </a:p>
                  </a:txBody>
                  <a:tcPr marL="72522" marR="72522" marT="36261" marB="36261" anchor="ctr"/>
                </a:tc>
                <a:extLst>
                  <a:ext uri="{0D108BD9-81ED-4DB2-BD59-A6C34878D82A}">
                    <a16:rowId xmlns:a16="http://schemas.microsoft.com/office/drawing/2014/main" val="4099797509"/>
                  </a:ext>
                </a:extLst>
              </a:tr>
              <a:tr h="507656">
                <a:tc>
                  <a:txBody>
                    <a:bodyPr/>
                    <a:lstStyle/>
                    <a:p>
                      <a:pPr>
                        <a:buNone/>
                      </a:pPr>
                      <a:r>
                        <a:rPr lang="en-US" sz="1400"/>
                        <a:t>“I need workouts for home or travel”</a:t>
                      </a:r>
                    </a:p>
                  </a:txBody>
                  <a:tcPr marL="72522" marR="72522" marT="36261" marB="36261" anchor="ctr"/>
                </a:tc>
                <a:tc>
                  <a:txBody>
                    <a:bodyPr/>
                    <a:lstStyle/>
                    <a:p>
                      <a:pPr>
                        <a:buNone/>
                      </a:pPr>
                      <a:r>
                        <a:rPr lang="en-US" sz="1400"/>
                        <a:t>Convenient sessions with limited equipment</a:t>
                      </a:r>
                    </a:p>
                  </a:txBody>
                  <a:tcPr marL="72522" marR="72522" marT="36261" marB="36261" anchor="ctr"/>
                </a:tc>
                <a:tc>
                  <a:txBody>
                    <a:bodyPr/>
                    <a:lstStyle/>
                    <a:p>
                      <a:pPr>
                        <a:buNone/>
                      </a:pPr>
                      <a:r>
                        <a:rPr lang="en-US" sz="1400" dirty="0"/>
                        <a:t>Short, equipment-filtered workouts</a:t>
                      </a:r>
                    </a:p>
                  </a:txBody>
                  <a:tcPr marL="72522" marR="72522" marT="36261" marB="36261" anchor="ctr"/>
                </a:tc>
                <a:extLst>
                  <a:ext uri="{0D108BD9-81ED-4DB2-BD59-A6C34878D82A}">
                    <a16:rowId xmlns:a16="http://schemas.microsoft.com/office/drawing/2014/main" val="113817715"/>
                  </a:ext>
                </a:extLst>
              </a:tr>
            </a:tbl>
          </a:graphicData>
        </a:graphic>
      </p:graphicFrame>
    </p:spTree>
    <p:extLst>
      <p:ext uri="{BB962C8B-B14F-4D97-AF65-F5344CB8AC3E}">
        <p14:creationId xmlns:p14="http://schemas.microsoft.com/office/powerpoint/2010/main" val="2094877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7">
            <a:extLst>
              <a:ext uri="{FF2B5EF4-FFF2-40B4-BE49-F238E27FC236}">
                <a16:creationId xmlns:a16="http://schemas.microsoft.com/office/drawing/2014/main" id="{4E8212D8-A18F-D9FF-63D8-9C2198F14099}"/>
              </a:ext>
            </a:extLst>
          </p:cNvPr>
          <p:cNvSpPr/>
          <p:nvPr/>
        </p:nvSpPr>
        <p:spPr>
          <a:xfrm>
            <a:off x="7828984" y="1260310"/>
            <a:ext cx="3383280" cy="3160615"/>
          </a:xfrm>
          <a:prstGeom prst="roundRect">
            <a:avLst>
              <a:gd name="adj" fmla="val 7862"/>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E42FC3ED-DF13-5A89-B6D7-BE975BA4435B}"/>
              </a:ext>
            </a:extLst>
          </p:cNvPr>
          <p:cNvSpPr txBox="1"/>
          <p:nvPr/>
        </p:nvSpPr>
        <p:spPr>
          <a:xfrm>
            <a:off x="8030152" y="1406613"/>
            <a:ext cx="3017520" cy="969496"/>
          </a:xfrm>
          <a:prstGeom prst="rect">
            <a:avLst/>
          </a:prstGeom>
          <a:noFill/>
        </p:spPr>
        <p:txBody>
          <a:bodyPr wrap="square">
            <a:spAutoFit/>
          </a:bodyPr>
          <a:lstStyle/>
          <a:p>
            <a:pPr algn="ctr">
              <a:defRPr sz="1600" b="1">
                <a:solidFill>
                  <a:srgbClr val="0C192D"/>
                </a:solidFill>
              </a:defRPr>
            </a:pPr>
            <a:r>
              <a:rPr dirty="0">
                <a:latin typeface="Calibri" panose="020F0502020204030204" pitchFamily="34" charset="0"/>
                <a:ea typeface="Calibri" panose="020F0502020204030204" pitchFamily="34" charset="0"/>
                <a:cs typeface="Calibri" panose="020F0502020204030204" pitchFamily="34" charset="0"/>
              </a:rPr>
              <a:t>Intelligence Engine</a:t>
            </a:r>
          </a:p>
          <a:p>
            <a:pPr>
              <a:spcBef>
                <a:spcPts val="600"/>
              </a:spcBef>
              <a:defRPr sz="1100">
                <a:solidFill>
                  <a:srgbClr val="1F2A37"/>
                </a:solidFill>
              </a:defRPr>
            </a:pPr>
            <a:r>
              <a:rPr sz="1200" dirty="0">
                <a:latin typeface="Calibri" panose="020F0502020204030204" pitchFamily="34" charset="0"/>
                <a:ea typeface="Calibri" panose="020F0502020204030204" pitchFamily="34" charset="0"/>
                <a:cs typeface="Calibri" panose="020F0502020204030204" pitchFamily="34" charset="0"/>
              </a:rPr>
              <a:t>Hybrid recommendation layer combining deterministic rules with AI reasoning, personalization, adaptation and explanation.</a:t>
            </a:r>
          </a:p>
        </p:txBody>
      </p:sp>
      <p:sp>
        <p:nvSpPr>
          <p:cNvPr id="26" name="Rounded Rectangle 10">
            <a:extLst>
              <a:ext uri="{FF2B5EF4-FFF2-40B4-BE49-F238E27FC236}">
                <a16:creationId xmlns:a16="http://schemas.microsoft.com/office/drawing/2014/main" id="{DD263231-6BAF-F6BC-0830-4B58B0EED3C5}"/>
              </a:ext>
            </a:extLst>
          </p:cNvPr>
          <p:cNvSpPr/>
          <p:nvPr/>
        </p:nvSpPr>
        <p:spPr>
          <a:xfrm>
            <a:off x="406445" y="1260310"/>
            <a:ext cx="3383280" cy="3160615"/>
          </a:xfrm>
          <a:prstGeom prst="roundRect">
            <a:avLst>
              <a:gd name="adj" fmla="val 8113"/>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2C920737-3FD8-480F-8452-E2EEBEB1CC93}"/>
              </a:ext>
            </a:extLst>
          </p:cNvPr>
          <p:cNvSpPr txBox="1"/>
          <p:nvPr/>
        </p:nvSpPr>
        <p:spPr>
          <a:xfrm>
            <a:off x="607613" y="1406613"/>
            <a:ext cx="3017520" cy="969496"/>
          </a:xfrm>
          <a:prstGeom prst="rect">
            <a:avLst/>
          </a:prstGeom>
          <a:noFill/>
        </p:spPr>
        <p:txBody>
          <a:bodyPr wrap="square">
            <a:spAutoFit/>
          </a:bodyPr>
          <a:lstStyle/>
          <a:p>
            <a:pPr algn="ctr">
              <a:defRPr sz="1600" b="1">
                <a:solidFill>
                  <a:srgbClr val="0C192D"/>
                </a:solidFill>
              </a:defRPr>
            </a:pPr>
            <a:r>
              <a:rPr dirty="0">
                <a:latin typeface="Calibri" panose="020F0502020204030204" pitchFamily="34" charset="0"/>
                <a:ea typeface="Calibri" panose="020F0502020204030204" pitchFamily="34" charset="0"/>
                <a:cs typeface="Calibri" panose="020F0502020204030204" pitchFamily="34" charset="0"/>
              </a:rPr>
              <a:t>Content Library</a:t>
            </a:r>
          </a:p>
          <a:p>
            <a:pPr>
              <a:spcBef>
                <a:spcPts val="600"/>
              </a:spcBef>
              <a:defRPr sz="1100">
                <a:solidFill>
                  <a:srgbClr val="1F2A37"/>
                </a:solidFill>
              </a:defRPr>
            </a:pPr>
            <a:r>
              <a:rPr sz="1200" dirty="0">
                <a:latin typeface="Calibri" panose="020F0502020204030204" pitchFamily="34" charset="0"/>
                <a:ea typeface="Calibri" panose="020F0502020204030204" pitchFamily="34" charset="0"/>
                <a:cs typeface="Calibri" panose="020F0502020204030204" pitchFamily="34" charset="0"/>
              </a:rPr>
              <a:t>Fitakha demonstrations, tutorials, Shorts and workouts — with YouTube as an initial hosting/distribution channel.</a:t>
            </a:r>
          </a:p>
        </p:txBody>
      </p:sp>
      <p:sp>
        <p:nvSpPr>
          <p:cNvPr id="30" name="Content Placeholder 2">
            <a:extLst>
              <a:ext uri="{FF2B5EF4-FFF2-40B4-BE49-F238E27FC236}">
                <a16:creationId xmlns:a16="http://schemas.microsoft.com/office/drawing/2014/main" id="{0373C364-8A33-FC7A-DE24-F234C4792CC6}"/>
              </a:ext>
            </a:extLst>
          </p:cNvPr>
          <p:cNvSpPr txBox="1">
            <a:spLocks/>
          </p:cNvSpPr>
          <p:nvPr/>
        </p:nvSpPr>
        <p:spPr>
          <a:xfrm>
            <a:off x="969960" y="877837"/>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latin typeface="Calibri" panose="020F0502020204030204" pitchFamily="34" charset="0"/>
                <a:ea typeface="Calibri" panose="020F0502020204030204" pitchFamily="34" charset="0"/>
                <a:cs typeface="Calibri" panose="020F0502020204030204" pitchFamily="34" charset="0"/>
              </a:rPr>
              <a:t>Fitakha is defensible product that has relationship between Content Library, Exercise Graph &amp; Intelligence Engine</a:t>
            </a:r>
          </a:p>
        </p:txBody>
      </p:sp>
      <p:sp>
        <p:nvSpPr>
          <p:cNvPr id="33" name="Title 1">
            <a:extLst>
              <a:ext uri="{FF2B5EF4-FFF2-40B4-BE49-F238E27FC236}">
                <a16:creationId xmlns:a16="http://schemas.microsoft.com/office/drawing/2014/main" id="{02EE8CEC-0FBB-83D7-865D-C6E12AFC4CD7}"/>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Fitakha Product Family </a:t>
            </a:r>
          </a:p>
        </p:txBody>
      </p:sp>
      <p:sp>
        <p:nvSpPr>
          <p:cNvPr id="36" name="Rounded Rectangle 4">
            <a:extLst>
              <a:ext uri="{FF2B5EF4-FFF2-40B4-BE49-F238E27FC236}">
                <a16:creationId xmlns:a16="http://schemas.microsoft.com/office/drawing/2014/main" id="{A1600747-E486-5D5B-33C3-C5F9F56C690C}"/>
              </a:ext>
            </a:extLst>
          </p:cNvPr>
          <p:cNvSpPr/>
          <p:nvPr/>
        </p:nvSpPr>
        <p:spPr>
          <a:xfrm>
            <a:off x="4117714" y="1260310"/>
            <a:ext cx="3383280" cy="3160615"/>
          </a:xfrm>
          <a:prstGeom prst="roundRect">
            <a:avLst>
              <a:gd name="adj" fmla="val 6856"/>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040269B8-170D-8F35-53A7-2BE9DA84B134}"/>
              </a:ext>
            </a:extLst>
          </p:cNvPr>
          <p:cNvSpPr txBox="1"/>
          <p:nvPr/>
        </p:nvSpPr>
        <p:spPr>
          <a:xfrm>
            <a:off x="4318881" y="1406613"/>
            <a:ext cx="3017520" cy="969496"/>
          </a:xfrm>
          <a:prstGeom prst="rect">
            <a:avLst/>
          </a:prstGeom>
          <a:noFill/>
        </p:spPr>
        <p:txBody>
          <a:bodyPr wrap="square">
            <a:spAutoFit/>
          </a:bodyPr>
          <a:lstStyle/>
          <a:p>
            <a:pPr algn="ctr">
              <a:defRPr sz="1600" b="1">
                <a:solidFill>
                  <a:srgbClr val="0C192D"/>
                </a:solidFill>
              </a:defRPr>
            </a:pPr>
            <a:r>
              <a:rPr dirty="0">
                <a:latin typeface="Calibri" panose="020F0502020204030204" pitchFamily="34" charset="0"/>
                <a:ea typeface="Calibri" panose="020F0502020204030204" pitchFamily="34" charset="0"/>
                <a:cs typeface="Calibri" panose="020F0502020204030204" pitchFamily="34" charset="0"/>
              </a:rPr>
              <a:t>Exercise </a:t>
            </a:r>
            <a:r>
              <a:rPr lang="en-US" dirty="0">
                <a:latin typeface="Calibri" panose="020F0502020204030204" pitchFamily="34" charset="0"/>
                <a:ea typeface="Calibri" panose="020F0502020204030204" pitchFamily="34" charset="0"/>
                <a:cs typeface="Calibri" panose="020F0502020204030204" pitchFamily="34" charset="0"/>
              </a:rPr>
              <a:t>Knowledge </a:t>
            </a:r>
            <a:r>
              <a:rPr dirty="0">
                <a:latin typeface="Calibri" panose="020F0502020204030204" pitchFamily="34" charset="0"/>
                <a:ea typeface="Calibri" panose="020F0502020204030204" pitchFamily="34" charset="0"/>
                <a:cs typeface="Calibri" panose="020F0502020204030204" pitchFamily="34" charset="0"/>
              </a:rPr>
              <a:t>Graph</a:t>
            </a:r>
          </a:p>
          <a:p>
            <a:pPr>
              <a:spcBef>
                <a:spcPts val="600"/>
              </a:spcBef>
              <a:defRPr sz="1100">
                <a:solidFill>
                  <a:srgbClr val="1F2A37"/>
                </a:solidFill>
              </a:defRPr>
            </a:pPr>
            <a:r>
              <a:rPr sz="1200" dirty="0">
                <a:latin typeface="Calibri" panose="020F0502020204030204" pitchFamily="34" charset="0"/>
                <a:ea typeface="Calibri" panose="020F0502020204030204" pitchFamily="34" charset="0"/>
                <a:cs typeface="Calibri" panose="020F0502020204030204" pitchFamily="34" charset="0"/>
              </a:rPr>
              <a:t>Structured exercise ontology: movement, muscles, equipment, difficulty, safety flags, regressions, progressions and alternatives.</a:t>
            </a:r>
          </a:p>
        </p:txBody>
      </p:sp>
      <p:cxnSp>
        <p:nvCxnSpPr>
          <p:cNvPr id="40" name="Straight Arrow Connector 39">
            <a:extLst>
              <a:ext uri="{FF2B5EF4-FFF2-40B4-BE49-F238E27FC236}">
                <a16:creationId xmlns:a16="http://schemas.microsoft.com/office/drawing/2014/main" id="{D9E6C5F2-E8B5-A34B-E886-10B271E9ACBC}"/>
              </a:ext>
            </a:extLst>
          </p:cNvPr>
          <p:cNvCxnSpPr>
            <a:cxnSpLocks/>
            <a:stCxn id="26" idx="3"/>
            <a:endCxn id="36" idx="1"/>
          </p:cNvCxnSpPr>
          <p:nvPr/>
        </p:nvCxnSpPr>
        <p:spPr>
          <a:xfrm>
            <a:off x="3789725" y="2840618"/>
            <a:ext cx="3279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BED5F270-8B21-8D68-C878-B89F5A5BDB0E}"/>
              </a:ext>
            </a:extLst>
          </p:cNvPr>
          <p:cNvCxnSpPr>
            <a:cxnSpLocks/>
            <a:stCxn id="36" idx="3"/>
            <a:endCxn id="22" idx="1"/>
          </p:cNvCxnSpPr>
          <p:nvPr/>
        </p:nvCxnSpPr>
        <p:spPr>
          <a:xfrm>
            <a:off x="7500994" y="2840618"/>
            <a:ext cx="3279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556433FF-C4C8-AF93-B6E0-509BF8C77946}"/>
              </a:ext>
            </a:extLst>
          </p:cNvPr>
          <p:cNvSpPr txBox="1"/>
          <p:nvPr/>
        </p:nvSpPr>
        <p:spPr>
          <a:xfrm>
            <a:off x="406445" y="2536319"/>
            <a:ext cx="3383279" cy="1569660"/>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Video tells someone HOW to do an exercise</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Videos demonstrate Setup, Execution, Common mistakes, Easier Variation, Harder Variation, Safety Cues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Can generate YouTube/Instagram/Facebook views, subscribers, ad revenue and awareness for Fitakha.</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Attract people, produce exercise content</a:t>
            </a:r>
          </a:p>
        </p:txBody>
      </p:sp>
      <p:sp>
        <p:nvSpPr>
          <p:cNvPr id="47" name="TextBox 46">
            <a:extLst>
              <a:ext uri="{FF2B5EF4-FFF2-40B4-BE49-F238E27FC236}">
                <a16:creationId xmlns:a16="http://schemas.microsoft.com/office/drawing/2014/main" id="{E84D7DCB-1BDE-D2D8-DB81-8FF689D8F471}"/>
              </a:ext>
            </a:extLst>
          </p:cNvPr>
          <p:cNvSpPr txBox="1"/>
          <p:nvPr/>
        </p:nvSpPr>
        <p:spPr>
          <a:xfrm>
            <a:off x="4233309" y="2537644"/>
            <a:ext cx="3180057" cy="1384995"/>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Metadata tells the system WHAT the exercise is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Exercise knowledge base knows the metadata about the exercise </a:t>
            </a:r>
            <a:r>
              <a:rPr lang="en-US" sz="1200" dirty="0"/>
              <a:t>a </a:t>
            </a:r>
            <a:r>
              <a:rPr lang="en-US" sz="1200" b="1" dirty="0"/>
              <a:t>machine-understandable exercise object</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Organizes the content into structured fitness knowledge</a:t>
            </a:r>
          </a:p>
        </p:txBody>
      </p:sp>
      <p:sp>
        <p:nvSpPr>
          <p:cNvPr id="49" name="TextBox 48">
            <a:extLst>
              <a:ext uri="{FF2B5EF4-FFF2-40B4-BE49-F238E27FC236}">
                <a16:creationId xmlns:a16="http://schemas.microsoft.com/office/drawing/2014/main" id="{FC2A3BEE-F0D2-B66D-9B2B-1E7F8451CE82}"/>
              </a:ext>
            </a:extLst>
          </p:cNvPr>
          <p:cNvSpPr txBox="1"/>
          <p:nvPr/>
        </p:nvSpPr>
        <p:spPr>
          <a:xfrm>
            <a:off x="8030152" y="2536319"/>
            <a:ext cx="3180057" cy="1754326"/>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The intelligence engine decides WHO should do it, WHEN, WHY, and what should come next.</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Identifies right variation for people with different age, fitness level, experience, goals, etc.</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Use the knowledge + individual data to make personalized decisions and sends the appropriate Fitakha content back to the user</a:t>
            </a:r>
          </a:p>
        </p:txBody>
      </p:sp>
      <p:sp>
        <p:nvSpPr>
          <p:cNvPr id="58" name="TextBox 57">
            <a:extLst>
              <a:ext uri="{FF2B5EF4-FFF2-40B4-BE49-F238E27FC236}">
                <a16:creationId xmlns:a16="http://schemas.microsoft.com/office/drawing/2014/main" id="{36B457DB-4A46-629C-E35B-EEE70CC34C05}"/>
              </a:ext>
            </a:extLst>
          </p:cNvPr>
          <p:cNvSpPr txBox="1"/>
          <p:nvPr/>
        </p:nvSpPr>
        <p:spPr>
          <a:xfrm>
            <a:off x="1639361" y="4687951"/>
            <a:ext cx="8575544" cy="369332"/>
          </a:xfrm>
          <a:prstGeom prst="rect">
            <a:avLst/>
          </a:prstGeom>
          <a:noFill/>
        </p:spPr>
        <p:txBody>
          <a:bodyPr wrap="square">
            <a:spAutoFit/>
          </a:bodyPr>
          <a:lstStyle/>
          <a:p>
            <a:r>
              <a:rPr lang="en-US" b="1" i="1" dirty="0">
                <a:latin typeface="Calibri" panose="020F0502020204030204" pitchFamily="34" charset="0"/>
                <a:ea typeface="Calibri" panose="020F0502020204030204" pitchFamily="34" charset="0"/>
                <a:cs typeface="Calibri" panose="020F0502020204030204" pitchFamily="34" charset="0"/>
              </a:rPr>
              <a:t>CONTENT → KNOWLEDGE → INTELLIGENCE → USER OUTCOME → BETTER INTELLIGENCE</a:t>
            </a:r>
          </a:p>
        </p:txBody>
      </p:sp>
    </p:spTree>
    <p:extLst>
      <p:ext uri="{BB962C8B-B14F-4D97-AF65-F5344CB8AC3E}">
        <p14:creationId xmlns:p14="http://schemas.microsoft.com/office/powerpoint/2010/main" val="1742412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95C83-B696-14D8-0B98-F9B82800B65D}"/>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0368F86D-86AA-55F6-3FD8-6319947293C0}"/>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Fitakha owns the canonical IDs and intelligence; content providers remain replaceable.</a:t>
            </a:r>
          </a:p>
        </p:txBody>
      </p:sp>
      <p:sp>
        <p:nvSpPr>
          <p:cNvPr id="33" name="Title 1">
            <a:extLst>
              <a:ext uri="{FF2B5EF4-FFF2-40B4-BE49-F238E27FC236}">
                <a16:creationId xmlns:a16="http://schemas.microsoft.com/office/drawing/2014/main" id="{03ECB56C-BD4E-B52A-0656-5431F9A268E9}"/>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Fitakha Reference Architecture</a:t>
            </a:r>
          </a:p>
        </p:txBody>
      </p:sp>
      <p:sp>
        <p:nvSpPr>
          <p:cNvPr id="4" name="Rounded Rectangle 4">
            <a:extLst>
              <a:ext uri="{FF2B5EF4-FFF2-40B4-BE49-F238E27FC236}">
                <a16:creationId xmlns:a16="http://schemas.microsoft.com/office/drawing/2014/main" id="{4E08433B-5664-6FA6-245D-9D029048CECB}"/>
              </a:ext>
            </a:extLst>
          </p:cNvPr>
          <p:cNvSpPr/>
          <p:nvPr/>
        </p:nvSpPr>
        <p:spPr>
          <a:xfrm>
            <a:off x="419431" y="1172818"/>
            <a:ext cx="5166360" cy="8229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latin typeface="Calibri" panose="020F0502020204030204" pitchFamily="34" charset="0"/>
                <a:ea typeface="Calibri" panose="020F0502020204030204" pitchFamily="34" charset="0"/>
                <a:cs typeface="Calibri" panose="020F0502020204030204" pitchFamily="34" charset="0"/>
              </a:rPr>
              <a:t>1. User / Platform Data</a:t>
            </a:r>
          </a:p>
          <a:p>
            <a:pPr>
              <a:spcBef>
                <a:spcPts val="300"/>
              </a:spcBef>
              <a:defRPr sz="950">
                <a:solidFill>
                  <a:srgbClr val="1F2A37"/>
                </a:solidFill>
              </a:defRPr>
            </a:pPr>
            <a:r>
              <a:rPr lang="en-US" sz="1000" dirty="0">
                <a:latin typeface="Calibri" panose="020F0502020204030204" pitchFamily="34" charset="0"/>
                <a:ea typeface="Calibri" panose="020F0502020204030204" pitchFamily="34" charset="0"/>
                <a:cs typeface="Calibri" panose="020F0502020204030204" pitchFamily="34" charset="0"/>
              </a:rPr>
              <a:t>Input: goal=STRENGTH • experience=BEGINNER • time=30 min • equipment=DUMBBELLS • readiness=LOW • HR=x • RHR=x • Sleep=</a:t>
            </a:r>
            <a:r>
              <a:rPr lang="en-US" sz="1000" dirty="0" err="1">
                <a:latin typeface="Calibri" panose="020F0502020204030204" pitchFamily="34" charset="0"/>
                <a:ea typeface="Calibri" panose="020F0502020204030204" pitchFamily="34" charset="0"/>
                <a:cs typeface="Calibri" panose="020F0502020204030204" pitchFamily="34" charset="0"/>
              </a:rPr>
              <a:t>xyz</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6" name="Rounded Rectangle 8">
            <a:extLst>
              <a:ext uri="{FF2B5EF4-FFF2-40B4-BE49-F238E27FC236}">
                <a16:creationId xmlns:a16="http://schemas.microsoft.com/office/drawing/2014/main" id="{663E7841-262F-E577-B947-D4B9ACD02394}"/>
              </a:ext>
            </a:extLst>
          </p:cNvPr>
          <p:cNvSpPr/>
          <p:nvPr/>
        </p:nvSpPr>
        <p:spPr>
          <a:xfrm>
            <a:off x="419431" y="2160370"/>
            <a:ext cx="5166360" cy="8229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t>2. Safety + Eligibility Rules</a:t>
            </a:r>
          </a:p>
          <a:p>
            <a:pPr>
              <a:spcBef>
                <a:spcPts val="300"/>
              </a:spcBef>
              <a:defRPr sz="950">
                <a:solidFill>
                  <a:srgbClr val="1F2A37"/>
                </a:solidFill>
              </a:defRPr>
            </a:pPr>
            <a:r>
              <a:rPr lang="en-US" sz="1000" dirty="0"/>
              <a:t>Apply hard constraints: available equipment, experience level, precaution flags, session duration and recovery limits.</a:t>
            </a:r>
          </a:p>
        </p:txBody>
      </p:sp>
      <p:sp>
        <p:nvSpPr>
          <p:cNvPr id="8" name="Rounded Rectangle 8">
            <a:extLst>
              <a:ext uri="{FF2B5EF4-FFF2-40B4-BE49-F238E27FC236}">
                <a16:creationId xmlns:a16="http://schemas.microsoft.com/office/drawing/2014/main" id="{4F169419-449E-13FB-0812-884F6B215216}"/>
              </a:ext>
            </a:extLst>
          </p:cNvPr>
          <p:cNvSpPr/>
          <p:nvPr/>
        </p:nvSpPr>
        <p:spPr>
          <a:xfrm>
            <a:off x="419431" y="3147922"/>
            <a:ext cx="5166360" cy="8229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t>3. Canonical Exercise Graph</a:t>
            </a:r>
          </a:p>
          <a:p>
            <a:pPr>
              <a:spcBef>
                <a:spcPts val="300"/>
              </a:spcBef>
              <a:defRPr sz="950">
                <a:solidFill>
                  <a:srgbClr val="1F2A37"/>
                </a:solidFill>
              </a:defRPr>
            </a:pPr>
            <a:r>
              <a:rPr lang="en-US" sz="1000" dirty="0"/>
              <a:t>Eligible candidates: Goblet Squat, DB RDL, Incline Push-Up, One-Arm DB Row, Dead Bug — each with a Fitakha exercise ID.</a:t>
            </a:r>
          </a:p>
        </p:txBody>
      </p:sp>
      <p:sp>
        <p:nvSpPr>
          <p:cNvPr id="10" name="Rounded Rectangle 8">
            <a:extLst>
              <a:ext uri="{FF2B5EF4-FFF2-40B4-BE49-F238E27FC236}">
                <a16:creationId xmlns:a16="http://schemas.microsoft.com/office/drawing/2014/main" id="{2CEA1C50-24DE-2273-8FDC-441EEB0592AC}"/>
              </a:ext>
            </a:extLst>
          </p:cNvPr>
          <p:cNvSpPr/>
          <p:nvPr/>
        </p:nvSpPr>
        <p:spPr>
          <a:xfrm>
            <a:off x="419431" y="4135474"/>
            <a:ext cx="5166360" cy="8229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t>4. AI Recommendation Layer</a:t>
            </a:r>
          </a:p>
          <a:p>
            <a:pPr>
              <a:spcBef>
                <a:spcPts val="300"/>
              </a:spcBef>
              <a:defRPr sz="950">
                <a:solidFill>
                  <a:srgbClr val="1F2A37"/>
                </a:solidFill>
              </a:defRPr>
            </a:pPr>
            <a:r>
              <a:rPr lang="en-US" sz="1000" dirty="0"/>
              <a:t>AI assembles a balanced session, reduces intensity/volume for low readiness, sequences exercises and explains the choices.</a:t>
            </a:r>
          </a:p>
        </p:txBody>
      </p:sp>
      <p:sp>
        <p:nvSpPr>
          <p:cNvPr id="12" name="Rounded Rectangle 8">
            <a:extLst>
              <a:ext uri="{FF2B5EF4-FFF2-40B4-BE49-F238E27FC236}">
                <a16:creationId xmlns:a16="http://schemas.microsoft.com/office/drawing/2014/main" id="{97173437-B8B8-1EFF-FDA4-A3DB6D2DD83C}"/>
              </a:ext>
            </a:extLst>
          </p:cNvPr>
          <p:cNvSpPr/>
          <p:nvPr/>
        </p:nvSpPr>
        <p:spPr>
          <a:xfrm>
            <a:off x="419431" y="5123026"/>
            <a:ext cx="5166360" cy="8229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t>5. API + Content Resolution</a:t>
            </a:r>
          </a:p>
          <a:p>
            <a:pPr>
              <a:spcBef>
                <a:spcPts val="300"/>
              </a:spcBef>
              <a:defRPr sz="950">
                <a:solidFill>
                  <a:srgbClr val="1F2A37"/>
                </a:solidFill>
              </a:defRPr>
            </a:pPr>
            <a:r>
              <a:rPr lang="en-US" sz="1000" dirty="0"/>
              <a:t>Return sets/reps/rest + canonical IDs + content source. Use platform video if mapped; otherwise return Fitakha content.</a:t>
            </a:r>
          </a:p>
        </p:txBody>
      </p:sp>
      <p:sp>
        <p:nvSpPr>
          <p:cNvPr id="14" name="Rounded Rectangle 4">
            <a:extLst>
              <a:ext uri="{FF2B5EF4-FFF2-40B4-BE49-F238E27FC236}">
                <a16:creationId xmlns:a16="http://schemas.microsoft.com/office/drawing/2014/main" id="{C7ECB113-4BAD-260C-C92E-48F0348129A5}"/>
              </a:ext>
            </a:extLst>
          </p:cNvPr>
          <p:cNvSpPr/>
          <p:nvPr/>
        </p:nvSpPr>
        <p:spPr>
          <a:xfrm>
            <a:off x="6082084" y="1172818"/>
            <a:ext cx="5166360" cy="8229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latin typeface="Calibri" panose="020F0502020204030204" pitchFamily="34" charset="0"/>
                <a:ea typeface="Calibri" panose="020F0502020204030204" pitchFamily="34" charset="0"/>
                <a:cs typeface="Calibri" panose="020F0502020204030204" pitchFamily="34" charset="0"/>
              </a:rPr>
              <a:t>Example Recommendation</a:t>
            </a:r>
          </a:p>
          <a:p>
            <a:pPr>
              <a:spcBef>
                <a:spcPts val="300"/>
              </a:spcBef>
              <a:defRPr sz="950">
                <a:solidFill>
                  <a:srgbClr val="1F2A37"/>
                </a:solidFill>
              </a:defRPr>
            </a:pPr>
            <a:r>
              <a:rPr lang="en-US" sz="1000" dirty="0">
                <a:latin typeface="Calibri" panose="020F0502020204030204" pitchFamily="34" charset="0"/>
                <a:ea typeface="Calibri" panose="020F0502020204030204" pitchFamily="34" charset="0"/>
                <a:cs typeface="Calibri" panose="020F0502020204030204" pitchFamily="34" charset="0"/>
              </a:rPr>
              <a:t>Goblet Squat 2×10 • One-Arm DB Row 2×10/side • DB RDL 2×10 • Incline Push-Up 2×8–10 • Dead Bug 2×6/side</a:t>
            </a:r>
          </a:p>
        </p:txBody>
      </p:sp>
      <p:sp>
        <p:nvSpPr>
          <p:cNvPr id="16" name="Rounded Rectangle 8">
            <a:extLst>
              <a:ext uri="{FF2B5EF4-FFF2-40B4-BE49-F238E27FC236}">
                <a16:creationId xmlns:a16="http://schemas.microsoft.com/office/drawing/2014/main" id="{2CE0DEFB-03E5-0841-5D42-4CCF395A1A59}"/>
              </a:ext>
            </a:extLst>
          </p:cNvPr>
          <p:cNvSpPr/>
          <p:nvPr/>
        </p:nvSpPr>
        <p:spPr>
          <a:xfrm>
            <a:off x="6082084" y="2160370"/>
            <a:ext cx="2465568" cy="106984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t>Canonical Mapping</a:t>
            </a:r>
          </a:p>
          <a:p>
            <a:pPr>
              <a:spcBef>
                <a:spcPts val="300"/>
              </a:spcBef>
              <a:defRPr sz="950">
                <a:solidFill>
                  <a:srgbClr val="1F2A37"/>
                </a:solidFill>
              </a:defRPr>
            </a:pPr>
            <a:r>
              <a:rPr lang="en-US" sz="1000" dirty="0"/>
              <a:t>Goblet Squat</a:t>
            </a:r>
            <a:br>
              <a:rPr lang="en-US" sz="1000" dirty="0"/>
            </a:br>
            <a:r>
              <a:rPr lang="en-US" sz="1000" dirty="0"/>
              <a:t>EX-SQUAT-GBLT-001</a:t>
            </a:r>
            <a:br>
              <a:rPr lang="en-US" sz="1000" dirty="0"/>
            </a:br>
            <a:br>
              <a:rPr lang="en-US" sz="1000" dirty="0"/>
            </a:br>
            <a:r>
              <a:rPr lang="en-US" sz="1000" dirty="0"/>
              <a:t>DB RDL</a:t>
            </a:r>
            <a:br>
              <a:rPr lang="en-US" sz="1000" dirty="0"/>
            </a:br>
            <a:r>
              <a:rPr lang="en-US" sz="1000" dirty="0"/>
              <a:t>EX-HINGE-RDL-001</a:t>
            </a:r>
          </a:p>
        </p:txBody>
      </p:sp>
      <p:sp>
        <p:nvSpPr>
          <p:cNvPr id="20" name="Rounded Rectangle 8">
            <a:extLst>
              <a:ext uri="{FF2B5EF4-FFF2-40B4-BE49-F238E27FC236}">
                <a16:creationId xmlns:a16="http://schemas.microsoft.com/office/drawing/2014/main" id="{40140AD7-8B7C-DCA9-6DB9-FAC4760E6289}"/>
              </a:ext>
            </a:extLst>
          </p:cNvPr>
          <p:cNvSpPr/>
          <p:nvPr/>
        </p:nvSpPr>
        <p:spPr>
          <a:xfrm>
            <a:off x="8782876" y="2160370"/>
            <a:ext cx="2465568" cy="106984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t>Why AI?</a:t>
            </a:r>
          </a:p>
          <a:p>
            <a:pPr>
              <a:spcBef>
                <a:spcPts val="300"/>
              </a:spcBef>
              <a:defRPr sz="950">
                <a:solidFill>
                  <a:srgbClr val="1F2A37"/>
                </a:solidFill>
              </a:defRPr>
            </a:pPr>
            <a:r>
              <a:rPr lang="en-US" sz="1000" dirty="0"/>
              <a:t>“Readiness is low today, so Fitakha reduced volume while preserving the main movement patterns.”</a:t>
            </a:r>
          </a:p>
        </p:txBody>
      </p:sp>
      <p:sp>
        <p:nvSpPr>
          <p:cNvPr id="23" name="Rounded Rectangle 8">
            <a:extLst>
              <a:ext uri="{FF2B5EF4-FFF2-40B4-BE49-F238E27FC236}">
                <a16:creationId xmlns:a16="http://schemas.microsoft.com/office/drawing/2014/main" id="{A58CF042-E5A5-7469-C226-01276C002800}"/>
              </a:ext>
            </a:extLst>
          </p:cNvPr>
          <p:cNvSpPr/>
          <p:nvPr/>
        </p:nvSpPr>
        <p:spPr>
          <a:xfrm>
            <a:off x="6082084" y="3456830"/>
            <a:ext cx="2465568" cy="106984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t>Fitakha App</a:t>
            </a:r>
          </a:p>
          <a:p>
            <a:pPr>
              <a:spcBef>
                <a:spcPts val="300"/>
              </a:spcBef>
              <a:defRPr sz="950">
                <a:solidFill>
                  <a:srgbClr val="1F2A37"/>
                </a:solidFill>
              </a:defRPr>
            </a:pPr>
            <a:r>
              <a:rPr lang="en-US" sz="1000" dirty="0"/>
              <a:t>Content resolver → Fitakha demonstration/tutorial → YouTube-supported player for V1.</a:t>
            </a:r>
          </a:p>
        </p:txBody>
      </p:sp>
      <p:sp>
        <p:nvSpPr>
          <p:cNvPr id="27" name="Rounded Rectangle 8">
            <a:extLst>
              <a:ext uri="{FF2B5EF4-FFF2-40B4-BE49-F238E27FC236}">
                <a16:creationId xmlns:a16="http://schemas.microsoft.com/office/drawing/2014/main" id="{C404147C-18E4-0BAF-5699-1E3DF4A0627B}"/>
              </a:ext>
            </a:extLst>
          </p:cNvPr>
          <p:cNvSpPr/>
          <p:nvPr/>
        </p:nvSpPr>
        <p:spPr>
          <a:xfrm>
            <a:off x="8782876" y="3435958"/>
            <a:ext cx="2465568" cy="106984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0C192D"/>
                </a:solidFill>
              </a:defRPr>
            </a:pPr>
            <a:r>
              <a:rPr lang="en-US" sz="1200" dirty="0"/>
              <a:t>Partner Platform</a:t>
            </a:r>
          </a:p>
          <a:p>
            <a:pPr>
              <a:spcBef>
                <a:spcPts val="300"/>
              </a:spcBef>
              <a:defRPr sz="950">
                <a:solidFill>
                  <a:srgbClr val="1F2A37"/>
                </a:solidFill>
              </a:defRPr>
            </a:pPr>
            <a:r>
              <a:rPr lang="en-US" sz="1000" dirty="0"/>
              <a:t>Same recommendation ID → mapped partner exercise/video. If missing → optional Fitakha-content fallback.</a:t>
            </a:r>
          </a:p>
        </p:txBody>
      </p:sp>
      <p:sp>
        <p:nvSpPr>
          <p:cNvPr id="31" name="TextBox 30">
            <a:extLst>
              <a:ext uri="{FF2B5EF4-FFF2-40B4-BE49-F238E27FC236}">
                <a16:creationId xmlns:a16="http://schemas.microsoft.com/office/drawing/2014/main" id="{A05B1711-C4EE-CADF-BF53-9D1D11C4C9AB}"/>
              </a:ext>
            </a:extLst>
          </p:cNvPr>
          <p:cNvSpPr txBox="1"/>
          <p:nvPr/>
        </p:nvSpPr>
        <p:spPr>
          <a:xfrm>
            <a:off x="5742165" y="5028032"/>
            <a:ext cx="5846197" cy="477054"/>
          </a:xfrm>
          <a:prstGeom prst="rect">
            <a:avLst/>
          </a:prstGeom>
          <a:noFill/>
        </p:spPr>
        <p:txBody>
          <a:bodyPr wrap="square">
            <a:spAutoFit/>
          </a:bodyPr>
          <a:lstStyle/>
          <a:p>
            <a:pPr algn="ctr">
              <a:defRPr sz="1250" b="1">
                <a:solidFill>
                  <a:srgbClr val="0C192D"/>
                </a:solidFill>
              </a:defRPr>
            </a:pPr>
            <a:r>
              <a:rPr sz="1200" dirty="0">
                <a:latin typeface="Calibri" panose="020F0502020204030204" pitchFamily="34" charset="0"/>
                <a:ea typeface="Calibri" panose="020F0502020204030204" pitchFamily="34" charset="0"/>
                <a:cs typeface="Calibri" panose="020F0502020204030204" pitchFamily="34" charset="0"/>
              </a:rPr>
              <a:t>Same intelligence. Different content source. No need for the AI to search YouTube at runtime.</a:t>
            </a:r>
          </a:p>
        </p:txBody>
      </p:sp>
      <p:cxnSp>
        <p:nvCxnSpPr>
          <p:cNvPr id="34" name="Straight Arrow Connector 33">
            <a:extLst>
              <a:ext uri="{FF2B5EF4-FFF2-40B4-BE49-F238E27FC236}">
                <a16:creationId xmlns:a16="http://schemas.microsoft.com/office/drawing/2014/main" id="{EE7D4B5D-8791-0AF0-E323-117D98EFDC5D}"/>
              </a:ext>
            </a:extLst>
          </p:cNvPr>
          <p:cNvCxnSpPr>
            <a:stCxn id="4" idx="2"/>
            <a:endCxn id="6" idx="0"/>
          </p:cNvCxnSpPr>
          <p:nvPr/>
        </p:nvCxnSpPr>
        <p:spPr>
          <a:xfrm>
            <a:off x="3002611" y="1995778"/>
            <a:ext cx="0" cy="1645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AD715E70-982E-5391-E8B1-214EDA525DC7}"/>
              </a:ext>
            </a:extLst>
          </p:cNvPr>
          <p:cNvCxnSpPr>
            <a:cxnSpLocks/>
            <a:stCxn id="6" idx="2"/>
            <a:endCxn id="8" idx="0"/>
          </p:cNvCxnSpPr>
          <p:nvPr/>
        </p:nvCxnSpPr>
        <p:spPr>
          <a:xfrm>
            <a:off x="3002611" y="2983330"/>
            <a:ext cx="0" cy="1645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8908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F4D7C-3ABB-C232-5142-E3395F86A2C6}"/>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4352785D-DF13-C561-C536-0401344498D1}"/>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Start with free/low-cost managed tools; keep Fitakha metadata and AI logic independent of any one video platform.</a:t>
            </a:r>
          </a:p>
        </p:txBody>
      </p:sp>
      <p:sp>
        <p:nvSpPr>
          <p:cNvPr id="33" name="Title 1">
            <a:extLst>
              <a:ext uri="{FF2B5EF4-FFF2-40B4-BE49-F238E27FC236}">
                <a16:creationId xmlns:a16="http://schemas.microsoft.com/office/drawing/2014/main" id="{7464262D-B0FC-ACA1-9C6C-1697A756F167}"/>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Fitakha Ecosystem + Minimum-Cost Tech Stack</a:t>
            </a:r>
          </a:p>
        </p:txBody>
      </p:sp>
      <p:sp>
        <p:nvSpPr>
          <p:cNvPr id="3" name="Rounded Rectangle 4">
            <a:extLst>
              <a:ext uri="{FF2B5EF4-FFF2-40B4-BE49-F238E27FC236}">
                <a16:creationId xmlns:a16="http://schemas.microsoft.com/office/drawing/2014/main" id="{27831994-DF23-7DB9-C202-A01A5533E4E1}"/>
              </a:ext>
            </a:extLst>
          </p:cNvPr>
          <p:cNvSpPr/>
          <p:nvPr/>
        </p:nvSpPr>
        <p:spPr>
          <a:xfrm>
            <a:off x="502920" y="1325880"/>
            <a:ext cx="2240280" cy="1234440"/>
          </a:xfrm>
          <a:prstGeom prst="roundRect">
            <a:avLst/>
          </a:prstGeom>
          <a:solidFill>
            <a:srgbClr val="F4F7FA"/>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Content Repository</a:t>
            </a:r>
          </a:p>
          <a:p>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YouTube channel</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Shorts + tutorials + playlists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YouTube Studio analytics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YouTube Create / Canva for low-cost editing</a:t>
            </a:r>
          </a:p>
        </p:txBody>
      </p:sp>
      <p:sp>
        <p:nvSpPr>
          <p:cNvPr id="7" name="Rounded Rectangle 7">
            <a:extLst>
              <a:ext uri="{FF2B5EF4-FFF2-40B4-BE49-F238E27FC236}">
                <a16:creationId xmlns:a16="http://schemas.microsoft.com/office/drawing/2014/main" id="{77A768BB-6F0E-78E7-4AB3-6F37480A08CB}"/>
              </a:ext>
            </a:extLst>
          </p:cNvPr>
          <p:cNvSpPr/>
          <p:nvPr/>
        </p:nvSpPr>
        <p:spPr>
          <a:xfrm>
            <a:off x="2971800" y="1325880"/>
            <a:ext cx="2240280" cy="1234440"/>
          </a:xfrm>
          <a:prstGeom prst="roundRect">
            <a:avLst/>
          </a:prstGeom>
          <a:solidFill>
            <a:srgbClr val="F4F7FA"/>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Fitakha Website</a:t>
            </a:r>
          </a:p>
          <a:p>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Next.js / React</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err="1">
                <a:solidFill>
                  <a:schemeClr val="tx1"/>
                </a:solidFill>
                <a:latin typeface="Calibri" panose="020F0502020204030204" pitchFamily="34" charset="0"/>
                <a:ea typeface="Calibri" panose="020F0502020204030204" pitchFamily="34" charset="0"/>
                <a:cs typeface="Calibri" panose="020F0502020204030204" pitchFamily="34" charset="0"/>
              </a:rPr>
              <a:t>Vercel</a:t>
            </a: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or Cloudflare Pages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SEO pages by exercise, goal and equipment</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Embed YouTube player for V1</a:t>
            </a:r>
          </a:p>
        </p:txBody>
      </p:sp>
      <p:sp>
        <p:nvSpPr>
          <p:cNvPr id="11" name="Rounded Rectangle 10">
            <a:extLst>
              <a:ext uri="{FF2B5EF4-FFF2-40B4-BE49-F238E27FC236}">
                <a16:creationId xmlns:a16="http://schemas.microsoft.com/office/drawing/2014/main" id="{5EF0CDDC-47F2-4CAF-18DB-99F1E5CEABF4}"/>
              </a:ext>
            </a:extLst>
          </p:cNvPr>
          <p:cNvSpPr/>
          <p:nvPr/>
        </p:nvSpPr>
        <p:spPr>
          <a:xfrm>
            <a:off x="5440680" y="1325880"/>
            <a:ext cx="2240280" cy="1234440"/>
          </a:xfrm>
          <a:prstGeom prst="roundRect">
            <a:avLst/>
          </a:prstGeom>
          <a:solidFill>
            <a:srgbClr val="F4F7FA"/>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App / PWA First</a:t>
            </a:r>
          </a:p>
          <a:p>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Mobile-friendly PWA before native app</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Reuse same API and content catalog</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Native app later only after usage proves demand</a:t>
            </a:r>
          </a:p>
        </p:txBody>
      </p:sp>
      <p:sp>
        <p:nvSpPr>
          <p:cNvPr id="15" name="Rounded Rectangle 13">
            <a:extLst>
              <a:ext uri="{FF2B5EF4-FFF2-40B4-BE49-F238E27FC236}">
                <a16:creationId xmlns:a16="http://schemas.microsoft.com/office/drawing/2014/main" id="{C21455F1-8EF5-D3AA-9C13-5D7DFA8BF071}"/>
              </a:ext>
            </a:extLst>
          </p:cNvPr>
          <p:cNvSpPr/>
          <p:nvPr/>
        </p:nvSpPr>
        <p:spPr>
          <a:xfrm>
            <a:off x="7909560" y="1325880"/>
            <a:ext cx="2240280" cy="1234440"/>
          </a:xfrm>
          <a:prstGeom prst="roundRect">
            <a:avLst/>
          </a:prstGeom>
          <a:solidFill>
            <a:srgbClr val="F4F7FA"/>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Partner Platforms</a:t>
            </a:r>
          </a:p>
          <a:p>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B2B API clients</a:t>
            </a:r>
            <a:b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Their users + their content mappings</a:t>
            </a:r>
            <a:b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Fitakha returns recommendation IDs and logic</a:t>
            </a:r>
          </a:p>
        </p:txBody>
      </p:sp>
      <p:sp>
        <p:nvSpPr>
          <p:cNvPr id="18" name="Rounded Rectangle 16">
            <a:extLst>
              <a:ext uri="{FF2B5EF4-FFF2-40B4-BE49-F238E27FC236}">
                <a16:creationId xmlns:a16="http://schemas.microsoft.com/office/drawing/2014/main" id="{14AAEA6B-90CF-B679-9777-EE3EF1A45489}"/>
              </a:ext>
            </a:extLst>
          </p:cNvPr>
          <p:cNvSpPr/>
          <p:nvPr/>
        </p:nvSpPr>
        <p:spPr>
          <a:xfrm>
            <a:off x="10378440" y="1325880"/>
            <a:ext cx="1234440" cy="1234440"/>
          </a:xfrm>
          <a:prstGeom prst="roundRect">
            <a:avLst/>
          </a:prstGeom>
          <a:solidFill>
            <a:srgbClr val="F4F7FA"/>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Future</a:t>
            </a:r>
          </a:p>
          <a:p>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Dedicated video/CDN only if premium app experience requires it</a:t>
            </a:r>
          </a:p>
        </p:txBody>
      </p:sp>
      <p:sp>
        <p:nvSpPr>
          <p:cNvPr id="21" name="Rounded Rectangle 23">
            <a:extLst>
              <a:ext uri="{FF2B5EF4-FFF2-40B4-BE49-F238E27FC236}">
                <a16:creationId xmlns:a16="http://schemas.microsoft.com/office/drawing/2014/main" id="{00171145-4022-0E14-59F0-A32145A1BB5F}"/>
              </a:ext>
            </a:extLst>
          </p:cNvPr>
          <p:cNvSpPr/>
          <p:nvPr/>
        </p:nvSpPr>
        <p:spPr>
          <a:xfrm>
            <a:off x="685800" y="2971800"/>
            <a:ext cx="2743200" cy="12801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Fitakha Data Layer</a:t>
            </a:r>
          </a:p>
          <a:p>
            <a:r>
              <a:rPr lang="en-US" sz="1000" dirty="0" err="1">
                <a:solidFill>
                  <a:schemeClr val="tx1"/>
                </a:solidFill>
                <a:latin typeface="Calibri" panose="020F0502020204030204" pitchFamily="34" charset="0"/>
                <a:ea typeface="Calibri" panose="020F0502020204030204" pitchFamily="34" charset="0"/>
                <a:cs typeface="Calibri" panose="020F0502020204030204" pitchFamily="34" charset="0"/>
              </a:rPr>
              <a:t>Supabase</a:t>
            </a: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Postgres for Exercise Knowledge Graph, Content Catalog, users, mappings and audit logs.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Start with simple tables; use CSV/Sheets import for content ops.</a:t>
            </a:r>
          </a:p>
        </p:txBody>
      </p:sp>
      <p:sp>
        <p:nvSpPr>
          <p:cNvPr id="24" name="Rounded Rectangle 26">
            <a:extLst>
              <a:ext uri="{FF2B5EF4-FFF2-40B4-BE49-F238E27FC236}">
                <a16:creationId xmlns:a16="http://schemas.microsoft.com/office/drawing/2014/main" id="{B66C30B2-C892-65B5-A43F-418A7C909C84}"/>
              </a:ext>
            </a:extLst>
          </p:cNvPr>
          <p:cNvSpPr/>
          <p:nvPr/>
        </p:nvSpPr>
        <p:spPr>
          <a:xfrm>
            <a:off x="3794760" y="2971800"/>
            <a:ext cx="2743200" cy="12801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AI Engine Layer</a:t>
            </a:r>
          </a:p>
          <a:p>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Serverless API: deterministic filters first, then low-cost LLM for personalization, explanation and substitutions.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Cache repeated responses; avoid YouTube search at runtime.</a:t>
            </a:r>
          </a:p>
        </p:txBody>
      </p:sp>
      <p:sp>
        <p:nvSpPr>
          <p:cNvPr id="26" name="Rounded Rectangle 29">
            <a:extLst>
              <a:ext uri="{FF2B5EF4-FFF2-40B4-BE49-F238E27FC236}">
                <a16:creationId xmlns:a16="http://schemas.microsoft.com/office/drawing/2014/main" id="{5203D8EC-884C-5E6D-B6D5-4AAD4392589D}"/>
              </a:ext>
            </a:extLst>
          </p:cNvPr>
          <p:cNvSpPr/>
          <p:nvPr/>
        </p:nvSpPr>
        <p:spPr>
          <a:xfrm>
            <a:off x="6903720" y="2971800"/>
            <a:ext cx="2331720" cy="12801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Ops + Analytics</a:t>
            </a:r>
          </a:p>
          <a:p>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GitHub + CI/CD</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err="1">
                <a:solidFill>
                  <a:schemeClr val="tx1"/>
                </a:solidFill>
                <a:latin typeface="Calibri" panose="020F0502020204030204" pitchFamily="34" charset="0"/>
                <a:ea typeface="Calibri" panose="020F0502020204030204" pitchFamily="34" charset="0"/>
                <a:cs typeface="Calibri" panose="020F0502020204030204" pitchFamily="34" charset="0"/>
              </a:rPr>
              <a:t>PostHog</a:t>
            </a: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or GA4</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Sentry/logging</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Stripe later for paid plans</a:t>
            </a:r>
          </a:p>
        </p:txBody>
      </p:sp>
      <p:sp>
        <p:nvSpPr>
          <p:cNvPr id="29" name="Rounded Rectangle 32">
            <a:extLst>
              <a:ext uri="{FF2B5EF4-FFF2-40B4-BE49-F238E27FC236}">
                <a16:creationId xmlns:a16="http://schemas.microsoft.com/office/drawing/2014/main" id="{B2B5E0AE-0D81-6314-8BFB-DA11DB1B32ED}"/>
              </a:ext>
            </a:extLst>
          </p:cNvPr>
          <p:cNvSpPr/>
          <p:nvPr/>
        </p:nvSpPr>
        <p:spPr>
          <a:xfrm>
            <a:off x="9555480" y="2971800"/>
            <a:ext cx="2011680" cy="128016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Admin Tools</a:t>
            </a:r>
          </a:p>
          <a:p>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Retool/</a:t>
            </a:r>
            <a:r>
              <a:rPr lang="en-US" sz="1000" dirty="0" err="1">
                <a:solidFill>
                  <a:schemeClr val="tx1"/>
                </a:solidFill>
                <a:latin typeface="Calibri" panose="020F0502020204030204" pitchFamily="34" charset="0"/>
                <a:ea typeface="Calibri" panose="020F0502020204030204" pitchFamily="34" charset="0"/>
                <a:cs typeface="Calibri" panose="020F0502020204030204" pitchFamily="34" charset="0"/>
              </a:rPr>
              <a:t>Appsmith</a:t>
            </a: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later</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Start with </a:t>
            </a:r>
            <a:r>
              <a:rPr lang="en-US" sz="1000" dirty="0" err="1">
                <a:solidFill>
                  <a:schemeClr val="tx1"/>
                </a:solidFill>
                <a:latin typeface="Calibri" panose="020F0502020204030204" pitchFamily="34" charset="0"/>
                <a:ea typeface="Calibri" panose="020F0502020204030204" pitchFamily="34" charset="0"/>
                <a:cs typeface="Calibri" panose="020F0502020204030204" pitchFamily="34" charset="0"/>
              </a:rPr>
              <a:t>Supabase</a:t>
            </a: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dashboard + spreadsheets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Human review for exercise metadata</a:t>
            </a:r>
          </a:p>
        </p:txBody>
      </p:sp>
      <p:sp>
        <p:nvSpPr>
          <p:cNvPr id="36" name="TextBox 35">
            <a:extLst>
              <a:ext uri="{FF2B5EF4-FFF2-40B4-BE49-F238E27FC236}">
                <a16:creationId xmlns:a16="http://schemas.microsoft.com/office/drawing/2014/main" id="{59F0ED93-0497-2B9D-6ED2-01434C7AA139}"/>
              </a:ext>
            </a:extLst>
          </p:cNvPr>
          <p:cNvSpPr txBox="1"/>
          <p:nvPr/>
        </p:nvSpPr>
        <p:spPr>
          <a:xfrm>
            <a:off x="763325" y="4663440"/>
            <a:ext cx="10599089" cy="523220"/>
          </a:xfrm>
          <a:prstGeom prst="rect">
            <a:avLst/>
          </a:prstGeom>
          <a:noFill/>
        </p:spPr>
        <p:txBody>
          <a:bodyPr wrap="square">
            <a:spAutoFit/>
          </a:bodyPr>
          <a:lstStyle/>
          <a:p>
            <a:r>
              <a:rPr lang="en-US" sz="1400" b="1" i="1" dirty="0">
                <a:latin typeface="Calibri" panose="020F0502020204030204" pitchFamily="34" charset="0"/>
                <a:ea typeface="Calibri" panose="020F0502020204030204" pitchFamily="34" charset="0"/>
                <a:cs typeface="Calibri" panose="020F0502020204030204" pitchFamily="34" charset="0"/>
              </a:rPr>
              <a:t>Cost discipline: YouTube handles video hosting/discovery • PWA before native mobile • serverless before dedicated servers • </a:t>
            </a:r>
            <a:r>
              <a:rPr lang="en-US" sz="1400" b="1" i="1" dirty="0" err="1">
                <a:latin typeface="Calibri" panose="020F0502020204030204" pitchFamily="34" charset="0"/>
                <a:ea typeface="Calibri" panose="020F0502020204030204" pitchFamily="34" charset="0"/>
                <a:cs typeface="Calibri" panose="020F0502020204030204" pitchFamily="34" charset="0"/>
              </a:rPr>
              <a:t>Supabase</a:t>
            </a:r>
            <a:r>
              <a:rPr lang="en-US" sz="1400" b="1" i="1" dirty="0">
                <a:latin typeface="Calibri" panose="020F0502020204030204" pitchFamily="34" charset="0"/>
                <a:ea typeface="Calibri" panose="020F0502020204030204" pitchFamily="34" charset="0"/>
                <a:cs typeface="Calibri" panose="020F0502020204030204" pitchFamily="34" charset="0"/>
              </a:rPr>
              <a:t> before custom infrastructure • rules before AI • GPT-5 Mini-style low-cost model for V1 • caching + batch generation to reduce token spend.</a:t>
            </a:r>
          </a:p>
        </p:txBody>
      </p:sp>
      <p:cxnSp>
        <p:nvCxnSpPr>
          <p:cNvPr id="40" name="Straight Connector 39">
            <a:extLst>
              <a:ext uri="{FF2B5EF4-FFF2-40B4-BE49-F238E27FC236}">
                <a16:creationId xmlns:a16="http://schemas.microsoft.com/office/drawing/2014/main" id="{8FCB1F90-7320-C2C2-B0AF-2A1411483BBD}"/>
              </a:ext>
            </a:extLst>
          </p:cNvPr>
          <p:cNvCxnSpPr>
            <a:stCxn id="3" idx="3"/>
            <a:endCxn id="7" idx="1"/>
          </p:cNvCxnSpPr>
          <p:nvPr/>
        </p:nvCxnSpPr>
        <p:spPr>
          <a:xfrm>
            <a:off x="2743200" y="1943100"/>
            <a:ext cx="2286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B774E9FE-5215-10C4-297E-45F92C3D7598}"/>
              </a:ext>
            </a:extLst>
          </p:cNvPr>
          <p:cNvCxnSpPr>
            <a:cxnSpLocks/>
            <a:stCxn id="7" idx="3"/>
            <a:endCxn id="11" idx="1"/>
          </p:cNvCxnSpPr>
          <p:nvPr/>
        </p:nvCxnSpPr>
        <p:spPr>
          <a:xfrm>
            <a:off x="5212080" y="1943100"/>
            <a:ext cx="2286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81528C7D-AC7F-54F3-D43E-15BF5F25D0A6}"/>
              </a:ext>
            </a:extLst>
          </p:cNvPr>
          <p:cNvCxnSpPr>
            <a:cxnSpLocks/>
            <a:stCxn id="11" idx="3"/>
            <a:endCxn id="15" idx="1"/>
          </p:cNvCxnSpPr>
          <p:nvPr/>
        </p:nvCxnSpPr>
        <p:spPr>
          <a:xfrm>
            <a:off x="7680960" y="1943100"/>
            <a:ext cx="2286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01747EE7-2D68-7898-C529-1DE15ACEF93A}"/>
              </a:ext>
            </a:extLst>
          </p:cNvPr>
          <p:cNvCxnSpPr>
            <a:cxnSpLocks/>
            <a:stCxn id="15" idx="3"/>
            <a:endCxn id="18" idx="1"/>
          </p:cNvCxnSpPr>
          <p:nvPr/>
        </p:nvCxnSpPr>
        <p:spPr>
          <a:xfrm>
            <a:off x="10149840" y="1943100"/>
            <a:ext cx="2286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AB4A8FED-2887-089A-A7FD-0493B4CAFBF3}"/>
              </a:ext>
            </a:extLst>
          </p:cNvPr>
          <p:cNvCxnSpPr>
            <a:cxnSpLocks/>
            <a:stCxn id="21" idx="0"/>
            <a:endCxn id="7" idx="2"/>
          </p:cNvCxnSpPr>
          <p:nvPr/>
        </p:nvCxnSpPr>
        <p:spPr>
          <a:xfrm flipV="1">
            <a:off x="2057400" y="2560320"/>
            <a:ext cx="2034540" cy="4114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29DEF553-9F1F-6205-0D93-575AEC771D23}"/>
              </a:ext>
            </a:extLst>
          </p:cNvPr>
          <p:cNvCxnSpPr>
            <a:cxnSpLocks/>
            <a:stCxn id="24" idx="0"/>
            <a:endCxn id="11" idx="2"/>
          </p:cNvCxnSpPr>
          <p:nvPr/>
        </p:nvCxnSpPr>
        <p:spPr>
          <a:xfrm flipV="1">
            <a:off x="5166360" y="2560320"/>
            <a:ext cx="1394460" cy="4114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0DC5BFFB-CB3D-00FE-4A52-F69F853E588B}"/>
              </a:ext>
            </a:extLst>
          </p:cNvPr>
          <p:cNvCxnSpPr>
            <a:cxnSpLocks/>
            <a:stCxn id="24" idx="0"/>
            <a:endCxn id="15" idx="2"/>
          </p:cNvCxnSpPr>
          <p:nvPr/>
        </p:nvCxnSpPr>
        <p:spPr>
          <a:xfrm flipV="1">
            <a:off x="5166360" y="2560320"/>
            <a:ext cx="3863340" cy="4114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8438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DEDB0-7AC0-CB53-FC37-6F3D078987D4}"/>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60A6DAC2-782C-5662-ED4F-1F6E48CA1478}"/>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Structured intelligence around the content is the MOAT</a:t>
            </a:r>
          </a:p>
        </p:txBody>
      </p:sp>
      <p:sp>
        <p:nvSpPr>
          <p:cNvPr id="33" name="Title 1">
            <a:extLst>
              <a:ext uri="{FF2B5EF4-FFF2-40B4-BE49-F238E27FC236}">
                <a16:creationId xmlns:a16="http://schemas.microsoft.com/office/drawing/2014/main" id="{411E26DE-853A-9CD3-FD37-99ED0B47AAD1}"/>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The Moat</a:t>
            </a:r>
          </a:p>
        </p:txBody>
      </p:sp>
      <p:sp>
        <p:nvSpPr>
          <p:cNvPr id="13" name="Rounded Rectangle 7">
            <a:extLst>
              <a:ext uri="{FF2B5EF4-FFF2-40B4-BE49-F238E27FC236}">
                <a16:creationId xmlns:a16="http://schemas.microsoft.com/office/drawing/2014/main" id="{67BAB5AB-5A1A-9DD5-F526-0F9B796B6B30}"/>
              </a:ext>
            </a:extLst>
          </p:cNvPr>
          <p:cNvSpPr/>
          <p:nvPr/>
        </p:nvSpPr>
        <p:spPr>
          <a:xfrm>
            <a:off x="7828984" y="1260310"/>
            <a:ext cx="3383280" cy="3160615"/>
          </a:xfrm>
          <a:prstGeom prst="roundRect">
            <a:avLst>
              <a:gd name="adj" fmla="val 7862"/>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CAF8C90B-3FCB-6D01-7EE4-9C6A84254CE0}"/>
              </a:ext>
            </a:extLst>
          </p:cNvPr>
          <p:cNvSpPr txBox="1"/>
          <p:nvPr/>
        </p:nvSpPr>
        <p:spPr>
          <a:xfrm>
            <a:off x="8030152" y="1406613"/>
            <a:ext cx="3017520" cy="784830"/>
          </a:xfrm>
          <a:prstGeom prst="rect">
            <a:avLst/>
          </a:prstGeom>
          <a:noFill/>
        </p:spPr>
        <p:txBody>
          <a:bodyPr wrap="square">
            <a:spAutoFit/>
          </a:bodyPr>
          <a:lstStyle/>
          <a:p>
            <a:pPr algn="ct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Content Flywheel</a:t>
            </a:r>
            <a:endParaRPr dirty="0">
              <a:latin typeface="Calibri" panose="020F0502020204030204" pitchFamily="34" charset="0"/>
              <a:ea typeface="Calibri" panose="020F0502020204030204" pitchFamily="34" charset="0"/>
              <a:cs typeface="Calibri" panose="020F0502020204030204" pitchFamily="34" charset="0"/>
            </a:endParaRPr>
          </a:p>
          <a:p>
            <a:pPr algn="ctr">
              <a:spcBef>
                <a:spcPts val="600"/>
              </a:spcBef>
              <a:defRPr sz="1100">
                <a:solidFill>
                  <a:srgbClr val="1F2A37"/>
                </a:solidFill>
              </a:defRPr>
            </a:pPr>
            <a:r>
              <a:rPr lang="en-US" sz="1200" dirty="0">
                <a:latin typeface="Calibri" panose="020F0502020204030204" pitchFamily="34" charset="0"/>
                <a:ea typeface="Calibri" panose="020F0502020204030204" pitchFamily="34" charset="0"/>
                <a:cs typeface="Calibri" panose="020F0502020204030204" pitchFamily="34" charset="0"/>
              </a:rPr>
              <a:t>How Fitakha teaches, attracts users and continuously builds content</a:t>
            </a:r>
            <a:endParaRPr sz="1200" dirty="0">
              <a:latin typeface="Calibri" panose="020F0502020204030204" pitchFamily="34" charset="0"/>
              <a:ea typeface="Calibri" panose="020F0502020204030204" pitchFamily="34" charset="0"/>
              <a:cs typeface="Calibri" panose="020F0502020204030204" pitchFamily="34" charset="0"/>
            </a:endParaRPr>
          </a:p>
        </p:txBody>
      </p:sp>
      <p:sp>
        <p:nvSpPr>
          <p:cNvPr id="17" name="Rounded Rectangle 10">
            <a:extLst>
              <a:ext uri="{FF2B5EF4-FFF2-40B4-BE49-F238E27FC236}">
                <a16:creationId xmlns:a16="http://schemas.microsoft.com/office/drawing/2014/main" id="{29594249-831E-5384-2241-DEB6F52BA190}"/>
              </a:ext>
            </a:extLst>
          </p:cNvPr>
          <p:cNvSpPr/>
          <p:nvPr/>
        </p:nvSpPr>
        <p:spPr>
          <a:xfrm>
            <a:off x="406445" y="1260310"/>
            <a:ext cx="3383280" cy="3160615"/>
          </a:xfrm>
          <a:prstGeom prst="roundRect">
            <a:avLst>
              <a:gd name="adj" fmla="val 8113"/>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5A9853EA-25EE-2F65-5869-9ACFFBAF30CC}"/>
              </a:ext>
            </a:extLst>
          </p:cNvPr>
          <p:cNvSpPr txBox="1"/>
          <p:nvPr/>
        </p:nvSpPr>
        <p:spPr>
          <a:xfrm>
            <a:off x="607613" y="1406613"/>
            <a:ext cx="3017520" cy="600164"/>
          </a:xfrm>
          <a:prstGeom prst="rect">
            <a:avLst/>
          </a:prstGeom>
          <a:noFill/>
        </p:spPr>
        <p:txBody>
          <a:bodyPr wrap="square">
            <a:spAutoFit/>
          </a:bodyPr>
          <a:lstStyle/>
          <a:p>
            <a:pPr algn="ct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Exercise Knowledge Graph</a:t>
            </a:r>
            <a:endParaRPr dirty="0">
              <a:latin typeface="Calibri" panose="020F0502020204030204" pitchFamily="34" charset="0"/>
              <a:ea typeface="Calibri" panose="020F0502020204030204" pitchFamily="34" charset="0"/>
              <a:cs typeface="Calibri" panose="020F0502020204030204" pitchFamily="34" charset="0"/>
            </a:endParaRPr>
          </a:p>
          <a:p>
            <a:pPr algn="ctr">
              <a:spcBef>
                <a:spcPts val="600"/>
              </a:spcBef>
              <a:defRPr sz="1100">
                <a:solidFill>
                  <a:srgbClr val="1F2A37"/>
                </a:solidFill>
              </a:defRPr>
            </a:pPr>
            <a:r>
              <a:rPr lang="en-US" sz="1200" dirty="0">
                <a:latin typeface="Calibri" panose="020F0502020204030204" pitchFamily="34" charset="0"/>
                <a:ea typeface="Calibri" panose="020F0502020204030204" pitchFamily="34" charset="0"/>
                <a:cs typeface="Calibri" panose="020F0502020204030204" pitchFamily="34" charset="0"/>
              </a:rPr>
              <a:t>What Fitakha knows?</a:t>
            </a:r>
            <a:endParaRPr sz="1200" dirty="0">
              <a:latin typeface="Calibri" panose="020F0502020204030204" pitchFamily="34" charset="0"/>
              <a:ea typeface="Calibri" panose="020F0502020204030204" pitchFamily="34" charset="0"/>
              <a:cs typeface="Calibri" panose="020F0502020204030204" pitchFamily="34" charset="0"/>
            </a:endParaRPr>
          </a:p>
        </p:txBody>
      </p:sp>
      <p:sp>
        <p:nvSpPr>
          <p:cNvPr id="19" name="Rounded Rectangle 4">
            <a:extLst>
              <a:ext uri="{FF2B5EF4-FFF2-40B4-BE49-F238E27FC236}">
                <a16:creationId xmlns:a16="http://schemas.microsoft.com/office/drawing/2014/main" id="{A655217B-8D41-8640-B922-FA4B542A0B2E}"/>
              </a:ext>
            </a:extLst>
          </p:cNvPr>
          <p:cNvSpPr/>
          <p:nvPr/>
        </p:nvSpPr>
        <p:spPr>
          <a:xfrm>
            <a:off x="4117714" y="1260310"/>
            <a:ext cx="3383280" cy="3160615"/>
          </a:xfrm>
          <a:prstGeom prst="roundRect">
            <a:avLst>
              <a:gd name="adj" fmla="val 6856"/>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DD38FA35-E1ED-AE93-5125-0E4C8DE31DC8}"/>
              </a:ext>
            </a:extLst>
          </p:cNvPr>
          <p:cNvSpPr txBox="1"/>
          <p:nvPr/>
        </p:nvSpPr>
        <p:spPr>
          <a:xfrm>
            <a:off x="4318881" y="1406613"/>
            <a:ext cx="3017520" cy="600164"/>
          </a:xfrm>
          <a:prstGeom prst="rect">
            <a:avLst/>
          </a:prstGeom>
          <a:noFill/>
        </p:spPr>
        <p:txBody>
          <a:bodyPr wrap="square">
            <a:spAutoFit/>
          </a:bodyPr>
          <a:lstStyle/>
          <a:p>
            <a:pPr algn="ct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Decision Intelligence</a:t>
            </a:r>
            <a:endParaRPr dirty="0">
              <a:latin typeface="Calibri" panose="020F0502020204030204" pitchFamily="34" charset="0"/>
              <a:ea typeface="Calibri" panose="020F0502020204030204" pitchFamily="34" charset="0"/>
              <a:cs typeface="Calibri" panose="020F0502020204030204" pitchFamily="34" charset="0"/>
            </a:endParaRPr>
          </a:p>
          <a:p>
            <a:pPr algn="ctr">
              <a:spcBef>
                <a:spcPts val="600"/>
              </a:spcBef>
              <a:defRPr sz="1100">
                <a:solidFill>
                  <a:srgbClr val="1F2A37"/>
                </a:solidFill>
              </a:defRPr>
            </a:pPr>
            <a:r>
              <a:rPr lang="en-US" sz="1200" dirty="0">
                <a:latin typeface="Calibri" panose="020F0502020204030204" pitchFamily="34" charset="0"/>
                <a:ea typeface="Calibri" panose="020F0502020204030204" pitchFamily="34" charset="0"/>
                <a:cs typeface="Calibri" panose="020F0502020204030204" pitchFamily="34" charset="0"/>
              </a:rPr>
              <a:t>How Fitakha decides what to recommend?</a:t>
            </a:r>
            <a:endParaRPr sz="1200" dirty="0">
              <a:latin typeface="Calibri" panose="020F0502020204030204" pitchFamily="34" charset="0"/>
              <a:ea typeface="Calibri" panose="020F0502020204030204" pitchFamily="34" charset="0"/>
              <a:cs typeface="Calibri" panose="020F0502020204030204" pitchFamily="34" charset="0"/>
            </a:endParaRPr>
          </a:p>
        </p:txBody>
      </p:sp>
      <p:cxnSp>
        <p:nvCxnSpPr>
          <p:cNvPr id="22" name="Straight Arrow Connector 21">
            <a:extLst>
              <a:ext uri="{FF2B5EF4-FFF2-40B4-BE49-F238E27FC236}">
                <a16:creationId xmlns:a16="http://schemas.microsoft.com/office/drawing/2014/main" id="{2EB41771-F885-4FE4-0265-32804C6D4191}"/>
              </a:ext>
            </a:extLst>
          </p:cNvPr>
          <p:cNvCxnSpPr>
            <a:cxnSpLocks/>
            <a:stCxn id="17" idx="3"/>
            <a:endCxn id="19" idx="1"/>
          </p:cNvCxnSpPr>
          <p:nvPr/>
        </p:nvCxnSpPr>
        <p:spPr>
          <a:xfrm>
            <a:off x="3789725" y="2840618"/>
            <a:ext cx="3279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FF343A5-9F12-6373-73B1-3A66869C8D02}"/>
              </a:ext>
            </a:extLst>
          </p:cNvPr>
          <p:cNvCxnSpPr>
            <a:cxnSpLocks/>
            <a:stCxn id="19" idx="3"/>
            <a:endCxn id="13" idx="1"/>
          </p:cNvCxnSpPr>
          <p:nvPr/>
        </p:nvCxnSpPr>
        <p:spPr>
          <a:xfrm>
            <a:off x="7500994" y="2840618"/>
            <a:ext cx="3279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3B1859D-AAFF-CC5E-B70F-08B475FA271E}"/>
              </a:ext>
            </a:extLst>
          </p:cNvPr>
          <p:cNvSpPr txBox="1"/>
          <p:nvPr/>
        </p:nvSpPr>
        <p:spPr>
          <a:xfrm>
            <a:off x="406445" y="2202364"/>
            <a:ext cx="3383279" cy="1015663"/>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Canonical Fitakha exercise IDs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Movement / muscle / equipment relationships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Regression, progression and substitution graph</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Difficulty, balance, mobility and complexity metadata</a:t>
            </a:r>
          </a:p>
        </p:txBody>
      </p:sp>
      <p:sp>
        <p:nvSpPr>
          <p:cNvPr id="26" name="TextBox 25">
            <a:extLst>
              <a:ext uri="{FF2B5EF4-FFF2-40B4-BE49-F238E27FC236}">
                <a16:creationId xmlns:a16="http://schemas.microsoft.com/office/drawing/2014/main" id="{C4959C2C-449C-5EB9-E62C-53041E53A67E}"/>
              </a:ext>
            </a:extLst>
          </p:cNvPr>
          <p:cNvSpPr txBox="1"/>
          <p:nvPr/>
        </p:nvSpPr>
        <p:spPr>
          <a:xfrm>
            <a:off x="4233309" y="2203689"/>
            <a:ext cx="3180057" cy="1015663"/>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Matches user context to eligible exercises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Uses rules for hard constraints and safety</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Uses AI for personalization and explanation</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Learns which recommendations/content are useful</a:t>
            </a:r>
          </a:p>
        </p:txBody>
      </p:sp>
      <p:sp>
        <p:nvSpPr>
          <p:cNvPr id="28" name="TextBox 27">
            <a:extLst>
              <a:ext uri="{FF2B5EF4-FFF2-40B4-BE49-F238E27FC236}">
                <a16:creationId xmlns:a16="http://schemas.microsoft.com/office/drawing/2014/main" id="{E0F484EF-6B16-4F4C-8C7B-B75EA1775838}"/>
              </a:ext>
            </a:extLst>
          </p:cNvPr>
          <p:cNvSpPr txBox="1"/>
          <p:nvPr/>
        </p:nvSpPr>
        <p:spPr>
          <a:xfrm>
            <a:off x="8030152" y="2202364"/>
            <a:ext cx="3180057" cy="830997"/>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One exercise creates many reusable assets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App usage reveals high-interest problems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Those problems become new content topics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Content drives discovery back to Fitakha</a:t>
            </a:r>
          </a:p>
        </p:txBody>
      </p:sp>
      <p:sp>
        <p:nvSpPr>
          <p:cNvPr id="32" name="TextBox 31">
            <a:extLst>
              <a:ext uri="{FF2B5EF4-FFF2-40B4-BE49-F238E27FC236}">
                <a16:creationId xmlns:a16="http://schemas.microsoft.com/office/drawing/2014/main" id="{EE3078CD-1562-297E-57E7-F0BD5CB7CD20}"/>
              </a:ext>
            </a:extLst>
          </p:cNvPr>
          <p:cNvSpPr txBox="1"/>
          <p:nvPr/>
        </p:nvSpPr>
        <p:spPr>
          <a:xfrm>
            <a:off x="1297812" y="4493191"/>
            <a:ext cx="9283625" cy="364837"/>
          </a:xfrm>
          <a:prstGeom prst="rect">
            <a:avLst/>
          </a:prstGeom>
          <a:noFill/>
        </p:spPr>
        <p:txBody>
          <a:bodyPr wrap="square">
            <a:spAutoFit/>
          </a:bodyPr>
          <a:lstStyle/>
          <a:p>
            <a:r>
              <a:rPr lang="en-US" b="1" i="1" dirty="0"/>
              <a:t>KNOWLEDGE → INTELLIGENCE → CONTENT → MORE USERS/DATA → BETTER KNOWLEDGE</a:t>
            </a:r>
          </a:p>
        </p:txBody>
      </p:sp>
    </p:spTree>
    <p:extLst>
      <p:ext uri="{BB962C8B-B14F-4D97-AF65-F5344CB8AC3E}">
        <p14:creationId xmlns:p14="http://schemas.microsoft.com/office/powerpoint/2010/main" val="3967109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7D16-8723-10BD-4B4F-ABDD79D5AA10}"/>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17925591-9DF5-FCC0-C50E-180862783947}"/>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Structured intelligence around the content is the MOAT</a:t>
            </a:r>
          </a:p>
        </p:txBody>
      </p:sp>
      <p:sp>
        <p:nvSpPr>
          <p:cNvPr id="33" name="Title 1">
            <a:extLst>
              <a:ext uri="{FF2B5EF4-FFF2-40B4-BE49-F238E27FC236}">
                <a16:creationId xmlns:a16="http://schemas.microsoft.com/office/drawing/2014/main" id="{A240CD22-0F58-9B8A-0125-8227F57FC177}"/>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The Moat</a:t>
            </a:r>
          </a:p>
        </p:txBody>
      </p:sp>
      <p:sp>
        <p:nvSpPr>
          <p:cNvPr id="13" name="Rounded Rectangle 7">
            <a:extLst>
              <a:ext uri="{FF2B5EF4-FFF2-40B4-BE49-F238E27FC236}">
                <a16:creationId xmlns:a16="http://schemas.microsoft.com/office/drawing/2014/main" id="{9C76E139-2DA5-5ADE-3196-240D511B2B13}"/>
              </a:ext>
            </a:extLst>
          </p:cNvPr>
          <p:cNvSpPr/>
          <p:nvPr/>
        </p:nvSpPr>
        <p:spPr>
          <a:xfrm>
            <a:off x="7828984" y="1260310"/>
            <a:ext cx="3383280" cy="3160615"/>
          </a:xfrm>
          <a:prstGeom prst="roundRect">
            <a:avLst>
              <a:gd name="adj" fmla="val 7862"/>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72C8C7DC-92B4-D2CB-26D2-2FC101C73FA5}"/>
              </a:ext>
            </a:extLst>
          </p:cNvPr>
          <p:cNvSpPr txBox="1"/>
          <p:nvPr/>
        </p:nvSpPr>
        <p:spPr>
          <a:xfrm>
            <a:off x="8030152" y="1406613"/>
            <a:ext cx="3017520" cy="784830"/>
          </a:xfrm>
          <a:prstGeom prst="rect">
            <a:avLst/>
          </a:prstGeom>
          <a:noFill/>
        </p:spPr>
        <p:txBody>
          <a:bodyPr wrap="square">
            <a:spAutoFit/>
          </a:bodyPr>
          <a:lstStyle/>
          <a:p>
            <a:pPr algn="ct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Content Flywheel</a:t>
            </a:r>
            <a:endParaRPr dirty="0">
              <a:latin typeface="Calibri" panose="020F0502020204030204" pitchFamily="34" charset="0"/>
              <a:ea typeface="Calibri" panose="020F0502020204030204" pitchFamily="34" charset="0"/>
              <a:cs typeface="Calibri" panose="020F0502020204030204" pitchFamily="34" charset="0"/>
            </a:endParaRPr>
          </a:p>
          <a:p>
            <a:pPr algn="ctr">
              <a:spcBef>
                <a:spcPts val="600"/>
              </a:spcBef>
              <a:defRPr sz="1100">
                <a:solidFill>
                  <a:srgbClr val="1F2A37"/>
                </a:solidFill>
              </a:defRPr>
            </a:pPr>
            <a:r>
              <a:rPr lang="en-US" sz="1200" dirty="0">
                <a:latin typeface="Calibri" panose="020F0502020204030204" pitchFamily="34" charset="0"/>
                <a:ea typeface="Calibri" panose="020F0502020204030204" pitchFamily="34" charset="0"/>
                <a:cs typeface="Calibri" panose="020F0502020204030204" pitchFamily="34" charset="0"/>
              </a:rPr>
              <a:t>How Fitakha teaches, attracts users and continuously builds content</a:t>
            </a:r>
            <a:endParaRPr sz="1200" dirty="0">
              <a:latin typeface="Calibri" panose="020F0502020204030204" pitchFamily="34" charset="0"/>
              <a:ea typeface="Calibri" panose="020F0502020204030204" pitchFamily="34" charset="0"/>
              <a:cs typeface="Calibri" panose="020F0502020204030204" pitchFamily="34" charset="0"/>
            </a:endParaRPr>
          </a:p>
        </p:txBody>
      </p:sp>
      <p:sp>
        <p:nvSpPr>
          <p:cNvPr id="17" name="Rounded Rectangle 10">
            <a:extLst>
              <a:ext uri="{FF2B5EF4-FFF2-40B4-BE49-F238E27FC236}">
                <a16:creationId xmlns:a16="http://schemas.microsoft.com/office/drawing/2014/main" id="{25B22FD2-9692-E657-BFF7-0A49DB9BC805}"/>
              </a:ext>
            </a:extLst>
          </p:cNvPr>
          <p:cNvSpPr/>
          <p:nvPr/>
        </p:nvSpPr>
        <p:spPr>
          <a:xfrm>
            <a:off x="406445" y="1260310"/>
            <a:ext cx="3383280" cy="3160615"/>
          </a:xfrm>
          <a:prstGeom prst="roundRect">
            <a:avLst>
              <a:gd name="adj" fmla="val 8113"/>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FB354481-F9B7-672C-02A5-61A2FB14FB52}"/>
              </a:ext>
            </a:extLst>
          </p:cNvPr>
          <p:cNvSpPr txBox="1"/>
          <p:nvPr/>
        </p:nvSpPr>
        <p:spPr>
          <a:xfrm>
            <a:off x="607613" y="1406613"/>
            <a:ext cx="3017520" cy="600164"/>
          </a:xfrm>
          <a:prstGeom prst="rect">
            <a:avLst/>
          </a:prstGeom>
          <a:noFill/>
        </p:spPr>
        <p:txBody>
          <a:bodyPr wrap="square">
            <a:spAutoFit/>
          </a:bodyPr>
          <a:lstStyle/>
          <a:p>
            <a:pPr algn="ct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Exercise Knowledge Graph</a:t>
            </a:r>
            <a:endParaRPr dirty="0">
              <a:latin typeface="Calibri" panose="020F0502020204030204" pitchFamily="34" charset="0"/>
              <a:ea typeface="Calibri" panose="020F0502020204030204" pitchFamily="34" charset="0"/>
              <a:cs typeface="Calibri" panose="020F0502020204030204" pitchFamily="34" charset="0"/>
            </a:endParaRPr>
          </a:p>
          <a:p>
            <a:pPr algn="ctr">
              <a:spcBef>
                <a:spcPts val="600"/>
              </a:spcBef>
              <a:defRPr sz="1100">
                <a:solidFill>
                  <a:srgbClr val="1F2A37"/>
                </a:solidFill>
              </a:defRPr>
            </a:pPr>
            <a:r>
              <a:rPr lang="en-US" sz="1200" dirty="0">
                <a:latin typeface="Calibri" panose="020F0502020204030204" pitchFamily="34" charset="0"/>
                <a:ea typeface="Calibri" panose="020F0502020204030204" pitchFamily="34" charset="0"/>
                <a:cs typeface="Calibri" panose="020F0502020204030204" pitchFamily="34" charset="0"/>
              </a:rPr>
              <a:t>What Fitakha knows?</a:t>
            </a:r>
            <a:endParaRPr sz="1200" dirty="0">
              <a:latin typeface="Calibri" panose="020F0502020204030204" pitchFamily="34" charset="0"/>
              <a:ea typeface="Calibri" panose="020F0502020204030204" pitchFamily="34" charset="0"/>
              <a:cs typeface="Calibri" panose="020F0502020204030204" pitchFamily="34" charset="0"/>
            </a:endParaRPr>
          </a:p>
        </p:txBody>
      </p:sp>
      <p:sp>
        <p:nvSpPr>
          <p:cNvPr id="19" name="Rounded Rectangle 4">
            <a:extLst>
              <a:ext uri="{FF2B5EF4-FFF2-40B4-BE49-F238E27FC236}">
                <a16:creationId xmlns:a16="http://schemas.microsoft.com/office/drawing/2014/main" id="{054ECE74-8FBD-B80E-8619-C8F56FF1A438}"/>
              </a:ext>
            </a:extLst>
          </p:cNvPr>
          <p:cNvSpPr/>
          <p:nvPr/>
        </p:nvSpPr>
        <p:spPr>
          <a:xfrm>
            <a:off x="4117714" y="1260310"/>
            <a:ext cx="3383280" cy="3160615"/>
          </a:xfrm>
          <a:prstGeom prst="roundRect">
            <a:avLst>
              <a:gd name="adj" fmla="val 6856"/>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5525AE4D-A59C-2E4F-842B-418C72925DAB}"/>
              </a:ext>
            </a:extLst>
          </p:cNvPr>
          <p:cNvSpPr txBox="1"/>
          <p:nvPr/>
        </p:nvSpPr>
        <p:spPr>
          <a:xfrm>
            <a:off x="4318881" y="1406613"/>
            <a:ext cx="3017520" cy="600164"/>
          </a:xfrm>
          <a:prstGeom prst="rect">
            <a:avLst/>
          </a:prstGeom>
          <a:noFill/>
        </p:spPr>
        <p:txBody>
          <a:bodyPr wrap="square">
            <a:spAutoFit/>
          </a:bodyPr>
          <a:lstStyle/>
          <a:p>
            <a:pPr algn="ct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Decision Intelligence</a:t>
            </a:r>
            <a:endParaRPr dirty="0">
              <a:latin typeface="Calibri" panose="020F0502020204030204" pitchFamily="34" charset="0"/>
              <a:ea typeface="Calibri" panose="020F0502020204030204" pitchFamily="34" charset="0"/>
              <a:cs typeface="Calibri" panose="020F0502020204030204" pitchFamily="34" charset="0"/>
            </a:endParaRPr>
          </a:p>
          <a:p>
            <a:pPr algn="ctr">
              <a:spcBef>
                <a:spcPts val="600"/>
              </a:spcBef>
              <a:defRPr sz="1100">
                <a:solidFill>
                  <a:srgbClr val="1F2A37"/>
                </a:solidFill>
              </a:defRPr>
            </a:pPr>
            <a:r>
              <a:rPr lang="en-US" sz="1200" dirty="0">
                <a:latin typeface="Calibri" panose="020F0502020204030204" pitchFamily="34" charset="0"/>
                <a:ea typeface="Calibri" panose="020F0502020204030204" pitchFamily="34" charset="0"/>
                <a:cs typeface="Calibri" panose="020F0502020204030204" pitchFamily="34" charset="0"/>
              </a:rPr>
              <a:t>How Fitakha decides what to recommend?</a:t>
            </a:r>
            <a:endParaRPr sz="1200" dirty="0">
              <a:latin typeface="Calibri" panose="020F0502020204030204" pitchFamily="34" charset="0"/>
              <a:ea typeface="Calibri" panose="020F0502020204030204" pitchFamily="34" charset="0"/>
              <a:cs typeface="Calibri" panose="020F0502020204030204" pitchFamily="34" charset="0"/>
            </a:endParaRPr>
          </a:p>
        </p:txBody>
      </p:sp>
      <p:cxnSp>
        <p:nvCxnSpPr>
          <p:cNvPr id="22" name="Straight Arrow Connector 21">
            <a:extLst>
              <a:ext uri="{FF2B5EF4-FFF2-40B4-BE49-F238E27FC236}">
                <a16:creationId xmlns:a16="http://schemas.microsoft.com/office/drawing/2014/main" id="{D2DD8C7C-4883-9E82-B079-C818BA37A895}"/>
              </a:ext>
            </a:extLst>
          </p:cNvPr>
          <p:cNvCxnSpPr>
            <a:cxnSpLocks/>
            <a:stCxn id="17" idx="3"/>
            <a:endCxn id="19" idx="1"/>
          </p:cNvCxnSpPr>
          <p:nvPr/>
        </p:nvCxnSpPr>
        <p:spPr>
          <a:xfrm>
            <a:off x="3789725" y="2840618"/>
            <a:ext cx="3279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D63B49D-5A91-ED9F-51B7-CCA9AAA40BB7}"/>
              </a:ext>
            </a:extLst>
          </p:cNvPr>
          <p:cNvCxnSpPr>
            <a:cxnSpLocks/>
            <a:stCxn id="19" idx="3"/>
            <a:endCxn id="13" idx="1"/>
          </p:cNvCxnSpPr>
          <p:nvPr/>
        </p:nvCxnSpPr>
        <p:spPr>
          <a:xfrm>
            <a:off x="7500994" y="2840618"/>
            <a:ext cx="3279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2F9CA4DF-7437-CAFD-BD99-8E02052C95B4}"/>
              </a:ext>
            </a:extLst>
          </p:cNvPr>
          <p:cNvSpPr txBox="1"/>
          <p:nvPr/>
        </p:nvSpPr>
        <p:spPr>
          <a:xfrm>
            <a:off x="406445" y="2202364"/>
            <a:ext cx="3383279" cy="1015663"/>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Canonical Fitakha exercise IDs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Movement / muscle / equipment relationships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Regression, progression and substitution graph</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Difficulty, balance, mobility and complexity metadata</a:t>
            </a:r>
          </a:p>
        </p:txBody>
      </p:sp>
      <p:sp>
        <p:nvSpPr>
          <p:cNvPr id="26" name="TextBox 25">
            <a:extLst>
              <a:ext uri="{FF2B5EF4-FFF2-40B4-BE49-F238E27FC236}">
                <a16:creationId xmlns:a16="http://schemas.microsoft.com/office/drawing/2014/main" id="{FAD760F3-2BF9-5379-7733-D38D71179EBC}"/>
              </a:ext>
            </a:extLst>
          </p:cNvPr>
          <p:cNvSpPr txBox="1"/>
          <p:nvPr/>
        </p:nvSpPr>
        <p:spPr>
          <a:xfrm>
            <a:off x="4233309" y="2203689"/>
            <a:ext cx="3180057" cy="1015663"/>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Matches user context to eligible exercises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Uses rules for hard constraints and safety</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Uses AI for personalization and explanation</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Learns which recommendations/content are useful</a:t>
            </a:r>
          </a:p>
        </p:txBody>
      </p:sp>
      <p:sp>
        <p:nvSpPr>
          <p:cNvPr id="28" name="TextBox 27">
            <a:extLst>
              <a:ext uri="{FF2B5EF4-FFF2-40B4-BE49-F238E27FC236}">
                <a16:creationId xmlns:a16="http://schemas.microsoft.com/office/drawing/2014/main" id="{0AEE333A-923D-4945-680F-3128D87C663E}"/>
              </a:ext>
            </a:extLst>
          </p:cNvPr>
          <p:cNvSpPr txBox="1"/>
          <p:nvPr/>
        </p:nvSpPr>
        <p:spPr>
          <a:xfrm>
            <a:off x="8030152" y="2202364"/>
            <a:ext cx="3180057" cy="830997"/>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One exercise creates many reusable assets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App usage reveals high-interest problems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Those problems become new content topics</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Content drives discovery back to Fitakha</a:t>
            </a:r>
          </a:p>
        </p:txBody>
      </p:sp>
      <p:sp>
        <p:nvSpPr>
          <p:cNvPr id="32" name="TextBox 31">
            <a:extLst>
              <a:ext uri="{FF2B5EF4-FFF2-40B4-BE49-F238E27FC236}">
                <a16:creationId xmlns:a16="http://schemas.microsoft.com/office/drawing/2014/main" id="{DBA440CF-08EA-0845-1841-7A54BA227C1B}"/>
              </a:ext>
            </a:extLst>
          </p:cNvPr>
          <p:cNvSpPr txBox="1"/>
          <p:nvPr/>
        </p:nvSpPr>
        <p:spPr>
          <a:xfrm>
            <a:off x="1297812" y="4493191"/>
            <a:ext cx="9283625" cy="364837"/>
          </a:xfrm>
          <a:prstGeom prst="rect">
            <a:avLst/>
          </a:prstGeom>
          <a:noFill/>
        </p:spPr>
        <p:txBody>
          <a:bodyPr wrap="square">
            <a:spAutoFit/>
          </a:bodyPr>
          <a:lstStyle/>
          <a:p>
            <a:r>
              <a:rPr lang="en-US" b="1" i="1" dirty="0"/>
              <a:t>KNOWLEDGE → INTELLIGENCE → CONTENT → MORE USERS/DATA → BETTER KNOWLEDGE</a:t>
            </a:r>
          </a:p>
        </p:txBody>
      </p:sp>
      <p:pic>
        <p:nvPicPr>
          <p:cNvPr id="39" name="Picture 38">
            <a:extLst>
              <a:ext uri="{FF2B5EF4-FFF2-40B4-BE49-F238E27FC236}">
                <a16:creationId xmlns:a16="http://schemas.microsoft.com/office/drawing/2014/main" id="{840E6D4B-2C55-0F20-DD8D-7A438FBCBA89}"/>
              </a:ext>
            </a:extLst>
          </p:cNvPr>
          <p:cNvPicPr>
            <a:picLocks noChangeAspect="1"/>
          </p:cNvPicPr>
          <p:nvPr/>
        </p:nvPicPr>
        <p:blipFill>
          <a:blip r:embed="rId3"/>
          <a:stretch>
            <a:fillRect/>
          </a:stretch>
        </p:blipFill>
        <p:spPr>
          <a:xfrm>
            <a:off x="833761" y="1706695"/>
            <a:ext cx="2686188" cy="4845299"/>
          </a:xfrm>
          <a:prstGeom prst="rect">
            <a:avLst/>
          </a:prstGeom>
        </p:spPr>
      </p:pic>
    </p:spTree>
    <p:extLst>
      <p:ext uri="{BB962C8B-B14F-4D97-AF65-F5344CB8AC3E}">
        <p14:creationId xmlns:p14="http://schemas.microsoft.com/office/powerpoint/2010/main" val="230455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EA532-6FB7-8096-EA70-8C68C96E9E74}"/>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F1DC0953-4331-B7C8-C6A9-5A89EB417F55}"/>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Example: Goblet Squat remains one canonical exercise even as content changes.</a:t>
            </a:r>
          </a:p>
        </p:txBody>
      </p:sp>
      <p:sp>
        <p:nvSpPr>
          <p:cNvPr id="33" name="Title 1">
            <a:extLst>
              <a:ext uri="{FF2B5EF4-FFF2-40B4-BE49-F238E27FC236}">
                <a16:creationId xmlns:a16="http://schemas.microsoft.com/office/drawing/2014/main" id="{72EF628A-D2A7-AEEB-F812-6126048AD64D}"/>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Exercise Graph + Content Model</a:t>
            </a:r>
          </a:p>
        </p:txBody>
      </p:sp>
      <p:sp>
        <p:nvSpPr>
          <p:cNvPr id="3" name="Rounded Rectangle 4">
            <a:extLst>
              <a:ext uri="{FF2B5EF4-FFF2-40B4-BE49-F238E27FC236}">
                <a16:creationId xmlns:a16="http://schemas.microsoft.com/office/drawing/2014/main" id="{AA3DE8C8-758C-9FDF-0683-1188890768F7}"/>
              </a:ext>
            </a:extLst>
          </p:cNvPr>
          <p:cNvSpPr/>
          <p:nvPr/>
        </p:nvSpPr>
        <p:spPr>
          <a:xfrm>
            <a:off x="640080" y="1331845"/>
            <a:ext cx="2834640" cy="4297680"/>
          </a:xfrm>
          <a:prstGeom prst="roundRect">
            <a:avLst>
              <a:gd name="adj" fmla="val 7971"/>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EX-SQUAT-GBLT-001</a:t>
            </a: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Goblet Squat</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Identity</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Classification</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Muscles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Equipment</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Difficulty</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Coaching</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Safety</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Regression</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Progression</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Alternatives</a:t>
            </a:r>
          </a:p>
        </p:txBody>
      </p:sp>
      <p:sp>
        <p:nvSpPr>
          <p:cNvPr id="4" name="Rounded Rectangle 7">
            <a:extLst>
              <a:ext uri="{FF2B5EF4-FFF2-40B4-BE49-F238E27FC236}">
                <a16:creationId xmlns:a16="http://schemas.microsoft.com/office/drawing/2014/main" id="{25F7E711-CFE2-ADED-064F-0087A9F7FDC4}"/>
              </a:ext>
            </a:extLst>
          </p:cNvPr>
          <p:cNvSpPr/>
          <p:nvPr/>
        </p:nvSpPr>
        <p:spPr>
          <a:xfrm>
            <a:off x="4166483" y="118076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Demonstration</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30–60 sec clean form video</a:t>
            </a:r>
          </a:p>
        </p:txBody>
      </p:sp>
      <p:sp>
        <p:nvSpPr>
          <p:cNvPr id="6" name="Rounded Rectangle 10">
            <a:extLst>
              <a:ext uri="{FF2B5EF4-FFF2-40B4-BE49-F238E27FC236}">
                <a16:creationId xmlns:a16="http://schemas.microsoft.com/office/drawing/2014/main" id="{DCA143A9-A3AE-8308-2B9C-2D05458A8943}"/>
              </a:ext>
            </a:extLst>
          </p:cNvPr>
          <p:cNvSpPr/>
          <p:nvPr/>
        </p:nvSpPr>
        <p:spPr>
          <a:xfrm>
            <a:off x="4166483" y="214088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Tutorial</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Setup, execution, cues, breathing</a:t>
            </a:r>
          </a:p>
        </p:txBody>
      </p:sp>
      <p:sp>
        <p:nvSpPr>
          <p:cNvPr id="8" name="Rounded Rectangle 13">
            <a:extLst>
              <a:ext uri="{FF2B5EF4-FFF2-40B4-BE49-F238E27FC236}">
                <a16:creationId xmlns:a16="http://schemas.microsoft.com/office/drawing/2014/main" id="{690DE289-EB5B-6051-29AF-00843DA52A2F}"/>
              </a:ext>
            </a:extLst>
          </p:cNvPr>
          <p:cNvSpPr/>
          <p:nvPr/>
        </p:nvSpPr>
        <p:spPr>
          <a:xfrm>
            <a:off x="4166483" y="310100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Mistakes / Shorts</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One mistake can become one discovery asset</a:t>
            </a:r>
          </a:p>
        </p:txBody>
      </p:sp>
      <p:sp>
        <p:nvSpPr>
          <p:cNvPr id="10" name="Rounded Rectangle 16">
            <a:extLst>
              <a:ext uri="{FF2B5EF4-FFF2-40B4-BE49-F238E27FC236}">
                <a16:creationId xmlns:a16="http://schemas.microsoft.com/office/drawing/2014/main" id="{9E79996F-BB81-59D1-FD1D-F1DF2C5E2065}"/>
              </a:ext>
            </a:extLst>
          </p:cNvPr>
          <p:cNvSpPr/>
          <p:nvPr/>
        </p:nvSpPr>
        <p:spPr>
          <a:xfrm>
            <a:off x="4166483" y="406112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Workout</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Same exercise linked to multiple sessions</a:t>
            </a:r>
          </a:p>
        </p:txBody>
      </p:sp>
      <p:sp>
        <p:nvSpPr>
          <p:cNvPr id="12" name="Rounded Rectangle 19">
            <a:extLst>
              <a:ext uri="{FF2B5EF4-FFF2-40B4-BE49-F238E27FC236}">
                <a16:creationId xmlns:a16="http://schemas.microsoft.com/office/drawing/2014/main" id="{F985C2F2-6F53-32CC-F888-BB0633ED174E}"/>
              </a:ext>
            </a:extLst>
          </p:cNvPr>
          <p:cNvSpPr/>
          <p:nvPr/>
        </p:nvSpPr>
        <p:spPr>
          <a:xfrm>
            <a:off x="4166483" y="502124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Languages</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English, Hindi, Spanish, silent demo, etc.</a:t>
            </a:r>
          </a:p>
        </p:txBody>
      </p:sp>
      <p:sp>
        <p:nvSpPr>
          <p:cNvPr id="16" name="Rounded Rectangle 23">
            <a:extLst>
              <a:ext uri="{FF2B5EF4-FFF2-40B4-BE49-F238E27FC236}">
                <a16:creationId xmlns:a16="http://schemas.microsoft.com/office/drawing/2014/main" id="{862F243F-7D27-00CB-A6C7-3E7785934F70}"/>
              </a:ext>
            </a:extLst>
          </p:cNvPr>
          <p:cNvSpPr/>
          <p:nvPr/>
        </p:nvSpPr>
        <p:spPr>
          <a:xfrm>
            <a:off x="8098403" y="1729409"/>
            <a:ext cx="2834640" cy="123444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YouTube Provider</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Public discovery / embeds / analytics</a:t>
            </a:r>
          </a:p>
        </p:txBody>
      </p:sp>
      <p:sp>
        <p:nvSpPr>
          <p:cNvPr id="23" name="Rounded Rectangle 26">
            <a:extLst>
              <a:ext uri="{FF2B5EF4-FFF2-40B4-BE49-F238E27FC236}">
                <a16:creationId xmlns:a16="http://schemas.microsoft.com/office/drawing/2014/main" id="{200C7678-7287-5D6D-54C3-740C0DC960FB}"/>
              </a:ext>
            </a:extLst>
          </p:cNvPr>
          <p:cNvSpPr/>
          <p:nvPr/>
        </p:nvSpPr>
        <p:spPr>
          <a:xfrm>
            <a:off x="8098403" y="3558208"/>
            <a:ext cx="2834640" cy="123444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Future Provider</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Dedicated CDN or partner content without changing the exercise ID.</a:t>
            </a:r>
          </a:p>
          <a:p>
            <a:pPr algn="ctr"/>
            <a:endParaRPr dirty="0">
              <a:latin typeface="Calibri" panose="020F0502020204030204" pitchFamily="34" charset="0"/>
              <a:ea typeface="Calibri" panose="020F0502020204030204" pitchFamily="34" charset="0"/>
              <a:cs typeface="Calibri" panose="020F0502020204030204" pitchFamily="34" charset="0"/>
            </a:endParaRPr>
          </a:p>
        </p:txBody>
      </p:sp>
      <p:cxnSp>
        <p:nvCxnSpPr>
          <p:cNvPr id="29" name="Connector 29">
            <a:extLst>
              <a:ext uri="{FF2B5EF4-FFF2-40B4-BE49-F238E27FC236}">
                <a16:creationId xmlns:a16="http://schemas.microsoft.com/office/drawing/2014/main" id="{1C7EEBB5-F25C-803E-AAA2-8BF54261C9FF}"/>
              </a:ext>
            </a:extLst>
          </p:cNvPr>
          <p:cNvCxnSpPr>
            <a:cxnSpLocks/>
            <a:stCxn id="8" idx="3"/>
          </p:cNvCxnSpPr>
          <p:nvPr/>
        </p:nvCxnSpPr>
        <p:spPr>
          <a:xfrm flipV="1">
            <a:off x="7138283" y="2323769"/>
            <a:ext cx="960120" cy="1152144"/>
          </a:xfrm>
          <a:prstGeom prst="line">
            <a:avLst/>
          </a:prstGeom>
          <a:ln w="254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1" name="Connector 29">
            <a:extLst>
              <a:ext uri="{FF2B5EF4-FFF2-40B4-BE49-F238E27FC236}">
                <a16:creationId xmlns:a16="http://schemas.microsoft.com/office/drawing/2014/main" id="{A53AA8AE-A8DE-DB39-C95B-C5B4617341D3}"/>
              </a:ext>
            </a:extLst>
          </p:cNvPr>
          <p:cNvCxnSpPr>
            <a:cxnSpLocks/>
            <a:stCxn id="8" idx="3"/>
            <a:endCxn id="23" idx="1"/>
          </p:cNvCxnSpPr>
          <p:nvPr/>
        </p:nvCxnSpPr>
        <p:spPr>
          <a:xfrm>
            <a:off x="7138283" y="3475913"/>
            <a:ext cx="960120" cy="699515"/>
          </a:xfrm>
          <a:prstGeom prst="line">
            <a:avLst/>
          </a:prstGeom>
          <a:ln w="254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7" name="Connector 29">
            <a:extLst>
              <a:ext uri="{FF2B5EF4-FFF2-40B4-BE49-F238E27FC236}">
                <a16:creationId xmlns:a16="http://schemas.microsoft.com/office/drawing/2014/main" id="{921FB612-2DE3-672F-6E72-BF9DA7DF1FBE}"/>
              </a:ext>
            </a:extLst>
          </p:cNvPr>
          <p:cNvCxnSpPr>
            <a:cxnSpLocks/>
            <a:stCxn id="3" idx="3"/>
            <a:endCxn id="8" idx="1"/>
          </p:cNvCxnSpPr>
          <p:nvPr/>
        </p:nvCxnSpPr>
        <p:spPr>
          <a:xfrm flipV="1">
            <a:off x="3474720" y="3475913"/>
            <a:ext cx="691763" cy="4772"/>
          </a:xfrm>
          <a:prstGeom prst="line">
            <a:avLst/>
          </a:prstGeom>
          <a:ln w="254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9525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1A1F6-2684-983A-368B-11D21D8DCE48}"/>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2E07DB89-5868-33EE-FFE3-89A7CAA49582}"/>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Example: Goblet Squat remains one canonical exercise even as content changes.</a:t>
            </a:r>
          </a:p>
        </p:txBody>
      </p:sp>
      <p:sp>
        <p:nvSpPr>
          <p:cNvPr id="33" name="Title 1">
            <a:extLst>
              <a:ext uri="{FF2B5EF4-FFF2-40B4-BE49-F238E27FC236}">
                <a16:creationId xmlns:a16="http://schemas.microsoft.com/office/drawing/2014/main" id="{C9B43DF0-5DF0-3B9E-A291-45A5DC6441DE}"/>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Exercise Graph + Content Model</a:t>
            </a:r>
          </a:p>
        </p:txBody>
      </p:sp>
      <p:sp>
        <p:nvSpPr>
          <p:cNvPr id="3" name="Rounded Rectangle 4">
            <a:extLst>
              <a:ext uri="{FF2B5EF4-FFF2-40B4-BE49-F238E27FC236}">
                <a16:creationId xmlns:a16="http://schemas.microsoft.com/office/drawing/2014/main" id="{DF147A57-FA25-3E79-42E7-5ECFD399C297}"/>
              </a:ext>
            </a:extLst>
          </p:cNvPr>
          <p:cNvSpPr/>
          <p:nvPr/>
        </p:nvSpPr>
        <p:spPr>
          <a:xfrm>
            <a:off x="640080" y="1331845"/>
            <a:ext cx="2834640" cy="4297680"/>
          </a:xfrm>
          <a:prstGeom prst="roundRect">
            <a:avLst>
              <a:gd name="adj" fmla="val 7971"/>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EX-SQUAT-GBLT-001</a:t>
            </a: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Goblet Squat</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Identity</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Classification</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Muscles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Equipment</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Difficulty</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Coaching</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Safety</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Regression</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Progression</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Alternatives</a:t>
            </a:r>
          </a:p>
        </p:txBody>
      </p:sp>
      <p:sp>
        <p:nvSpPr>
          <p:cNvPr id="4" name="Rounded Rectangle 7">
            <a:extLst>
              <a:ext uri="{FF2B5EF4-FFF2-40B4-BE49-F238E27FC236}">
                <a16:creationId xmlns:a16="http://schemas.microsoft.com/office/drawing/2014/main" id="{87CEBE7C-6CB0-0F7B-B1D4-C966F0E86D27}"/>
              </a:ext>
            </a:extLst>
          </p:cNvPr>
          <p:cNvSpPr/>
          <p:nvPr/>
        </p:nvSpPr>
        <p:spPr>
          <a:xfrm>
            <a:off x="4166483" y="118076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Demonstration</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30–60 sec clean form video</a:t>
            </a:r>
          </a:p>
        </p:txBody>
      </p:sp>
      <p:sp>
        <p:nvSpPr>
          <p:cNvPr id="6" name="Rounded Rectangle 10">
            <a:extLst>
              <a:ext uri="{FF2B5EF4-FFF2-40B4-BE49-F238E27FC236}">
                <a16:creationId xmlns:a16="http://schemas.microsoft.com/office/drawing/2014/main" id="{9B722C2F-34BE-88D6-8B25-FE386506AFB8}"/>
              </a:ext>
            </a:extLst>
          </p:cNvPr>
          <p:cNvSpPr/>
          <p:nvPr/>
        </p:nvSpPr>
        <p:spPr>
          <a:xfrm>
            <a:off x="4166483" y="214088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Tutorial</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Setup, execution, cues, breathing</a:t>
            </a:r>
          </a:p>
        </p:txBody>
      </p:sp>
      <p:sp>
        <p:nvSpPr>
          <p:cNvPr id="8" name="Rounded Rectangle 13">
            <a:extLst>
              <a:ext uri="{FF2B5EF4-FFF2-40B4-BE49-F238E27FC236}">
                <a16:creationId xmlns:a16="http://schemas.microsoft.com/office/drawing/2014/main" id="{0BBED84F-623F-280E-0FFC-016F37ACDF47}"/>
              </a:ext>
            </a:extLst>
          </p:cNvPr>
          <p:cNvSpPr/>
          <p:nvPr/>
        </p:nvSpPr>
        <p:spPr>
          <a:xfrm>
            <a:off x="4166483" y="310100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Mistakes / Shorts</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One mistake can become one discovery asset</a:t>
            </a:r>
          </a:p>
        </p:txBody>
      </p:sp>
      <p:sp>
        <p:nvSpPr>
          <p:cNvPr id="10" name="Rounded Rectangle 16">
            <a:extLst>
              <a:ext uri="{FF2B5EF4-FFF2-40B4-BE49-F238E27FC236}">
                <a16:creationId xmlns:a16="http://schemas.microsoft.com/office/drawing/2014/main" id="{C8D1EAFD-E8B6-204F-EA7A-EF9BA80BA5F5}"/>
              </a:ext>
            </a:extLst>
          </p:cNvPr>
          <p:cNvSpPr/>
          <p:nvPr/>
        </p:nvSpPr>
        <p:spPr>
          <a:xfrm>
            <a:off x="4166483" y="406112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Workout</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Same exercise linked to multiple sessions</a:t>
            </a:r>
          </a:p>
        </p:txBody>
      </p:sp>
      <p:sp>
        <p:nvSpPr>
          <p:cNvPr id="12" name="Rounded Rectangle 19">
            <a:extLst>
              <a:ext uri="{FF2B5EF4-FFF2-40B4-BE49-F238E27FC236}">
                <a16:creationId xmlns:a16="http://schemas.microsoft.com/office/drawing/2014/main" id="{DFA745AE-B68E-99AD-5795-54E0B7F4B295}"/>
              </a:ext>
            </a:extLst>
          </p:cNvPr>
          <p:cNvSpPr/>
          <p:nvPr/>
        </p:nvSpPr>
        <p:spPr>
          <a:xfrm>
            <a:off x="4166483" y="5021249"/>
            <a:ext cx="2971800" cy="749808"/>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Languages</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English, Hindi, Spanish, silent demo, etc.</a:t>
            </a:r>
          </a:p>
        </p:txBody>
      </p:sp>
      <p:sp>
        <p:nvSpPr>
          <p:cNvPr id="16" name="Rounded Rectangle 23">
            <a:extLst>
              <a:ext uri="{FF2B5EF4-FFF2-40B4-BE49-F238E27FC236}">
                <a16:creationId xmlns:a16="http://schemas.microsoft.com/office/drawing/2014/main" id="{2CC7F27C-A334-631D-797F-AA3ED83CD7F8}"/>
              </a:ext>
            </a:extLst>
          </p:cNvPr>
          <p:cNvSpPr/>
          <p:nvPr/>
        </p:nvSpPr>
        <p:spPr>
          <a:xfrm>
            <a:off x="8098403" y="1729409"/>
            <a:ext cx="2834640" cy="123444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YouTube Provider</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Public discovery / embeds / analytics</a:t>
            </a:r>
          </a:p>
        </p:txBody>
      </p:sp>
      <p:sp>
        <p:nvSpPr>
          <p:cNvPr id="23" name="Rounded Rectangle 26">
            <a:extLst>
              <a:ext uri="{FF2B5EF4-FFF2-40B4-BE49-F238E27FC236}">
                <a16:creationId xmlns:a16="http://schemas.microsoft.com/office/drawing/2014/main" id="{D03E08F1-5083-5DDB-B90B-696FDF72E24C}"/>
              </a:ext>
            </a:extLst>
          </p:cNvPr>
          <p:cNvSpPr/>
          <p:nvPr/>
        </p:nvSpPr>
        <p:spPr>
          <a:xfrm>
            <a:off x="8098403" y="3558208"/>
            <a:ext cx="2834640" cy="123444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Future Provider</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Dedicated CDN or partner content without changing the exercise ID.</a:t>
            </a:r>
          </a:p>
          <a:p>
            <a:pPr algn="ctr"/>
            <a:endParaRPr dirty="0">
              <a:latin typeface="Calibri" panose="020F0502020204030204" pitchFamily="34" charset="0"/>
              <a:ea typeface="Calibri" panose="020F0502020204030204" pitchFamily="34" charset="0"/>
              <a:cs typeface="Calibri" panose="020F0502020204030204" pitchFamily="34" charset="0"/>
            </a:endParaRPr>
          </a:p>
        </p:txBody>
      </p:sp>
      <p:cxnSp>
        <p:nvCxnSpPr>
          <p:cNvPr id="29" name="Connector 29">
            <a:extLst>
              <a:ext uri="{FF2B5EF4-FFF2-40B4-BE49-F238E27FC236}">
                <a16:creationId xmlns:a16="http://schemas.microsoft.com/office/drawing/2014/main" id="{CBC33D3B-C2EF-1CAB-ED3E-CFA310080CE9}"/>
              </a:ext>
            </a:extLst>
          </p:cNvPr>
          <p:cNvCxnSpPr>
            <a:cxnSpLocks/>
            <a:stCxn id="8" idx="3"/>
          </p:cNvCxnSpPr>
          <p:nvPr/>
        </p:nvCxnSpPr>
        <p:spPr>
          <a:xfrm flipV="1">
            <a:off x="7138283" y="2323769"/>
            <a:ext cx="960120" cy="1152144"/>
          </a:xfrm>
          <a:prstGeom prst="line">
            <a:avLst/>
          </a:prstGeom>
          <a:ln w="254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1" name="Connector 29">
            <a:extLst>
              <a:ext uri="{FF2B5EF4-FFF2-40B4-BE49-F238E27FC236}">
                <a16:creationId xmlns:a16="http://schemas.microsoft.com/office/drawing/2014/main" id="{D3773AFD-B4F7-3FD5-9176-43180506738F}"/>
              </a:ext>
            </a:extLst>
          </p:cNvPr>
          <p:cNvCxnSpPr>
            <a:cxnSpLocks/>
            <a:stCxn id="8" idx="3"/>
            <a:endCxn id="23" idx="1"/>
          </p:cNvCxnSpPr>
          <p:nvPr/>
        </p:nvCxnSpPr>
        <p:spPr>
          <a:xfrm>
            <a:off x="7138283" y="3475913"/>
            <a:ext cx="960120" cy="699515"/>
          </a:xfrm>
          <a:prstGeom prst="line">
            <a:avLst/>
          </a:prstGeom>
          <a:ln w="254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7" name="Connector 29">
            <a:extLst>
              <a:ext uri="{FF2B5EF4-FFF2-40B4-BE49-F238E27FC236}">
                <a16:creationId xmlns:a16="http://schemas.microsoft.com/office/drawing/2014/main" id="{8CD8EE2A-63E8-89CB-2BF8-4B92C02372FC}"/>
              </a:ext>
            </a:extLst>
          </p:cNvPr>
          <p:cNvCxnSpPr>
            <a:cxnSpLocks/>
            <a:stCxn id="3" idx="3"/>
            <a:endCxn id="8" idx="1"/>
          </p:cNvCxnSpPr>
          <p:nvPr/>
        </p:nvCxnSpPr>
        <p:spPr>
          <a:xfrm flipV="1">
            <a:off x="3474720" y="3475913"/>
            <a:ext cx="691763" cy="4772"/>
          </a:xfrm>
          <a:prstGeom prst="line">
            <a:avLst/>
          </a:prstGeom>
          <a:ln w="254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5" name="Rectangle: Folded Corner 4">
            <a:extLst>
              <a:ext uri="{FF2B5EF4-FFF2-40B4-BE49-F238E27FC236}">
                <a16:creationId xmlns:a16="http://schemas.microsoft.com/office/drawing/2014/main" id="{FCA4EC31-72E5-1A26-DD21-D39CA53CFCD2}"/>
              </a:ext>
            </a:extLst>
          </p:cNvPr>
          <p:cNvSpPr/>
          <p:nvPr/>
        </p:nvSpPr>
        <p:spPr>
          <a:xfrm>
            <a:off x="722376" y="2233283"/>
            <a:ext cx="2532888" cy="3063875"/>
          </a:xfrm>
          <a:prstGeom prst="foldedCorner">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ysClr val="windowText" lastClr="000000"/>
                </a:solidFill>
              </a:rPr>
              <a:t>exercise_id</a:t>
            </a:r>
            <a:r>
              <a:rPr lang="en-US" sz="1200" dirty="0">
                <a:solidFill>
                  <a:sysClr val="windowText" lastClr="000000"/>
                </a:solidFill>
              </a:rPr>
              <a:t>: EX-SQUAT-GBLT-001 canonical_name: Goblet Squat movement_pattern: SQUAT primary_muscles: </a:t>
            </a:r>
            <a:br>
              <a:rPr lang="en-US" sz="1200" dirty="0">
                <a:solidFill>
                  <a:sysClr val="windowText" lastClr="000000"/>
                </a:solidFill>
              </a:rPr>
            </a:br>
            <a:r>
              <a:rPr lang="en-US" sz="1200" dirty="0">
                <a:solidFill>
                  <a:sysClr val="windowText" lastClr="000000"/>
                </a:solidFill>
              </a:rPr>
              <a:t>- Quadriceps </a:t>
            </a:r>
            <a:br>
              <a:rPr lang="en-US" sz="1200" dirty="0">
                <a:solidFill>
                  <a:sysClr val="windowText" lastClr="000000"/>
                </a:solidFill>
              </a:rPr>
            </a:br>
            <a:r>
              <a:rPr lang="en-US" sz="1200" dirty="0">
                <a:solidFill>
                  <a:sysClr val="windowText" lastClr="000000"/>
                </a:solidFill>
              </a:rPr>
              <a:t>- Gluteus Maximus</a:t>
            </a:r>
          </a:p>
          <a:p>
            <a:r>
              <a:rPr lang="en-US" sz="1200" dirty="0">
                <a:solidFill>
                  <a:sysClr val="windowText" lastClr="000000"/>
                </a:solidFill>
              </a:rPr>
              <a:t>equipment: </a:t>
            </a:r>
            <a:br>
              <a:rPr lang="en-US" sz="1200" dirty="0">
                <a:solidFill>
                  <a:sysClr val="windowText" lastClr="000000"/>
                </a:solidFill>
              </a:rPr>
            </a:br>
            <a:r>
              <a:rPr lang="en-US" sz="1200" dirty="0">
                <a:solidFill>
                  <a:sysClr val="windowText" lastClr="000000"/>
                </a:solidFill>
              </a:rPr>
              <a:t>- Dumbbell</a:t>
            </a:r>
          </a:p>
          <a:p>
            <a:r>
              <a:rPr lang="en-US" sz="1200" dirty="0">
                <a:solidFill>
                  <a:sysClr val="windowText" lastClr="000000"/>
                </a:solidFill>
              </a:rPr>
              <a:t>difficulty: BEGINNER</a:t>
            </a:r>
          </a:p>
          <a:p>
            <a:r>
              <a:rPr lang="en-US" sz="1200" dirty="0">
                <a:solidFill>
                  <a:sysClr val="windowText" lastClr="000000"/>
                </a:solidFill>
              </a:rPr>
              <a:t>content: demonstration: </a:t>
            </a:r>
            <a:r>
              <a:rPr lang="en-US" sz="1200" b="1" dirty="0">
                <a:solidFill>
                  <a:sysClr val="windowText" lastClr="000000"/>
                </a:solidFill>
              </a:rPr>
              <a:t>youtube_video_id</a:t>
            </a:r>
            <a:r>
              <a:rPr lang="en-US" sz="1200" dirty="0">
                <a:solidFill>
                  <a:sysClr val="windowText" lastClr="000000"/>
                </a:solidFill>
              </a:rPr>
              <a:t>: abc123 duration_seconds: 42 </a:t>
            </a:r>
            <a:br>
              <a:rPr lang="en-US" sz="1200" dirty="0">
                <a:solidFill>
                  <a:sysClr val="windowText" lastClr="000000"/>
                </a:solidFill>
              </a:rPr>
            </a:br>
            <a:r>
              <a:rPr lang="en-US" sz="1200" dirty="0">
                <a:solidFill>
                  <a:sysClr val="windowText" lastClr="000000"/>
                </a:solidFill>
              </a:rPr>
              <a:t>language: EN </a:t>
            </a:r>
            <a:br>
              <a:rPr lang="en-US" sz="1200" dirty="0">
                <a:solidFill>
                  <a:sysClr val="windowText" lastClr="000000"/>
                </a:solidFill>
              </a:rPr>
            </a:br>
            <a:r>
              <a:rPr lang="en-US" sz="1200" dirty="0">
                <a:solidFill>
                  <a:sysClr val="windowText" lastClr="000000"/>
                </a:solidFill>
              </a:rPr>
              <a:t>content_version: 1.0</a:t>
            </a:r>
          </a:p>
        </p:txBody>
      </p:sp>
    </p:spTree>
    <p:extLst>
      <p:ext uri="{BB962C8B-B14F-4D97-AF65-F5344CB8AC3E}">
        <p14:creationId xmlns:p14="http://schemas.microsoft.com/office/powerpoint/2010/main" val="1454166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F85CE-95B9-0E6C-0BE1-C21A652A4EA2}"/>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95DEE555-A675-BE2F-16E7-3AD0BD82DD6F}"/>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AI is the intelligence layer — not the exercise database.</a:t>
            </a:r>
          </a:p>
        </p:txBody>
      </p:sp>
      <p:sp>
        <p:nvSpPr>
          <p:cNvPr id="33" name="Title 1">
            <a:extLst>
              <a:ext uri="{FF2B5EF4-FFF2-40B4-BE49-F238E27FC236}">
                <a16:creationId xmlns:a16="http://schemas.microsoft.com/office/drawing/2014/main" id="{41CD7B12-4EDD-B50B-F424-C4A89CFC3691}"/>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Why AI Still Matters?</a:t>
            </a:r>
          </a:p>
        </p:txBody>
      </p:sp>
      <p:sp>
        <p:nvSpPr>
          <p:cNvPr id="5" name="Rounded Rectangle 4">
            <a:extLst>
              <a:ext uri="{FF2B5EF4-FFF2-40B4-BE49-F238E27FC236}">
                <a16:creationId xmlns:a16="http://schemas.microsoft.com/office/drawing/2014/main" id="{AA9F0633-A8F7-814C-C457-771E01D9F91E}"/>
              </a:ext>
            </a:extLst>
          </p:cNvPr>
          <p:cNvSpPr/>
          <p:nvPr/>
        </p:nvSpPr>
        <p:spPr>
          <a:xfrm>
            <a:off x="594360" y="1828800"/>
            <a:ext cx="2057400" cy="292608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1. User Context</a:t>
            </a:r>
            <a:b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Goal, experience, equipment, time, readiness, preferences</a:t>
            </a:r>
          </a:p>
        </p:txBody>
      </p:sp>
      <p:sp>
        <p:nvSpPr>
          <p:cNvPr id="9" name="Rounded Rectangle 8">
            <a:extLst>
              <a:ext uri="{FF2B5EF4-FFF2-40B4-BE49-F238E27FC236}">
                <a16:creationId xmlns:a16="http://schemas.microsoft.com/office/drawing/2014/main" id="{F109D1E9-CB35-F767-47D1-ED388B7A200D}"/>
              </a:ext>
            </a:extLst>
          </p:cNvPr>
          <p:cNvSpPr/>
          <p:nvPr/>
        </p:nvSpPr>
        <p:spPr>
          <a:xfrm>
            <a:off x="2898648" y="1828800"/>
            <a:ext cx="2057400" cy="292608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2. Rules</a:t>
            </a:r>
          </a:p>
          <a:p>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Filter ineligible exercises and enforce hard constraints</a:t>
            </a:r>
          </a:p>
        </p:txBody>
      </p:sp>
      <p:sp>
        <p:nvSpPr>
          <p:cNvPr id="13" name="Rounded Rectangle 12">
            <a:extLst>
              <a:ext uri="{FF2B5EF4-FFF2-40B4-BE49-F238E27FC236}">
                <a16:creationId xmlns:a16="http://schemas.microsoft.com/office/drawing/2014/main" id="{A4AA596F-EA86-3F42-62ED-1C1DA64F0975}"/>
              </a:ext>
            </a:extLst>
          </p:cNvPr>
          <p:cNvSpPr/>
          <p:nvPr/>
        </p:nvSpPr>
        <p:spPr>
          <a:xfrm>
            <a:off x="5202936" y="1828800"/>
            <a:ext cx="2057400" cy="292608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pPr>
              <a:defRPr sz="1600" b="1">
                <a:solidFill>
                  <a:srgbClr val="0C192D"/>
                </a:solidFill>
              </a:defRPr>
            </a:pPr>
            <a:r>
              <a:rPr lang="en-US" sz="1400" dirty="0">
                <a:latin typeface="Calibri" panose="020F0502020204030204" pitchFamily="34" charset="0"/>
                <a:ea typeface="Calibri" panose="020F0502020204030204" pitchFamily="34" charset="0"/>
                <a:cs typeface="Calibri" panose="020F0502020204030204" pitchFamily="34" charset="0"/>
              </a:rPr>
              <a:t>3. Exercise Graph</a:t>
            </a:r>
          </a:p>
          <a:p>
            <a:pPr>
              <a:spcBef>
                <a:spcPts val="600"/>
              </a:spcBef>
              <a:defRPr sz="1100">
                <a:solidFill>
                  <a:srgbClr val="1F2A37"/>
                </a:solidFill>
              </a:defRPr>
            </a:pP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Return controlled candidate exercises</a:t>
            </a:r>
          </a:p>
        </p:txBody>
      </p:sp>
      <p:sp>
        <p:nvSpPr>
          <p:cNvPr id="15" name="Rounded Rectangle 16">
            <a:extLst>
              <a:ext uri="{FF2B5EF4-FFF2-40B4-BE49-F238E27FC236}">
                <a16:creationId xmlns:a16="http://schemas.microsoft.com/office/drawing/2014/main" id="{294F5222-5BFA-8D68-B0F8-2BFC72367702}"/>
              </a:ext>
            </a:extLst>
          </p:cNvPr>
          <p:cNvSpPr/>
          <p:nvPr/>
        </p:nvSpPr>
        <p:spPr>
          <a:xfrm>
            <a:off x="7507223" y="1828800"/>
            <a:ext cx="2057400" cy="292608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4. AI</a:t>
            </a:r>
          </a:p>
          <a:p>
            <a:b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Assemble, adapt, sequence and explain the workout</a:t>
            </a:r>
          </a:p>
        </p:txBody>
      </p:sp>
      <p:sp>
        <p:nvSpPr>
          <p:cNvPr id="18" name="Rounded Rectangle 20">
            <a:extLst>
              <a:ext uri="{FF2B5EF4-FFF2-40B4-BE49-F238E27FC236}">
                <a16:creationId xmlns:a16="http://schemas.microsoft.com/office/drawing/2014/main" id="{385AE5FE-02E3-5A72-3E0F-77F4E0806A7B}"/>
              </a:ext>
            </a:extLst>
          </p:cNvPr>
          <p:cNvSpPr/>
          <p:nvPr/>
        </p:nvSpPr>
        <p:spPr>
          <a:xfrm>
            <a:off x="9811511" y="1828800"/>
            <a:ext cx="2057400" cy="292608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5. Content Resolver</a:t>
            </a:r>
          </a:p>
          <a:p>
            <a:b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Attach the right Fitakha or platform media</a:t>
            </a:r>
          </a:p>
        </p:txBody>
      </p:sp>
      <p:sp>
        <p:nvSpPr>
          <p:cNvPr id="20" name="TextBox 19">
            <a:extLst>
              <a:ext uri="{FF2B5EF4-FFF2-40B4-BE49-F238E27FC236}">
                <a16:creationId xmlns:a16="http://schemas.microsoft.com/office/drawing/2014/main" id="{B2DAC0B7-34B5-A858-C2DE-C455EA1CAD2F}"/>
              </a:ext>
            </a:extLst>
          </p:cNvPr>
          <p:cNvSpPr txBox="1"/>
          <p:nvPr/>
        </p:nvSpPr>
        <p:spPr>
          <a:xfrm>
            <a:off x="1475204" y="5166360"/>
            <a:ext cx="9211111" cy="353943"/>
          </a:xfrm>
          <a:prstGeom prst="rect">
            <a:avLst/>
          </a:prstGeom>
          <a:noFill/>
        </p:spPr>
        <p:txBody>
          <a:bodyPr wrap="none">
            <a:spAutoFit/>
          </a:bodyPr>
          <a:lstStyle/>
          <a:p>
            <a:pPr algn="ctr">
              <a:defRPr sz="1700" b="1">
                <a:solidFill>
                  <a:srgbClr val="0C192D"/>
                </a:solidFill>
              </a:defRPr>
            </a:pPr>
            <a:r>
              <a:rPr dirty="0">
                <a:latin typeface="Calibri" panose="020F0502020204030204" pitchFamily="34" charset="0"/>
                <a:ea typeface="Calibri" panose="020F0502020204030204" pitchFamily="34" charset="0"/>
                <a:cs typeface="Calibri" panose="020F0502020204030204" pitchFamily="34" charset="0"/>
              </a:rPr>
              <a:t>Principle: AI chooses from </a:t>
            </a:r>
            <a:r>
              <a:rPr dirty="0" err="1">
                <a:latin typeface="Calibri" panose="020F0502020204030204" pitchFamily="34" charset="0"/>
                <a:ea typeface="Calibri" panose="020F0502020204030204" pitchFamily="34" charset="0"/>
                <a:cs typeface="Calibri" panose="020F0502020204030204" pitchFamily="34" charset="0"/>
              </a:rPr>
              <a:t>Fitakha’s</a:t>
            </a:r>
            <a:r>
              <a:rPr dirty="0">
                <a:latin typeface="Calibri" panose="020F0502020204030204" pitchFamily="34" charset="0"/>
                <a:ea typeface="Calibri" panose="020F0502020204030204" pitchFamily="34" charset="0"/>
                <a:cs typeface="Calibri" panose="020F0502020204030204" pitchFamily="34" charset="0"/>
              </a:rPr>
              <a:t> controlled universe rather than inventing exercises from scratch.</a:t>
            </a:r>
          </a:p>
        </p:txBody>
      </p:sp>
      <p:cxnSp>
        <p:nvCxnSpPr>
          <p:cNvPr id="22" name="Straight Arrow Connector 21">
            <a:extLst>
              <a:ext uri="{FF2B5EF4-FFF2-40B4-BE49-F238E27FC236}">
                <a16:creationId xmlns:a16="http://schemas.microsoft.com/office/drawing/2014/main" id="{D48E3995-F472-652E-42E3-F0FCD2080185}"/>
              </a:ext>
            </a:extLst>
          </p:cNvPr>
          <p:cNvCxnSpPr>
            <a:stCxn id="5" idx="3"/>
            <a:endCxn id="9" idx="1"/>
          </p:cNvCxnSpPr>
          <p:nvPr/>
        </p:nvCxnSpPr>
        <p:spPr>
          <a:xfrm>
            <a:off x="2651760" y="3291840"/>
            <a:ext cx="246888" cy="0"/>
          </a:xfrm>
          <a:prstGeom prst="straightConnector1">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FF99CA5-1791-FF84-AEA7-57BE470A49BD}"/>
              </a:ext>
            </a:extLst>
          </p:cNvPr>
          <p:cNvCxnSpPr>
            <a:cxnSpLocks/>
            <a:stCxn id="9" idx="3"/>
            <a:endCxn id="13" idx="1"/>
          </p:cNvCxnSpPr>
          <p:nvPr/>
        </p:nvCxnSpPr>
        <p:spPr>
          <a:xfrm>
            <a:off x="4956048" y="3291840"/>
            <a:ext cx="246888" cy="0"/>
          </a:xfrm>
          <a:prstGeom prst="straightConnector1">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F7D90557-63D9-52F2-DF05-56A6EAF22114}"/>
              </a:ext>
            </a:extLst>
          </p:cNvPr>
          <p:cNvCxnSpPr>
            <a:cxnSpLocks/>
            <a:stCxn id="13" idx="3"/>
            <a:endCxn id="15" idx="1"/>
          </p:cNvCxnSpPr>
          <p:nvPr/>
        </p:nvCxnSpPr>
        <p:spPr>
          <a:xfrm>
            <a:off x="7260336" y="3291840"/>
            <a:ext cx="246887" cy="0"/>
          </a:xfrm>
          <a:prstGeom prst="straightConnector1">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DE841C1D-679D-B7FE-B709-3C790749B5B0}"/>
              </a:ext>
            </a:extLst>
          </p:cNvPr>
          <p:cNvCxnSpPr>
            <a:cxnSpLocks/>
            <a:stCxn id="15" idx="3"/>
            <a:endCxn id="18" idx="1"/>
          </p:cNvCxnSpPr>
          <p:nvPr/>
        </p:nvCxnSpPr>
        <p:spPr>
          <a:xfrm>
            <a:off x="9564623" y="3291840"/>
            <a:ext cx="246888" cy="0"/>
          </a:xfrm>
          <a:prstGeom prst="straightConnector1">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8450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F9E1E-39F4-5EFA-E675-FF4284C5DF63}"/>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B4048CAB-3622-B50E-4AE9-BEC2E3B1BF8E}"/>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Recommendation intelligence and content can be licensed independently.</a:t>
            </a:r>
          </a:p>
        </p:txBody>
      </p:sp>
      <p:sp>
        <p:nvSpPr>
          <p:cNvPr id="33" name="Title 1">
            <a:extLst>
              <a:ext uri="{FF2B5EF4-FFF2-40B4-BE49-F238E27FC236}">
                <a16:creationId xmlns:a16="http://schemas.microsoft.com/office/drawing/2014/main" id="{7219CF53-CB25-3C5F-120A-2612D0C4368C}"/>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B2B Platform Integrations Models</a:t>
            </a:r>
          </a:p>
        </p:txBody>
      </p:sp>
      <p:sp>
        <p:nvSpPr>
          <p:cNvPr id="3" name="Rounded Rectangle 4">
            <a:extLst>
              <a:ext uri="{FF2B5EF4-FFF2-40B4-BE49-F238E27FC236}">
                <a16:creationId xmlns:a16="http://schemas.microsoft.com/office/drawing/2014/main" id="{EFDB4769-E179-E25A-4FA0-0CAF2A698091}"/>
              </a:ext>
            </a:extLst>
          </p:cNvPr>
          <p:cNvSpPr/>
          <p:nvPr/>
        </p:nvSpPr>
        <p:spPr>
          <a:xfrm>
            <a:off x="685800" y="1417320"/>
            <a:ext cx="3383280" cy="4251960"/>
          </a:xfrm>
          <a:prstGeom prst="roundRect">
            <a:avLst>
              <a:gd name="adj" fmla="val 8676"/>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Fitakha Content</a:t>
            </a:r>
          </a:p>
          <a:p>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Best for a new/small platform.</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Fitakha recommends canonical exercises and returns Fitakha instructional content.</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Lowest integration burden.</a:t>
            </a:r>
          </a:p>
        </p:txBody>
      </p:sp>
      <p:sp>
        <p:nvSpPr>
          <p:cNvPr id="6" name="Rounded Rectangle 7">
            <a:extLst>
              <a:ext uri="{FF2B5EF4-FFF2-40B4-BE49-F238E27FC236}">
                <a16:creationId xmlns:a16="http://schemas.microsoft.com/office/drawing/2014/main" id="{642910C4-D3B1-4A47-8D88-522D79B83CAD}"/>
              </a:ext>
            </a:extLst>
          </p:cNvPr>
          <p:cNvSpPr/>
          <p:nvPr/>
        </p:nvSpPr>
        <p:spPr>
          <a:xfrm>
            <a:off x="4407408" y="1417320"/>
            <a:ext cx="3383280" cy="4251960"/>
          </a:xfrm>
          <a:prstGeom prst="roundRect">
            <a:avLst>
              <a:gd name="adj" fmla="val 7971"/>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Platform Content</a:t>
            </a:r>
          </a:p>
          <a:p>
            <a:endPar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Best for established platforms.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Customer maps its exercise IDs to Fitakha canonical IDs. Fitakha recommends; customer displays its own media.</a:t>
            </a:r>
          </a:p>
        </p:txBody>
      </p:sp>
      <p:sp>
        <p:nvSpPr>
          <p:cNvPr id="8" name="Rounded Rectangle 10">
            <a:extLst>
              <a:ext uri="{FF2B5EF4-FFF2-40B4-BE49-F238E27FC236}">
                <a16:creationId xmlns:a16="http://schemas.microsoft.com/office/drawing/2014/main" id="{9B658434-E0DA-D6B1-A6AB-AC55D0B0C5C4}"/>
              </a:ext>
            </a:extLst>
          </p:cNvPr>
          <p:cNvSpPr/>
          <p:nvPr/>
        </p:nvSpPr>
        <p:spPr>
          <a:xfrm>
            <a:off x="8129016" y="1417320"/>
            <a:ext cx="3383280" cy="4251960"/>
          </a:xfrm>
          <a:prstGeom prst="roundRect">
            <a:avLst>
              <a:gd name="adj" fmla="val 7031"/>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Hybrid</a:t>
            </a:r>
          </a:p>
          <a:p>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Recommended default.</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Use customer content when mapped; fall back to Fitakha content when the customer has a gap.</a:t>
            </a:r>
          </a:p>
        </p:txBody>
      </p:sp>
    </p:spTree>
    <p:extLst>
      <p:ext uri="{BB962C8B-B14F-4D97-AF65-F5344CB8AC3E}">
        <p14:creationId xmlns:p14="http://schemas.microsoft.com/office/powerpoint/2010/main" val="1377158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00447-8291-E66F-DB40-427121CA8D28}"/>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A62E0CA2-3450-4F9F-87D1-4D2A0A108257}"/>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Multiple monetization paths can sit on the same core assets.</a:t>
            </a:r>
          </a:p>
        </p:txBody>
      </p:sp>
      <p:sp>
        <p:nvSpPr>
          <p:cNvPr id="33" name="Title 1">
            <a:extLst>
              <a:ext uri="{FF2B5EF4-FFF2-40B4-BE49-F238E27FC236}">
                <a16:creationId xmlns:a16="http://schemas.microsoft.com/office/drawing/2014/main" id="{151CFC17-8603-1233-6348-C6B1544C1E96}"/>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Business Model</a:t>
            </a:r>
          </a:p>
        </p:txBody>
      </p:sp>
      <p:sp>
        <p:nvSpPr>
          <p:cNvPr id="3" name="Rounded Rectangle 4">
            <a:extLst>
              <a:ext uri="{FF2B5EF4-FFF2-40B4-BE49-F238E27FC236}">
                <a16:creationId xmlns:a16="http://schemas.microsoft.com/office/drawing/2014/main" id="{4AA2D0BE-FF8C-9E28-47A3-C0E2AEF4445F}"/>
              </a:ext>
            </a:extLst>
          </p:cNvPr>
          <p:cNvSpPr/>
          <p:nvPr/>
        </p:nvSpPr>
        <p:spPr>
          <a:xfrm>
            <a:off x="685800" y="1417320"/>
            <a:ext cx="3383280" cy="4251960"/>
          </a:xfrm>
          <a:prstGeom prst="roundRect">
            <a:avLst>
              <a:gd name="adj" fmla="val 8676"/>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Consumer</a:t>
            </a:r>
          </a:p>
          <a:p>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Fitakha Free — basic exercise discovery/workouts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Fitakha Plus — adaptive recommendations, richer personalization, wearables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Content drives acquisition through YouTube/search</a:t>
            </a:r>
          </a:p>
        </p:txBody>
      </p:sp>
      <p:sp>
        <p:nvSpPr>
          <p:cNvPr id="6" name="Rounded Rectangle 7">
            <a:extLst>
              <a:ext uri="{FF2B5EF4-FFF2-40B4-BE49-F238E27FC236}">
                <a16:creationId xmlns:a16="http://schemas.microsoft.com/office/drawing/2014/main" id="{EFAE9840-7E14-E34D-5294-81F1419FFE29}"/>
              </a:ext>
            </a:extLst>
          </p:cNvPr>
          <p:cNvSpPr/>
          <p:nvPr/>
        </p:nvSpPr>
        <p:spPr>
          <a:xfrm>
            <a:off x="4407408" y="1417320"/>
            <a:ext cx="3383280" cy="4251960"/>
          </a:xfrm>
          <a:prstGeom prst="roundRect">
            <a:avLst>
              <a:gd name="adj" fmla="val 7971"/>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B2B / Coaches</a:t>
            </a:r>
          </a:p>
          <a:p>
            <a:endPar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Fitakha Intelligence API — recommendation engine only</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Fitakha Content API — exercise metadata/content</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Fitakha Complete API — intelligence + content</a:t>
            </a:r>
          </a:p>
        </p:txBody>
      </p:sp>
      <p:sp>
        <p:nvSpPr>
          <p:cNvPr id="8" name="Rounded Rectangle 10">
            <a:extLst>
              <a:ext uri="{FF2B5EF4-FFF2-40B4-BE49-F238E27FC236}">
                <a16:creationId xmlns:a16="http://schemas.microsoft.com/office/drawing/2014/main" id="{5B1F1CF3-321C-DAD8-691D-5BE7D67F034D}"/>
              </a:ext>
            </a:extLst>
          </p:cNvPr>
          <p:cNvSpPr/>
          <p:nvPr/>
        </p:nvSpPr>
        <p:spPr>
          <a:xfrm>
            <a:off x="8129016" y="1417320"/>
            <a:ext cx="3383280" cy="4251960"/>
          </a:xfrm>
          <a:prstGeom prst="roundRect">
            <a:avLst>
              <a:gd name="adj" fmla="val 7031"/>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Media / Ecosystem</a:t>
            </a:r>
          </a:p>
          <a:p>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YouTube advertising when eligible</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Potential sponsorships and affiliates</a:t>
            </a:r>
          </a:p>
          <a:p>
            <a:pPr marL="285750" indent="-285750">
              <a:buFont typeface="Arial" panose="020B0604020202020204" pitchFamily="34" charset="0"/>
              <a:buChar char="•"/>
            </a:pP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Content reduces acquisition cost while building brand trust</a:t>
            </a:r>
          </a:p>
        </p:txBody>
      </p:sp>
    </p:spTree>
    <p:extLst>
      <p:ext uri="{BB962C8B-B14F-4D97-AF65-F5344CB8AC3E}">
        <p14:creationId xmlns:p14="http://schemas.microsoft.com/office/powerpoint/2010/main" val="1900990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AB0E0-83F0-71F5-D135-652F5C6F5053}"/>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E6A70C22-1044-7795-647B-7B4EAF342EC1}"/>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Content and product usage should continuously strengthen each other.</a:t>
            </a:r>
          </a:p>
        </p:txBody>
      </p:sp>
      <p:sp>
        <p:nvSpPr>
          <p:cNvPr id="33" name="Title 1">
            <a:extLst>
              <a:ext uri="{FF2B5EF4-FFF2-40B4-BE49-F238E27FC236}">
                <a16:creationId xmlns:a16="http://schemas.microsoft.com/office/drawing/2014/main" id="{FE8F5A45-75F7-5FB2-F979-013FA0EF5D25}"/>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Fitakha Flywheel</a:t>
            </a:r>
          </a:p>
        </p:txBody>
      </p:sp>
      <p:sp>
        <p:nvSpPr>
          <p:cNvPr id="15" name="Oval 14">
            <a:extLst>
              <a:ext uri="{FF2B5EF4-FFF2-40B4-BE49-F238E27FC236}">
                <a16:creationId xmlns:a16="http://schemas.microsoft.com/office/drawing/2014/main" id="{F5DD69AB-FD17-98A3-50C2-9C285DEE3AEC}"/>
              </a:ext>
            </a:extLst>
          </p:cNvPr>
          <p:cNvSpPr/>
          <p:nvPr/>
        </p:nvSpPr>
        <p:spPr>
          <a:xfrm>
            <a:off x="4754880" y="1097280"/>
            <a:ext cx="2057400" cy="1097280"/>
          </a:xfrm>
          <a:prstGeom prst="ellipse">
            <a:avLst/>
          </a:prstGeom>
          <a:solidFill>
            <a:srgbClr val="F4F7FA"/>
          </a:solidFill>
          <a:ln w="25400">
            <a:solidFill>
              <a:srgbClr val="226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Exercise</a:t>
            </a: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Intelligence</a:t>
            </a:r>
          </a:p>
        </p:txBody>
      </p:sp>
      <p:sp>
        <p:nvSpPr>
          <p:cNvPr id="17" name="Oval 16">
            <a:extLst>
              <a:ext uri="{FF2B5EF4-FFF2-40B4-BE49-F238E27FC236}">
                <a16:creationId xmlns:a16="http://schemas.microsoft.com/office/drawing/2014/main" id="{A1A1F0D1-4A47-77DF-6B2C-087811655407}"/>
              </a:ext>
            </a:extLst>
          </p:cNvPr>
          <p:cNvSpPr/>
          <p:nvPr/>
        </p:nvSpPr>
        <p:spPr>
          <a:xfrm>
            <a:off x="7863840" y="1965960"/>
            <a:ext cx="2057400" cy="1097280"/>
          </a:xfrm>
          <a:prstGeom prst="ellipse">
            <a:avLst/>
          </a:prstGeom>
          <a:solidFill>
            <a:srgbClr val="F4F7FA"/>
          </a:solidFill>
          <a:ln w="25400">
            <a:solidFill>
              <a:srgbClr val="37A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Personalized</a:t>
            </a: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Recommendations</a:t>
            </a:r>
          </a:p>
        </p:txBody>
      </p:sp>
      <p:sp>
        <p:nvSpPr>
          <p:cNvPr id="19" name="Oval 18">
            <a:extLst>
              <a:ext uri="{FF2B5EF4-FFF2-40B4-BE49-F238E27FC236}">
                <a16:creationId xmlns:a16="http://schemas.microsoft.com/office/drawing/2014/main" id="{0E269667-B15B-F817-3BB0-F3D30EE756E0}"/>
              </a:ext>
            </a:extLst>
          </p:cNvPr>
          <p:cNvSpPr/>
          <p:nvPr/>
        </p:nvSpPr>
        <p:spPr>
          <a:xfrm>
            <a:off x="7315200" y="4572000"/>
            <a:ext cx="2057400" cy="1097280"/>
          </a:xfrm>
          <a:prstGeom prst="ellipse">
            <a:avLst/>
          </a:prstGeom>
          <a:solidFill>
            <a:srgbClr val="F4F7FA"/>
          </a:solidFill>
          <a:ln w="25400">
            <a:solidFill>
              <a:srgbClr val="27B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App / Platform</a:t>
            </a: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Usage</a:t>
            </a:r>
          </a:p>
        </p:txBody>
      </p:sp>
      <p:sp>
        <p:nvSpPr>
          <p:cNvPr id="21" name="Oval 20">
            <a:extLst>
              <a:ext uri="{FF2B5EF4-FFF2-40B4-BE49-F238E27FC236}">
                <a16:creationId xmlns:a16="http://schemas.microsoft.com/office/drawing/2014/main" id="{9DB2BEBE-2B7D-D499-75F9-C7061CA31136}"/>
              </a:ext>
            </a:extLst>
          </p:cNvPr>
          <p:cNvSpPr/>
          <p:nvPr/>
        </p:nvSpPr>
        <p:spPr>
          <a:xfrm>
            <a:off x="3108960" y="4572000"/>
            <a:ext cx="2057400" cy="1097280"/>
          </a:xfrm>
          <a:prstGeom prst="ellipse">
            <a:avLst/>
          </a:prstGeom>
          <a:solidFill>
            <a:srgbClr val="F4F7FA"/>
          </a:solidFill>
          <a:ln w="25400">
            <a:solidFill>
              <a:srgbClr val="EB913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Problem &amp; Demand</a:t>
            </a: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Signals</a:t>
            </a:r>
          </a:p>
        </p:txBody>
      </p:sp>
      <p:sp>
        <p:nvSpPr>
          <p:cNvPr id="23" name="Oval 22">
            <a:extLst>
              <a:ext uri="{FF2B5EF4-FFF2-40B4-BE49-F238E27FC236}">
                <a16:creationId xmlns:a16="http://schemas.microsoft.com/office/drawing/2014/main" id="{D970B7DE-E262-DC06-3993-6F8C15D3B097}"/>
              </a:ext>
            </a:extLst>
          </p:cNvPr>
          <p:cNvSpPr/>
          <p:nvPr/>
        </p:nvSpPr>
        <p:spPr>
          <a:xfrm>
            <a:off x="1371600" y="1965960"/>
            <a:ext cx="2057400" cy="1097280"/>
          </a:xfrm>
          <a:prstGeom prst="ellipse">
            <a:avLst/>
          </a:prstGeom>
          <a:solidFill>
            <a:srgbClr val="F4F7FA"/>
          </a:solidFill>
          <a:ln w="25400">
            <a:solidFill>
              <a:srgbClr val="226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YouTube / Social</a:t>
            </a: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Content</a:t>
            </a:r>
          </a:p>
        </p:txBody>
      </p:sp>
      <p:cxnSp>
        <p:nvCxnSpPr>
          <p:cNvPr id="25" name="Connector 14">
            <a:extLst>
              <a:ext uri="{FF2B5EF4-FFF2-40B4-BE49-F238E27FC236}">
                <a16:creationId xmlns:a16="http://schemas.microsoft.com/office/drawing/2014/main" id="{DADCE59F-892A-46A0-8E23-DD860EBF5C65}"/>
              </a:ext>
            </a:extLst>
          </p:cNvPr>
          <p:cNvCxnSpPr>
            <a:cxnSpLocks/>
            <a:stCxn id="15" idx="6"/>
          </p:cNvCxnSpPr>
          <p:nvPr/>
        </p:nvCxnSpPr>
        <p:spPr>
          <a:xfrm>
            <a:off x="6812280" y="1645920"/>
            <a:ext cx="1051560" cy="685800"/>
          </a:xfrm>
          <a:prstGeom prst="line">
            <a:avLst/>
          </a:prstGeom>
          <a:ln w="25400">
            <a:solidFill>
              <a:srgbClr val="37A470"/>
            </a:solidFill>
          </a:ln>
        </p:spPr>
        <p:style>
          <a:lnRef idx="2">
            <a:schemeClr val="accent1"/>
          </a:lnRef>
          <a:fillRef idx="0">
            <a:schemeClr val="accent1"/>
          </a:fillRef>
          <a:effectRef idx="1">
            <a:schemeClr val="accent1"/>
          </a:effectRef>
          <a:fontRef idx="minor">
            <a:schemeClr val="tx1"/>
          </a:fontRef>
        </p:style>
      </p:cxnSp>
      <p:cxnSp>
        <p:nvCxnSpPr>
          <p:cNvPr id="26" name="Connector 15">
            <a:extLst>
              <a:ext uri="{FF2B5EF4-FFF2-40B4-BE49-F238E27FC236}">
                <a16:creationId xmlns:a16="http://schemas.microsoft.com/office/drawing/2014/main" id="{89811FA5-8420-D63A-DB72-AA43079B5FA2}"/>
              </a:ext>
            </a:extLst>
          </p:cNvPr>
          <p:cNvCxnSpPr/>
          <p:nvPr/>
        </p:nvCxnSpPr>
        <p:spPr>
          <a:xfrm flipH="1">
            <a:off x="8046720" y="3063240"/>
            <a:ext cx="640080" cy="1508760"/>
          </a:xfrm>
          <a:prstGeom prst="line">
            <a:avLst/>
          </a:prstGeom>
          <a:ln w="25400">
            <a:solidFill>
              <a:srgbClr val="27BED2"/>
            </a:solidFill>
          </a:ln>
        </p:spPr>
        <p:style>
          <a:lnRef idx="2">
            <a:schemeClr val="accent1"/>
          </a:lnRef>
          <a:fillRef idx="0">
            <a:schemeClr val="accent1"/>
          </a:fillRef>
          <a:effectRef idx="1">
            <a:schemeClr val="accent1"/>
          </a:effectRef>
          <a:fontRef idx="minor">
            <a:schemeClr val="tx1"/>
          </a:fontRef>
        </p:style>
      </p:cxnSp>
      <p:cxnSp>
        <p:nvCxnSpPr>
          <p:cNvPr id="27" name="Connector 16">
            <a:extLst>
              <a:ext uri="{FF2B5EF4-FFF2-40B4-BE49-F238E27FC236}">
                <a16:creationId xmlns:a16="http://schemas.microsoft.com/office/drawing/2014/main" id="{04E4D12D-DFBE-53EE-25B4-8EC11332EF25}"/>
              </a:ext>
            </a:extLst>
          </p:cNvPr>
          <p:cNvCxnSpPr/>
          <p:nvPr/>
        </p:nvCxnSpPr>
        <p:spPr>
          <a:xfrm flipH="1">
            <a:off x="5166360" y="5120640"/>
            <a:ext cx="2148840" cy="0"/>
          </a:xfrm>
          <a:prstGeom prst="line">
            <a:avLst/>
          </a:prstGeom>
          <a:ln w="25400">
            <a:solidFill>
              <a:srgbClr val="EB9137"/>
            </a:solidFill>
          </a:ln>
        </p:spPr>
        <p:style>
          <a:lnRef idx="2">
            <a:schemeClr val="accent1"/>
          </a:lnRef>
          <a:fillRef idx="0">
            <a:schemeClr val="accent1"/>
          </a:fillRef>
          <a:effectRef idx="1">
            <a:schemeClr val="accent1"/>
          </a:effectRef>
          <a:fontRef idx="minor">
            <a:schemeClr val="tx1"/>
          </a:fontRef>
        </p:style>
      </p:cxnSp>
      <p:cxnSp>
        <p:nvCxnSpPr>
          <p:cNvPr id="28" name="Connector 17">
            <a:extLst>
              <a:ext uri="{FF2B5EF4-FFF2-40B4-BE49-F238E27FC236}">
                <a16:creationId xmlns:a16="http://schemas.microsoft.com/office/drawing/2014/main" id="{C58F8348-318B-A962-8AD8-FFA368BD3AB6}"/>
              </a:ext>
            </a:extLst>
          </p:cNvPr>
          <p:cNvCxnSpPr/>
          <p:nvPr/>
        </p:nvCxnSpPr>
        <p:spPr>
          <a:xfrm flipH="1" flipV="1">
            <a:off x="2286000" y="3063240"/>
            <a:ext cx="822960" cy="1965960"/>
          </a:xfrm>
          <a:prstGeom prst="line">
            <a:avLst/>
          </a:prstGeom>
          <a:ln w="25400">
            <a:solidFill>
              <a:srgbClr val="226FD6"/>
            </a:solidFill>
          </a:ln>
        </p:spPr>
        <p:style>
          <a:lnRef idx="2">
            <a:schemeClr val="accent1"/>
          </a:lnRef>
          <a:fillRef idx="0">
            <a:schemeClr val="accent1"/>
          </a:fillRef>
          <a:effectRef idx="1">
            <a:schemeClr val="accent1"/>
          </a:effectRef>
          <a:fontRef idx="minor">
            <a:schemeClr val="tx1"/>
          </a:fontRef>
        </p:style>
      </p:cxnSp>
      <p:cxnSp>
        <p:nvCxnSpPr>
          <p:cNvPr id="29" name="Connector 18">
            <a:extLst>
              <a:ext uri="{FF2B5EF4-FFF2-40B4-BE49-F238E27FC236}">
                <a16:creationId xmlns:a16="http://schemas.microsoft.com/office/drawing/2014/main" id="{FDBA2437-0820-99B6-DD1D-4365125679A6}"/>
              </a:ext>
            </a:extLst>
          </p:cNvPr>
          <p:cNvCxnSpPr/>
          <p:nvPr/>
        </p:nvCxnSpPr>
        <p:spPr>
          <a:xfrm flipV="1">
            <a:off x="3429000" y="1645920"/>
            <a:ext cx="1325880" cy="457200"/>
          </a:xfrm>
          <a:prstGeom prst="line">
            <a:avLst/>
          </a:prstGeom>
          <a:ln w="25400">
            <a:solidFill>
              <a:srgbClr val="226FD6"/>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3D6F1A33-7C4F-14F9-3F0F-E6B78BBA11C9}"/>
              </a:ext>
            </a:extLst>
          </p:cNvPr>
          <p:cNvSpPr txBox="1"/>
          <p:nvPr/>
        </p:nvSpPr>
        <p:spPr>
          <a:xfrm>
            <a:off x="1562631" y="5881239"/>
            <a:ext cx="8793745" cy="401321"/>
          </a:xfrm>
          <a:prstGeom prst="rect">
            <a:avLst/>
          </a:prstGeom>
          <a:noFill/>
        </p:spPr>
        <p:txBody>
          <a:bodyPr wrap="square">
            <a:spAutoFit/>
          </a:bodyPr>
          <a:lstStyle/>
          <a:p>
            <a:r>
              <a:rPr lang="en-US" b="1" i="1" dirty="0">
                <a:latin typeface="Calibri" panose="020F0502020204030204" pitchFamily="34" charset="0"/>
                <a:ea typeface="Calibri" panose="020F0502020204030204" pitchFamily="34" charset="0"/>
                <a:cs typeface="Calibri" panose="020F0502020204030204" pitchFamily="34" charset="0"/>
              </a:rPr>
              <a:t>Content → Users → Usage → Intelligence → Better Product + Better Content → More Users</a:t>
            </a:r>
          </a:p>
        </p:txBody>
      </p:sp>
    </p:spTree>
    <p:extLst>
      <p:ext uri="{BB962C8B-B14F-4D97-AF65-F5344CB8AC3E}">
        <p14:creationId xmlns:p14="http://schemas.microsoft.com/office/powerpoint/2010/main" val="4099752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181E6-869D-BBFD-F998-1E0AB238FCD8}"/>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2F9DF5B3-9755-5125-F137-2D9676DFE561}"/>
              </a:ext>
            </a:extLst>
          </p:cNvPr>
          <p:cNvSpPr txBox="1">
            <a:spLocks/>
          </p:cNvSpPr>
          <p:nvPr/>
        </p:nvSpPr>
        <p:spPr>
          <a:xfrm>
            <a:off x="333955" y="749809"/>
            <a:ext cx="9764202"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Record once; reuse across discovery, education, app instruction and workouts.</a:t>
            </a:r>
          </a:p>
        </p:txBody>
      </p:sp>
      <p:sp>
        <p:nvSpPr>
          <p:cNvPr id="33" name="Title 1">
            <a:extLst>
              <a:ext uri="{FF2B5EF4-FFF2-40B4-BE49-F238E27FC236}">
                <a16:creationId xmlns:a16="http://schemas.microsoft.com/office/drawing/2014/main" id="{C9CB546F-BC39-6B7B-ABC3-6B1327B7033B}"/>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One Exercise → Many Assets</a:t>
            </a:r>
          </a:p>
        </p:txBody>
      </p:sp>
      <p:sp>
        <p:nvSpPr>
          <p:cNvPr id="3" name="Rounded Rectangle 4">
            <a:extLst>
              <a:ext uri="{FF2B5EF4-FFF2-40B4-BE49-F238E27FC236}">
                <a16:creationId xmlns:a16="http://schemas.microsoft.com/office/drawing/2014/main" id="{630CAE57-F2ED-6C9D-A6FA-17833857ADE1}"/>
              </a:ext>
            </a:extLst>
          </p:cNvPr>
          <p:cNvSpPr/>
          <p:nvPr/>
        </p:nvSpPr>
        <p:spPr>
          <a:xfrm>
            <a:off x="685800" y="1828800"/>
            <a:ext cx="2468880" cy="301752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Master Recording</a:t>
            </a:r>
          </a:p>
          <a:p>
            <a:pPr algn="ct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Clean demonstration</a:t>
            </a:r>
            <a:b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Front / side / 45°</a:t>
            </a:r>
            <a:b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Correct form</a:t>
            </a:r>
            <a:b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Common mistakes</a:t>
            </a:r>
            <a:b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Regression</a:t>
            </a:r>
            <a:b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Progression</a:t>
            </a:r>
            <a:b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Spoken explanation</a:t>
            </a:r>
          </a:p>
        </p:txBody>
      </p:sp>
      <p:sp>
        <p:nvSpPr>
          <p:cNvPr id="5" name="Rounded Rectangle 7">
            <a:extLst>
              <a:ext uri="{FF2B5EF4-FFF2-40B4-BE49-F238E27FC236}">
                <a16:creationId xmlns:a16="http://schemas.microsoft.com/office/drawing/2014/main" id="{8DEFD653-3C6D-94EE-D877-911760B26673}"/>
              </a:ext>
            </a:extLst>
          </p:cNvPr>
          <p:cNvSpPr/>
          <p:nvPr/>
        </p:nvSpPr>
        <p:spPr>
          <a:xfrm>
            <a:off x="4572000" y="1143000"/>
            <a:ext cx="2468880" cy="91440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App Demo</a:t>
            </a:r>
          </a:p>
          <a:p>
            <a:pPr>
              <a:spcBef>
                <a:spcPts val="600"/>
              </a:spcBef>
              <a:defRPr sz="1100">
                <a:solidFill>
                  <a:srgbClr val="1F2A37"/>
                </a:solidFill>
              </a:defRPr>
            </a:pPr>
            <a:r>
              <a:rPr lang="en-US" sz="1200" dirty="0">
                <a:latin typeface="Calibri" panose="020F0502020204030204" pitchFamily="34" charset="0"/>
                <a:ea typeface="Calibri" panose="020F0502020204030204" pitchFamily="34" charset="0"/>
                <a:cs typeface="Calibri" panose="020F0502020204030204" pitchFamily="34" charset="0"/>
              </a:rPr>
              <a:t>30–60 sec</a:t>
            </a:r>
          </a:p>
        </p:txBody>
      </p:sp>
      <p:sp>
        <p:nvSpPr>
          <p:cNvPr id="7" name="Rounded Rectangle 11">
            <a:extLst>
              <a:ext uri="{FF2B5EF4-FFF2-40B4-BE49-F238E27FC236}">
                <a16:creationId xmlns:a16="http://schemas.microsoft.com/office/drawing/2014/main" id="{4CA312FC-0731-52CA-B11D-918E05CD5D7E}"/>
              </a:ext>
            </a:extLst>
          </p:cNvPr>
          <p:cNvSpPr/>
          <p:nvPr/>
        </p:nvSpPr>
        <p:spPr>
          <a:xfrm>
            <a:off x="4572000" y="2377440"/>
            <a:ext cx="2468880" cy="91440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Shorts</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20–45 sec</a:t>
            </a:r>
          </a:p>
        </p:txBody>
      </p:sp>
      <p:sp>
        <p:nvSpPr>
          <p:cNvPr id="9" name="Rounded Rectangle 15">
            <a:extLst>
              <a:ext uri="{FF2B5EF4-FFF2-40B4-BE49-F238E27FC236}">
                <a16:creationId xmlns:a16="http://schemas.microsoft.com/office/drawing/2014/main" id="{BA76ECA4-854F-A1C0-4B7D-050B0C66F7BC}"/>
              </a:ext>
            </a:extLst>
          </p:cNvPr>
          <p:cNvSpPr/>
          <p:nvPr/>
        </p:nvSpPr>
        <p:spPr>
          <a:xfrm>
            <a:off x="4572000" y="3611880"/>
            <a:ext cx="2468880" cy="91440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Tutorial</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3–6 min</a:t>
            </a:r>
          </a:p>
        </p:txBody>
      </p:sp>
      <p:sp>
        <p:nvSpPr>
          <p:cNvPr id="11" name="Rounded Rectangle 19">
            <a:extLst>
              <a:ext uri="{FF2B5EF4-FFF2-40B4-BE49-F238E27FC236}">
                <a16:creationId xmlns:a16="http://schemas.microsoft.com/office/drawing/2014/main" id="{E0EF9FAD-852E-CE43-A9B7-460F75D31FE0}"/>
              </a:ext>
            </a:extLst>
          </p:cNvPr>
          <p:cNvSpPr/>
          <p:nvPr/>
        </p:nvSpPr>
        <p:spPr>
          <a:xfrm>
            <a:off x="4572000" y="4846320"/>
            <a:ext cx="2468880" cy="91440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0C192D"/>
                </a:solidFill>
              </a:defRPr>
            </a:pPr>
            <a:r>
              <a:rPr lang="en-US" dirty="0">
                <a:latin typeface="Calibri" panose="020F0502020204030204" pitchFamily="34" charset="0"/>
                <a:ea typeface="Calibri" panose="020F0502020204030204" pitchFamily="34" charset="0"/>
                <a:cs typeface="Calibri" panose="020F0502020204030204" pitchFamily="34" charset="0"/>
              </a:rPr>
              <a:t>Workout</a:t>
            </a:r>
          </a:p>
          <a:p>
            <a:pPr>
              <a:spcBef>
                <a:spcPts val="600"/>
              </a:spcBef>
              <a:defRPr sz="1100">
                <a:solidFill>
                  <a:srgbClr val="1F2A37"/>
                </a:solidFill>
              </a:defRPr>
            </a:pPr>
            <a:r>
              <a:rPr lang="en-US" dirty="0">
                <a:latin typeface="Calibri" panose="020F0502020204030204" pitchFamily="34" charset="0"/>
                <a:ea typeface="Calibri" panose="020F0502020204030204" pitchFamily="34" charset="0"/>
                <a:cs typeface="Calibri" panose="020F0502020204030204" pitchFamily="34" charset="0"/>
              </a:rPr>
              <a:t>10–40 min</a:t>
            </a:r>
          </a:p>
        </p:txBody>
      </p:sp>
      <p:sp>
        <p:nvSpPr>
          <p:cNvPr id="13" name="Rounded Rectangle 23">
            <a:extLst>
              <a:ext uri="{FF2B5EF4-FFF2-40B4-BE49-F238E27FC236}">
                <a16:creationId xmlns:a16="http://schemas.microsoft.com/office/drawing/2014/main" id="{4496E778-FF69-D751-D291-A9D22199E5DA}"/>
              </a:ext>
            </a:extLst>
          </p:cNvPr>
          <p:cNvSpPr/>
          <p:nvPr/>
        </p:nvSpPr>
        <p:spPr>
          <a:xfrm>
            <a:off x="8321040" y="1828800"/>
            <a:ext cx="2834640" cy="3017520"/>
          </a:xfrm>
          <a:prstGeom prst="roundRect">
            <a:avLst/>
          </a:prstGeom>
          <a:solidFill>
            <a:srgbClr val="FFFFFF"/>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Distribution</a:t>
            </a:r>
          </a:p>
          <a:p>
            <a:endPar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Fitakha App</a:t>
            </a:r>
            <a:b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Fitakha Website</a:t>
            </a:r>
            <a:b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YouTube Search</a:t>
            </a:r>
            <a:b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YouTube Shorts</a:t>
            </a:r>
            <a:b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Future languages</a:t>
            </a:r>
            <a:b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Partner platforms</a:t>
            </a:r>
          </a:p>
        </p:txBody>
      </p:sp>
      <p:cxnSp>
        <p:nvCxnSpPr>
          <p:cNvPr id="16" name="Straight Arrow Connector 15">
            <a:extLst>
              <a:ext uri="{FF2B5EF4-FFF2-40B4-BE49-F238E27FC236}">
                <a16:creationId xmlns:a16="http://schemas.microsoft.com/office/drawing/2014/main" id="{4F11E5D0-0963-8E9C-1A5A-40007F5A10F9}"/>
              </a:ext>
            </a:extLst>
          </p:cNvPr>
          <p:cNvCxnSpPr>
            <a:stCxn id="3" idx="3"/>
            <a:endCxn id="5" idx="1"/>
          </p:cNvCxnSpPr>
          <p:nvPr/>
        </p:nvCxnSpPr>
        <p:spPr>
          <a:xfrm flipV="1">
            <a:off x="3154680" y="1600200"/>
            <a:ext cx="1417320" cy="17373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F532CEC-FF96-A7B2-64AE-9265772DA8F3}"/>
              </a:ext>
            </a:extLst>
          </p:cNvPr>
          <p:cNvCxnSpPr>
            <a:cxnSpLocks/>
            <a:stCxn id="3" idx="3"/>
            <a:endCxn id="7" idx="1"/>
          </p:cNvCxnSpPr>
          <p:nvPr/>
        </p:nvCxnSpPr>
        <p:spPr>
          <a:xfrm flipV="1">
            <a:off x="3154680" y="2834640"/>
            <a:ext cx="1417320" cy="5029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EA71047-7F96-7D1F-985C-9E1E140DAE58}"/>
              </a:ext>
            </a:extLst>
          </p:cNvPr>
          <p:cNvCxnSpPr>
            <a:cxnSpLocks/>
            <a:stCxn id="3" idx="3"/>
            <a:endCxn id="9" idx="1"/>
          </p:cNvCxnSpPr>
          <p:nvPr/>
        </p:nvCxnSpPr>
        <p:spPr>
          <a:xfrm>
            <a:off x="3154680" y="3337560"/>
            <a:ext cx="1417320" cy="7315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68D57582-C31E-755B-84A6-3D123AD3F554}"/>
              </a:ext>
            </a:extLst>
          </p:cNvPr>
          <p:cNvCxnSpPr>
            <a:cxnSpLocks/>
            <a:stCxn id="3" idx="3"/>
            <a:endCxn id="11" idx="1"/>
          </p:cNvCxnSpPr>
          <p:nvPr/>
        </p:nvCxnSpPr>
        <p:spPr>
          <a:xfrm>
            <a:off x="3154680" y="3337560"/>
            <a:ext cx="1417320" cy="19659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3E8B8DE-823B-FC13-3589-D7ECB14C9AC9}"/>
              </a:ext>
            </a:extLst>
          </p:cNvPr>
          <p:cNvCxnSpPr>
            <a:cxnSpLocks/>
            <a:stCxn id="5" idx="3"/>
            <a:endCxn id="13" idx="1"/>
          </p:cNvCxnSpPr>
          <p:nvPr/>
        </p:nvCxnSpPr>
        <p:spPr>
          <a:xfrm>
            <a:off x="7040880" y="1600200"/>
            <a:ext cx="1280160" cy="17373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62488363-7CC6-1F82-E779-25389DD8F6CF}"/>
              </a:ext>
            </a:extLst>
          </p:cNvPr>
          <p:cNvCxnSpPr>
            <a:cxnSpLocks/>
            <a:stCxn id="7" idx="3"/>
            <a:endCxn id="13" idx="1"/>
          </p:cNvCxnSpPr>
          <p:nvPr/>
        </p:nvCxnSpPr>
        <p:spPr>
          <a:xfrm>
            <a:off x="7040880" y="2834640"/>
            <a:ext cx="1280160" cy="5029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443581CF-3B67-9431-FAF7-CA15452F0273}"/>
              </a:ext>
            </a:extLst>
          </p:cNvPr>
          <p:cNvCxnSpPr>
            <a:cxnSpLocks/>
            <a:stCxn id="9" idx="3"/>
            <a:endCxn id="13" idx="1"/>
          </p:cNvCxnSpPr>
          <p:nvPr/>
        </p:nvCxnSpPr>
        <p:spPr>
          <a:xfrm flipV="1">
            <a:off x="7040880" y="3337560"/>
            <a:ext cx="1280160" cy="7315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17B2733D-82A3-67D7-0E22-6C7D7B27AE76}"/>
              </a:ext>
            </a:extLst>
          </p:cNvPr>
          <p:cNvCxnSpPr>
            <a:cxnSpLocks/>
            <a:stCxn id="11" idx="3"/>
            <a:endCxn id="13" idx="1"/>
          </p:cNvCxnSpPr>
          <p:nvPr/>
        </p:nvCxnSpPr>
        <p:spPr>
          <a:xfrm flipV="1">
            <a:off x="7040880" y="3337560"/>
            <a:ext cx="1280160" cy="19659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90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29FDB-9C39-6874-439E-4F6017649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999B5E-ECFE-58CB-92C9-2ECF67A6B7C2}"/>
              </a:ext>
            </a:extLst>
          </p:cNvPr>
          <p:cNvSpPr>
            <a:spLocks noGrp="1"/>
          </p:cNvSpPr>
          <p:nvPr>
            <p:ph type="title"/>
          </p:nvPr>
        </p:nvSpPr>
        <p:spPr>
          <a:xfrm>
            <a:off x="5120640" y="2766219"/>
            <a:ext cx="1950720" cy="1325563"/>
          </a:xfrm>
        </p:spPr>
        <p:txBody>
          <a:bodyPr/>
          <a:lstStyle/>
          <a:p>
            <a:r>
              <a:rPr lang="en-US" dirty="0"/>
              <a:t>Design</a:t>
            </a:r>
          </a:p>
        </p:txBody>
      </p:sp>
    </p:spTree>
    <p:extLst>
      <p:ext uri="{BB962C8B-B14F-4D97-AF65-F5344CB8AC3E}">
        <p14:creationId xmlns:p14="http://schemas.microsoft.com/office/powerpoint/2010/main" val="3597592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F9D7-0F13-AB2D-2B79-772C2B5D1803}"/>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50D91DD2-E7B4-C218-72F1-944F6F8471EC}"/>
              </a:ext>
            </a:extLst>
          </p:cNvPr>
          <p:cNvSpPr txBox="1">
            <a:spLocks/>
          </p:cNvSpPr>
          <p:nvPr/>
        </p:nvSpPr>
        <p:spPr>
          <a:xfrm>
            <a:off x="333954" y="678250"/>
            <a:ext cx="11322657"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latin typeface="Calibri" panose="020F0502020204030204" pitchFamily="34" charset="0"/>
                <a:ea typeface="Calibri" panose="020F0502020204030204" pitchFamily="34" charset="0"/>
                <a:cs typeface="Calibri" panose="020F0502020204030204" pitchFamily="34" charset="0"/>
              </a:rPr>
              <a:t>Common language for describing exercises, users, goals, equipment, conditions, and movements. Organized labels for Fitakha to understand consistently</a:t>
            </a:r>
          </a:p>
        </p:txBody>
      </p:sp>
      <p:sp>
        <p:nvSpPr>
          <p:cNvPr id="33" name="Title 1">
            <a:extLst>
              <a:ext uri="{FF2B5EF4-FFF2-40B4-BE49-F238E27FC236}">
                <a16:creationId xmlns:a16="http://schemas.microsoft.com/office/drawing/2014/main" id="{56F1E4FB-26A9-3A69-7FAD-9F66326C8069}"/>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Taxonomy</a:t>
            </a:r>
          </a:p>
        </p:txBody>
      </p:sp>
      <p:graphicFrame>
        <p:nvGraphicFramePr>
          <p:cNvPr id="2" name="Table 1">
            <a:extLst>
              <a:ext uri="{FF2B5EF4-FFF2-40B4-BE49-F238E27FC236}">
                <a16:creationId xmlns:a16="http://schemas.microsoft.com/office/drawing/2014/main" id="{628E3D0A-E003-1504-C8EA-D690AF28B890}"/>
              </a:ext>
            </a:extLst>
          </p:cNvPr>
          <p:cNvGraphicFramePr>
            <a:graphicFrameLocks noGrp="1"/>
          </p:cNvGraphicFramePr>
          <p:nvPr>
            <p:extLst>
              <p:ext uri="{D42A27DB-BD31-4B8C-83A1-F6EECF244321}">
                <p14:modId xmlns:p14="http://schemas.microsoft.com/office/powerpoint/2010/main" val="917445409"/>
              </p:ext>
            </p:extLst>
          </p:nvPr>
        </p:nvGraphicFramePr>
        <p:xfrm>
          <a:off x="838198" y="1007100"/>
          <a:ext cx="10515603" cy="1698540"/>
        </p:xfrm>
        <a:graphic>
          <a:graphicData uri="http://schemas.openxmlformats.org/drawingml/2006/table">
            <a:tbl>
              <a:tblPr>
                <a:tableStyleId>{5C22544A-7EE6-4342-B048-85BDC9FD1C3A}</a:tableStyleId>
              </a:tblPr>
              <a:tblGrid>
                <a:gridCol w="569181">
                  <a:extLst>
                    <a:ext uri="{9D8B030D-6E8A-4147-A177-3AD203B41FA5}">
                      <a16:colId xmlns:a16="http://schemas.microsoft.com/office/drawing/2014/main" val="3811210253"/>
                    </a:ext>
                  </a:extLst>
                </a:gridCol>
                <a:gridCol w="2435277">
                  <a:extLst>
                    <a:ext uri="{9D8B030D-6E8A-4147-A177-3AD203B41FA5}">
                      <a16:colId xmlns:a16="http://schemas.microsoft.com/office/drawing/2014/main" val="2396093564"/>
                    </a:ext>
                  </a:extLst>
                </a:gridCol>
                <a:gridCol w="1502229">
                  <a:extLst>
                    <a:ext uri="{9D8B030D-6E8A-4147-A177-3AD203B41FA5}">
                      <a16:colId xmlns:a16="http://schemas.microsoft.com/office/drawing/2014/main" val="1115516988"/>
                    </a:ext>
                  </a:extLst>
                </a:gridCol>
                <a:gridCol w="1502229">
                  <a:extLst>
                    <a:ext uri="{9D8B030D-6E8A-4147-A177-3AD203B41FA5}">
                      <a16:colId xmlns:a16="http://schemas.microsoft.com/office/drawing/2014/main" val="407180900"/>
                    </a:ext>
                  </a:extLst>
                </a:gridCol>
                <a:gridCol w="1502229">
                  <a:extLst>
                    <a:ext uri="{9D8B030D-6E8A-4147-A177-3AD203B41FA5}">
                      <a16:colId xmlns:a16="http://schemas.microsoft.com/office/drawing/2014/main" val="3828576219"/>
                    </a:ext>
                  </a:extLst>
                </a:gridCol>
                <a:gridCol w="1502229">
                  <a:extLst>
                    <a:ext uri="{9D8B030D-6E8A-4147-A177-3AD203B41FA5}">
                      <a16:colId xmlns:a16="http://schemas.microsoft.com/office/drawing/2014/main" val="3328971316"/>
                    </a:ext>
                  </a:extLst>
                </a:gridCol>
                <a:gridCol w="1502229">
                  <a:extLst>
                    <a:ext uri="{9D8B030D-6E8A-4147-A177-3AD203B41FA5}">
                      <a16:colId xmlns:a16="http://schemas.microsoft.com/office/drawing/2014/main" val="3335181335"/>
                    </a:ext>
                  </a:extLst>
                </a:gridCol>
              </a:tblGrid>
              <a:tr h="339708">
                <a:tc rowSpan="5">
                  <a:txBody>
                    <a:bodyPr/>
                    <a:lstStyle/>
                    <a:p>
                      <a:pPr>
                        <a:buNone/>
                      </a:pPr>
                      <a:r>
                        <a:rPr lang="en-US" sz="1200" b="1" dirty="0">
                          <a:latin typeface="Calibri" panose="020F0502020204030204" pitchFamily="34" charset="0"/>
                          <a:ea typeface="Calibri" panose="020F0502020204030204" pitchFamily="34" charset="0"/>
                          <a:cs typeface="Calibri" panose="020F0502020204030204" pitchFamily="34" charset="0"/>
                        </a:rPr>
                        <a:t>Example</a:t>
                      </a:r>
                    </a:p>
                  </a:txBody>
                  <a:tcPr vert="wordA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b="1" dirty="0">
                          <a:latin typeface="Calibri" panose="020F0502020204030204" pitchFamily="34" charset="0"/>
                          <a:ea typeface="Calibri" panose="020F0502020204030204" pitchFamily="34" charset="0"/>
                          <a:cs typeface="Calibri" panose="020F0502020204030204" pitchFamily="34" charset="0"/>
                        </a:rPr>
                        <a:t>Exercise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b="1" dirty="0">
                          <a:latin typeface="Calibri" panose="020F0502020204030204" pitchFamily="34" charset="0"/>
                          <a:ea typeface="Calibri" panose="020F0502020204030204" pitchFamily="34" charset="0"/>
                          <a:cs typeface="Calibri" panose="020F0502020204030204" pitchFamily="34" charset="0"/>
                        </a:rPr>
                        <a:t>Body 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b="1" dirty="0">
                          <a:latin typeface="Calibri" panose="020F0502020204030204" pitchFamily="34" charset="0"/>
                          <a:ea typeface="Calibri" panose="020F0502020204030204" pitchFamily="34" charset="0"/>
                          <a:cs typeface="Calibri" panose="020F0502020204030204" pitchFamily="34" charset="0"/>
                        </a:rPr>
                        <a:t>Muscle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b="1" dirty="0">
                          <a:latin typeface="Calibri" panose="020F0502020204030204" pitchFamily="34" charset="0"/>
                          <a:ea typeface="Calibri" panose="020F0502020204030204" pitchFamily="34" charset="0"/>
                          <a:cs typeface="Calibri" panose="020F0502020204030204" pitchFamily="34" charset="0"/>
                        </a:rPr>
                        <a:t>Movement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b="1" dirty="0">
                          <a:latin typeface="Calibri" panose="020F0502020204030204" pitchFamily="34" charset="0"/>
                          <a:ea typeface="Calibri" panose="020F0502020204030204" pitchFamily="34" charset="0"/>
                          <a:cs typeface="Calibri" panose="020F0502020204030204" pitchFamily="34" charset="0"/>
                        </a:rPr>
                        <a:t>Equipment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b="1" dirty="0">
                          <a:latin typeface="Calibri" panose="020F0502020204030204" pitchFamily="34" charset="0"/>
                          <a:ea typeface="Calibri" panose="020F0502020204030204" pitchFamily="34" charset="0"/>
                          <a:cs typeface="Calibri" panose="020F0502020204030204" pitchFamily="34" charset="0"/>
                        </a:rPr>
                        <a:t>Difficulty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7424106"/>
                  </a:ext>
                </a:extLst>
              </a:tr>
              <a:tr h="339708">
                <a:tc vMerge="1">
                  <a:txBody>
                    <a:bodyPr/>
                    <a:lstStyle/>
                    <a:p>
                      <a:pPr>
                        <a:buNone/>
                      </a:pP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Bodyweight Squat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Lower 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Quads, Glutes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Squat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Beginner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3013081"/>
                  </a:ext>
                </a:extLst>
              </a:tr>
              <a:tr h="339708">
                <a:tc vMerge="1">
                  <a:txBody>
                    <a:bodyPr/>
                    <a:lstStyle/>
                    <a:p>
                      <a:pPr>
                        <a:buNone/>
                      </a:pPr>
                      <a:endParaRPr lang="en-US" sz="120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Goblet Squat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Lower 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Quads, Glutes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Squat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Dumbbell/Kettlebell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Beginner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1978640"/>
                  </a:ext>
                </a:extLst>
              </a:tr>
              <a:tr h="339708">
                <a:tc vMerge="1">
                  <a:txBody>
                    <a:bodyPr/>
                    <a:lstStyle/>
                    <a:p>
                      <a:pPr>
                        <a:buNone/>
                      </a:pP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Bulgarian Split Squat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Lower 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Quads, Glutes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Lunge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Dumbbells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Intermediate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312688"/>
                  </a:ext>
                </a:extLst>
              </a:tr>
              <a:tr h="339708">
                <a:tc vMerge="1">
                  <a:txBody>
                    <a:bodyPr/>
                    <a:lstStyle/>
                    <a:p>
                      <a:pPr>
                        <a:buNone/>
                      </a:pP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Bench Press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Upper 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Chest, Triceps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latin typeface="Calibri" panose="020F0502020204030204" pitchFamily="34" charset="0"/>
                          <a:ea typeface="Calibri" panose="020F0502020204030204" pitchFamily="34" charset="0"/>
                          <a:cs typeface="Calibri" panose="020F0502020204030204" pitchFamily="34" charset="0"/>
                        </a:rPr>
                        <a:t>Push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Barbell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latin typeface="Calibri" panose="020F0502020204030204" pitchFamily="34" charset="0"/>
                          <a:ea typeface="Calibri" panose="020F0502020204030204" pitchFamily="34" charset="0"/>
                          <a:cs typeface="Calibri" panose="020F0502020204030204" pitchFamily="34" charset="0"/>
                        </a:rPr>
                        <a:t>Intermediate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500210"/>
                  </a:ext>
                </a:extLst>
              </a:tr>
            </a:tbl>
          </a:graphicData>
        </a:graphic>
      </p:graphicFrame>
      <p:sp>
        <p:nvSpPr>
          <p:cNvPr id="10" name="TextBox 9">
            <a:extLst>
              <a:ext uri="{FF2B5EF4-FFF2-40B4-BE49-F238E27FC236}">
                <a16:creationId xmlns:a16="http://schemas.microsoft.com/office/drawing/2014/main" id="{35338993-9443-8099-7067-F9A9A99981DA}"/>
              </a:ext>
            </a:extLst>
          </p:cNvPr>
          <p:cNvSpPr txBox="1"/>
          <p:nvPr/>
        </p:nvSpPr>
        <p:spPr>
          <a:xfrm>
            <a:off x="421418" y="2722191"/>
            <a:ext cx="11672516" cy="3046988"/>
          </a:xfrm>
          <a:prstGeom prst="rect">
            <a:avLst/>
          </a:prstGeom>
          <a:noFill/>
        </p:spPr>
        <p:txBody>
          <a:bodyPr wrap="square">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User: “</a:t>
            </a:r>
            <a:r>
              <a:rPr lang="en-US" sz="1200" i="1" dirty="0">
                <a:latin typeface="Calibri" panose="020F0502020204030204" pitchFamily="34" charset="0"/>
                <a:ea typeface="Calibri" panose="020F0502020204030204" pitchFamily="34" charset="0"/>
                <a:cs typeface="Calibri" panose="020F0502020204030204" pitchFamily="34" charset="0"/>
              </a:rPr>
              <a:t>I want to strengthen my legs at home. I'm a beginner and only have dumbbells.</a:t>
            </a:r>
            <a:r>
              <a:rPr lang="en-US" sz="1200" dirty="0">
                <a:latin typeface="Calibri" panose="020F0502020204030204" pitchFamily="34" charset="0"/>
                <a:ea typeface="Calibri" panose="020F0502020204030204" pitchFamily="34" charset="0"/>
                <a:cs typeface="Calibri" panose="020F0502020204030204" pitchFamily="34" charset="0"/>
              </a:rPr>
              <a:t>” In this scenario Fitakha doesn’t need AI to search hundreds of exercises. It first uses the taxonomy:</a:t>
            </a:r>
          </a:p>
          <a:p>
            <a:r>
              <a:rPr lang="en-US" sz="1200" dirty="0">
                <a:latin typeface="Calibri" panose="020F0502020204030204" pitchFamily="34" charset="0"/>
                <a:ea typeface="Calibri" panose="020F0502020204030204" pitchFamily="34" charset="0"/>
                <a:cs typeface="Calibri" panose="020F0502020204030204" pitchFamily="34" charset="0"/>
              </a:rPr>
              <a:t>Goal: Strength -&gt; Body Area: Lower Body -&gt; Experience: Beginner -&gt; Available Equipment: Dumbbells -&gt; Movement: Squat/Lunge/etc. -&gt; Eligible Exercises: Bodyweight Squat: Yes, Goblet Squat: Yes, Bulgarian Split Squat → maybe, depending on ability, Leg Press → NO (machine unavailable), Bench Press → NO (wrong body area)</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dirty="0">
                <a:latin typeface="Calibri" panose="020F0502020204030204" pitchFamily="34" charset="0"/>
                <a:ea typeface="Calibri" panose="020F0502020204030204" pitchFamily="34" charset="0"/>
                <a:cs typeface="Calibri" panose="020F0502020204030204" pitchFamily="34" charset="0"/>
              </a:rPr>
              <a:t>Here the AI works only with the appropriate exercises and decides things such as which exercises to combine, sequence, sets/reps, rest periods, and how to explain the workout.</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Taxonomy </a:t>
            </a:r>
            <a:r>
              <a:rPr lang="en-US" sz="1200" dirty="0">
                <a:latin typeface="Calibri" panose="020F0502020204030204" pitchFamily="34" charset="0"/>
                <a:ea typeface="Calibri" panose="020F0502020204030204" pitchFamily="34" charset="0"/>
                <a:cs typeface="Calibri" panose="020F0502020204030204" pitchFamily="34" charset="0"/>
              </a:rPr>
              <a:t>= What things ARE</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dirty="0">
                <a:latin typeface="Calibri" panose="020F0502020204030204" pitchFamily="34" charset="0"/>
                <a:ea typeface="Calibri" panose="020F0502020204030204" pitchFamily="34" charset="0"/>
                <a:cs typeface="Calibri" panose="020F0502020204030204" pitchFamily="34" charset="0"/>
              </a:rPr>
              <a:t>Rules Engine </a:t>
            </a:r>
            <a:r>
              <a:rPr lang="en-US" sz="1200" dirty="0">
                <a:latin typeface="Calibri" panose="020F0502020204030204" pitchFamily="34" charset="0"/>
                <a:ea typeface="Calibri" panose="020F0502020204030204" pitchFamily="34" charset="0"/>
                <a:cs typeface="Calibri" panose="020F0502020204030204" pitchFamily="34" charset="0"/>
              </a:rPr>
              <a:t>= What is ALLOWED/APPROPRIATE</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dirty="0">
                <a:latin typeface="Calibri" panose="020F0502020204030204" pitchFamily="34" charset="0"/>
                <a:ea typeface="Calibri" panose="020F0502020204030204" pitchFamily="34" charset="0"/>
                <a:cs typeface="Calibri" panose="020F0502020204030204" pitchFamily="34" charset="0"/>
              </a:rPr>
              <a:t>AI </a:t>
            </a:r>
            <a:r>
              <a:rPr lang="en-US" sz="1200" dirty="0">
                <a:latin typeface="Calibri" panose="020F0502020204030204" pitchFamily="34" charset="0"/>
                <a:ea typeface="Calibri" panose="020F0502020204030204" pitchFamily="34" charset="0"/>
                <a:cs typeface="Calibri" panose="020F0502020204030204" pitchFamily="34" charset="0"/>
              </a:rPr>
              <a:t>= What is BEST for this particular user</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dirty="0">
                <a:latin typeface="Calibri" panose="020F0502020204030204" pitchFamily="34" charset="0"/>
                <a:ea typeface="Calibri" panose="020F0502020204030204" pitchFamily="34" charset="0"/>
                <a:cs typeface="Calibri" panose="020F0502020204030204" pitchFamily="34" charset="0"/>
              </a:rPr>
              <a:t>User: </a:t>
            </a:r>
            <a:r>
              <a:rPr lang="en-US" sz="1200" i="1" dirty="0">
                <a:latin typeface="Calibri" panose="020F0502020204030204" pitchFamily="34" charset="0"/>
                <a:ea typeface="Calibri" panose="020F0502020204030204" pitchFamily="34" charset="0"/>
                <a:cs typeface="Calibri" panose="020F0502020204030204" pitchFamily="34" charset="0"/>
              </a:rPr>
              <a:t>55 years old, beginner, knee discomfort, wants weight loss, home workout, dumbbells available.</a:t>
            </a:r>
          </a:p>
          <a:p>
            <a:r>
              <a:rPr lang="en-US" sz="1200" b="1" dirty="0">
                <a:latin typeface="Calibri" panose="020F0502020204030204" pitchFamily="34" charset="0"/>
                <a:ea typeface="Calibri" panose="020F0502020204030204" pitchFamily="34" charset="0"/>
                <a:cs typeface="Calibri" panose="020F0502020204030204" pitchFamily="34" charset="0"/>
              </a:rPr>
              <a:t>Taxonomy identifies:</a:t>
            </a:r>
            <a:r>
              <a:rPr lang="en-US" sz="1200" dirty="0">
                <a:latin typeface="Calibri" panose="020F0502020204030204" pitchFamily="34" charset="0"/>
                <a:ea typeface="Calibri" panose="020F0502020204030204" pitchFamily="34" charset="0"/>
                <a:cs typeface="Calibri" panose="020F0502020204030204" pitchFamily="34" charset="0"/>
              </a:rPr>
              <a:t> lower-body exercises, low-impact exercises, dumbbell exercises, beginner exercises, knee-dominant movements, etc.</a:t>
            </a:r>
          </a:p>
          <a:p>
            <a:r>
              <a:rPr lang="en-US" sz="1200" b="1" dirty="0">
                <a:latin typeface="Calibri" panose="020F0502020204030204" pitchFamily="34" charset="0"/>
                <a:ea typeface="Calibri" panose="020F0502020204030204" pitchFamily="34" charset="0"/>
                <a:cs typeface="Calibri" panose="020F0502020204030204" pitchFamily="34" charset="0"/>
              </a:rPr>
              <a:t>Rules Engine filters: </a:t>
            </a:r>
            <a:r>
              <a:rPr lang="en-US" sz="1200" dirty="0">
                <a:latin typeface="Calibri" panose="020F0502020204030204" pitchFamily="34" charset="0"/>
                <a:ea typeface="Calibri" panose="020F0502020204030204" pitchFamily="34" charset="0"/>
                <a:cs typeface="Calibri" panose="020F0502020204030204" pitchFamily="34" charset="0"/>
              </a:rPr>
              <a:t>remove exercises that don't fit the user's constraints or equipment.</a:t>
            </a:r>
          </a:p>
          <a:p>
            <a:r>
              <a:rPr lang="en-US" sz="1200" b="1" dirty="0">
                <a:latin typeface="Calibri" panose="020F0502020204030204" pitchFamily="34" charset="0"/>
                <a:ea typeface="Calibri" panose="020F0502020204030204" pitchFamily="34" charset="0"/>
                <a:cs typeface="Calibri" panose="020F0502020204030204" pitchFamily="34" charset="0"/>
              </a:rPr>
              <a:t>AI then reasons: </a:t>
            </a:r>
            <a:r>
              <a:rPr lang="en-US" sz="1200" dirty="0">
                <a:latin typeface="Calibri" panose="020F0502020204030204" pitchFamily="34" charset="0"/>
                <a:ea typeface="Calibri" panose="020F0502020204030204" pitchFamily="34" charset="0"/>
                <a:cs typeface="Calibri" panose="020F0502020204030204" pitchFamily="34" charset="0"/>
              </a:rPr>
              <a:t>"From the safe and relevant exercises remaining, what is the best 30-minute workout for this person today?“</a:t>
            </a:r>
            <a:br>
              <a:rPr lang="en-US" sz="1200" dirty="0">
                <a:latin typeface="Calibri" panose="020F0502020204030204" pitchFamily="34" charset="0"/>
                <a:ea typeface="Calibri" panose="020F0502020204030204" pitchFamily="34" charset="0"/>
                <a:cs typeface="Calibri" panose="020F0502020204030204" pitchFamily="34" charset="0"/>
              </a:rPr>
            </a:br>
            <a:endParaRPr lang="en-US" sz="1200" dirty="0">
              <a:latin typeface="Calibri" panose="020F0502020204030204" pitchFamily="34" charset="0"/>
              <a:ea typeface="Calibri" panose="020F0502020204030204" pitchFamily="34" charset="0"/>
              <a:cs typeface="Calibri" panose="020F0502020204030204" pitchFamily="34" charset="0"/>
            </a:endParaRPr>
          </a:p>
          <a:p>
            <a:pPr algn="ctr"/>
            <a:r>
              <a:rPr lang="en-US" sz="1200" b="1" i="1" dirty="0"/>
              <a:t>Taxonomy organizes → Rules filter → AI personalizes.</a:t>
            </a:r>
            <a:endParaRPr lang="en-US" sz="1200" b="1"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0225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D1AC1-5DC5-1A45-5287-2ADE249F4BED}"/>
            </a:ext>
          </a:extLst>
        </p:cNvPr>
        <p:cNvGrpSpPr/>
        <p:nvPr/>
      </p:nvGrpSpPr>
      <p:grpSpPr>
        <a:xfrm>
          <a:off x="0" y="0"/>
          <a:ext cx="0" cy="0"/>
          <a:chOff x="0" y="0"/>
          <a:chExt cx="0" cy="0"/>
        </a:xfrm>
      </p:grpSpPr>
      <p:sp>
        <p:nvSpPr>
          <p:cNvPr id="33" name="Title 1">
            <a:extLst>
              <a:ext uri="{FF2B5EF4-FFF2-40B4-BE49-F238E27FC236}">
                <a16:creationId xmlns:a16="http://schemas.microsoft.com/office/drawing/2014/main" id="{C3045FEF-D942-C56A-E6EC-5F1D5D41B27A}"/>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Rules Engine</a:t>
            </a:r>
          </a:p>
        </p:txBody>
      </p:sp>
      <p:pic>
        <p:nvPicPr>
          <p:cNvPr id="5" name="Picture 4">
            <a:extLst>
              <a:ext uri="{FF2B5EF4-FFF2-40B4-BE49-F238E27FC236}">
                <a16:creationId xmlns:a16="http://schemas.microsoft.com/office/drawing/2014/main" id="{D3C1BFA1-31B1-AC3C-7A73-FEA24C42B4D0}"/>
              </a:ext>
            </a:extLst>
          </p:cNvPr>
          <p:cNvPicPr>
            <a:picLocks noChangeAspect="1"/>
          </p:cNvPicPr>
          <p:nvPr/>
        </p:nvPicPr>
        <p:blipFill>
          <a:blip r:embed="rId3"/>
          <a:stretch>
            <a:fillRect/>
          </a:stretch>
        </p:blipFill>
        <p:spPr>
          <a:xfrm>
            <a:off x="2513156" y="123508"/>
            <a:ext cx="2559182" cy="5334274"/>
          </a:xfrm>
          <a:prstGeom prst="rect">
            <a:avLst/>
          </a:prstGeom>
        </p:spPr>
      </p:pic>
      <p:pic>
        <p:nvPicPr>
          <p:cNvPr id="9" name="Picture 8">
            <a:extLst>
              <a:ext uri="{FF2B5EF4-FFF2-40B4-BE49-F238E27FC236}">
                <a16:creationId xmlns:a16="http://schemas.microsoft.com/office/drawing/2014/main" id="{98E86F3E-6BC1-A0D9-601C-51E7590F0400}"/>
              </a:ext>
            </a:extLst>
          </p:cNvPr>
          <p:cNvPicPr>
            <a:picLocks noChangeAspect="1"/>
          </p:cNvPicPr>
          <p:nvPr/>
        </p:nvPicPr>
        <p:blipFill>
          <a:blip r:embed="rId4"/>
          <a:stretch>
            <a:fillRect/>
          </a:stretch>
        </p:blipFill>
        <p:spPr>
          <a:xfrm>
            <a:off x="5226824" y="3108161"/>
            <a:ext cx="2514729" cy="2349621"/>
          </a:xfrm>
          <a:prstGeom prst="rect">
            <a:avLst/>
          </a:prstGeom>
        </p:spPr>
      </p:pic>
    </p:spTree>
    <p:extLst>
      <p:ext uri="{BB962C8B-B14F-4D97-AF65-F5344CB8AC3E}">
        <p14:creationId xmlns:p14="http://schemas.microsoft.com/office/powerpoint/2010/main" val="3847549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94129-AAF2-5854-3E4D-088D271DFAFD}"/>
            </a:ext>
          </a:extLst>
        </p:cNvPr>
        <p:cNvGrpSpPr/>
        <p:nvPr/>
      </p:nvGrpSpPr>
      <p:grpSpPr>
        <a:xfrm>
          <a:off x="0" y="0"/>
          <a:ext cx="0" cy="0"/>
          <a:chOff x="0" y="0"/>
          <a:chExt cx="0" cy="0"/>
        </a:xfrm>
      </p:grpSpPr>
      <p:sp>
        <p:nvSpPr>
          <p:cNvPr id="33" name="Title 1">
            <a:extLst>
              <a:ext uri="{FF2B5EF4-FFF2-40B4-BE49-F238E27FC236}">
                <a16:creationId xmlns:a16="http://schemas.microsoft.com/office/drawing/2014/main" id="{96CC3497-1A17-0B56-73A5-D72364626C1D}"/>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Rules Engine</a:t>
            </a:r>
          </a:p>
        </p:txBody>
      </p:sp>
      <p:sp>
        <p:nvSpPr>
          <p:cNvPr id="3" name="Content Placeholder 2">
            <a:extLst>
              <a:ext uri="{FF2B5EF4-FFF2-40B4-BE49-F238E27FC236}">
                <a16:creationId xmlns:a16="http://schemas.microsoft.com/office/drawing/2014/main" id="{F8700283-1D0C-0530-A917-23598E40179C}"/>
              </a:ext>
            </a:extLst>
          </p:cNvPr>
          <p:cNvSpPr txBox="1">
            <a:spLocks/>
          </p:cNvSpPr>
          <p:nvPr/>
        </p:nvSpPr>
        <p:spPr>
          <a:xfrm>
            <a:off x="333954" y="678250"/>
            <a:ext cx="11322657"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latin typeface="Calibri" panose="020F0502020204030204" pitchFamily="34" charset="0"/>
                <a:ea typeface="Calibri" panose="020F0502020204030204" pitchFamily="34" charset="0"/>
                <a:cs typeface="Calibri" panose="020F0502020204030204" pitchFamily="34" charset="0"/>
              </a:rPr>
              <a:t>Divided into several layers</a:t>
            </a:r>
          </a:p>
        </p:txBody>
      </p:sp>
      <p:graphicFrame>
        <p:nvGraphicFramePr>
          <p:cNvPr id="4" name="Table 3">
            <a:extLst>
              <a:ext uri="{FF2B5EF4-FFF2-40B4-BE49-F238E27FC236}">
                <a16:creationId xmlns:a16="http://schemas.microsoft.com/office/drawing/2014/main" id="{7776C49A-E70E-9237-A872-01B9498FADFC}"/>
              </a:ext>
            </a:extLst>
          </p:cNvPr>
          <p:cNvGraphicFramePr>
            <a:graphicFrameLocks noGrp="1"/>
          </p:cNvGraphicFramePr>
          <p:nvPr>
            <p:extLst>
              <p:ext uri="{D42A27DB-BD31-4B8C-83A1-F6EECF244321}">
                <p14:modId xmlns:p14="http://schemas.microsoft.com/office/powerpoint/2010/main" val="3733325771"/>
              </p:ext>
            </p:extLst>
          </p:nvPr>
        </p:nvGraphicFramePr>
        <p:xfrm>
          <a:off x="535388" y="1002793"/>
          <a:ext cx="10195872" cy="4351337"/>
        </p:xfrm>
        <a:graphic>
          <a:graphicData uri="http://schemas.openxmlformats.org/drawingml/2006/table">
            <a:tbl>
              <a:tblPr>
                <a:tableStyleId>{5C22544A-7EE6-4342-B048-85BDC9FD1C3A}</a:tableStyleId>
              </a:tblPr>
              <a:tblGrid>
                <a:gridCol w="2207812">
                  <a:extLst>
                    <a:ext uri="{9D8B030D-6E8A-4147-A177-3AD203B41FA5}">
                      <a16:colId xmlns:a16="http://schemas.microsoft.com/office/drawing/2014/main" val="2447929367"/>
                    </a:ext>
                  </a:extLst>
                </a:gridCol>
                <a:gridCol w="2984740">
                  <a:extLst>
                    <a:ext uri="{9D8B030D-6E8A-4147-A177-3AD203B41FA5}">
                      <a16:colId xmlns:a16="http://schemas.microsoft.com/office/drawing/2014/main" val="3482689863"/>
                    </a:ext>
                  </a:extLst>
                </a:gridCol>
                <a:gridCol w="5003320">
                  <a:extLst>
                    <a:ext uri="{9D8B030D-6E8A-4147-A177-3AD203B41FA5}">
                      <a16:colId xmlns:a16="http://schemas.microsoft.com/office/drawing/2014/main" val="1931467856"/>
                    </a:ext>
                  </a:extLst>
                </a:gridCol>
              </a:tblGrid>
              <a:tr h="245146">
                <a:tc>
                  <a:txBody>
                    <a:bodyPr/>
                    <a:lstStyle/>
                    <a:p>
                      <a:pPr>
                        <a:buNone/>
                      </a:pPr>
                      <a:r>
                        <a:rPr lang="en-US" sz="1200" b="1"/>
                        <a:t>Rule layer</a:t>
                      </a:r>
                    </a:p>
                  </a:txBody>
                  <a:tcPr marL="61286" marR="61286" marT="30643" marB="30643" anchor="ctr"/>
                </a:tc>
                <a:tc>
                  <a:txBody>
                    <a:bodyPr/>
                    <a:lstStyle/>
                    <a:p>
                      <a:pPr>
                        <a:buNone/>
                      </a:pPr>
                      <a:r>
                        <a:rPr lang="en-US" sz="1200" b="1"/>
                        <a:t>Question it answers</a:t>
                      </a:r>
                    </a:p>
                  </a:txBody>
                  <a:tcPr marL="61286" marR="61286" marT="30643" marB="30643" anchor="ctr"/>
                </a:tc>
                <a:tc>
                  <a:txBody>
                    <a:bodyPr/>
                    <a:lstStyle/>
                    <a:p>
                      <a:pPr>
                        <a:buNone/>
                      </a:pPr>
                      <a:r>
                        <a:rPr lang="en-US" sz="1200" b="1" dirty="0"/>
                        <a:t>Example</a:t>
                      </a:r>
                    </a:p>
                  </a:txBody>
                  <a:tcPr marL="61286" marR="61286" marT="30643" marB="30643" anchor="ctr"/>
                </a:tc>
                <a:extLst>
                  <a:ext uri="{0D108BD9-81ED-4DB2-BD59-A6C34878D82A}">
                    <a16:rowId xmlns:a16="http://schemas.microsoft.com/office/drawing/2014/main" val="1640444437"/>
                  </a:ext>
                </a:extLst>
              </a:tr>
              <a:tr h="429005">
                <a:tc>
                  <a:txBody>
                    <a:bodyPr/>
                    <a:lstStyle/>
                    <a:p>
                      <a:pPr>
                        <a:buNone/>
                      </a:pPr>
                      <a:r>
                        <a:rPr lang="en-US" sz="1200"/>
                        <a:t>1. Safety / Eligibility</a:t>
                      </a:r>
                    </a:p>
                  </a:txBody>
                  <a:tcPr marL="61286" marR="61286" marT="30643" marB="30643" anchor="ctr"/>
                </a:tc>
                <a:tc>
                  <a:txBody>
                    <a:bodyPr/>
                    <a:lstStyle/>
                    <a:p>
                      <a:pPr>
                        <a:buNone/>
                      </a:pPr>
                      <a:r>
                        <a:rPr lang="en-US" sz="1200"/>
                        <a:t>What must we exclude?</a:t>
                      </a:r>
                    </a:p>
                  </a:txBody>
                  <a:tcPr marL="61286" marR="61286" marT="30643" marB="30643" anchor="ctr"/>
                </a:tc>
                <a:tc>
                  <a:txBody>
                    <a:bodyPr/>
                    <a:lstStyle/>
                    <a:p>
                      <a:pPr>
                        <a:buNone/>
                      </a:pPr>
                      <a:r>
                        <a:rPr lang="en-US" sz="1200"/>
                        <a:t>Active knee pain → exclude high-impact knee-dominant exercises</a:t>
                      </a:r>
                    </a:p>
                  </a:txBody>
                  <a:tcPr marL="61286" marR="61286" marT="30643" marB="30643" anchor="ctr"/>
                </a:tc>
                <a:extLst>
                  <a:ext uri="{0D108BD9-81ED-4DB2-BD59-A6C34878D82A}">
                    <a16:rowId xmlns:a16="http://schemas.microsoft.com/office/drawing/2014/main" val="346828353"/>
                  </a:ext>
                </a:extLst>
              </a:tr>
              <a:tr h="429005">
                <a:tc>
                  <a:txBody>
                    <a:bodyPr/>
                    <a:lstStyle/>
                    <a:p>
                      <a:pPr>
                        <a:buNone/>
                      </a:pPr>
                      <a:r>
                        <a:rPr lang="en-US" sz="1200"/>
                        <a:t>2. Readiness</a:t>
                      </a:r>
                    </a:p>
                  </a:txBody>
                  <a:tcPr marL="61286" marR="61286" marT="30643" marB="30643" anchor="ctr"/>
                </a:tc>
                <a:tc>
                  <a:txBody>
                    <a:bodyPr/>
                    <a:lstStyle/>
                    <a:p>
                      <a:pPr>
                        <a:buNone/>
                      </a:pPr>
                      <a:r>
                        <a:rPr lang="en-US" sz="1200"/>
                        <a:t>How hard should today's workout be?</a:t>
                      </a:r>
                    </a:p>
                  </a:txBody>
                  <a:tcPr marL="61286" marR="61286" marT="30643" marB="30643" anchor="ctr"/>
                </a:tc>
                <a:tc>
                  <a:txBody>
                    <a:bodyPr/>
                    <a:lstStyle/>
                    <a:p>
                      <a:pPr>
                        <a:buNone/>
                      </a:pPr>
                      <a:r>
                        <a:rPr lang="en-US" sz="1200"/>
                        <a:t>Poor sleep + low HRV → reduce intensity</a:t>
                      </a:r>
                    </a:p>
                  </a:txBody>
                  <a:tcPr marL="61286" marR="61286" marT="30643" marB="30643" anchor="ctr"/>
                </a:tc>
                <a:extLst>
                  <a:ext uri="{0D108BD9-81ED-4DB2-BD59-A6C34878D82A}">
                    <a16:rowId xmlns:a16="http://schemas.microsoft.com/office/drawing/2014/main" val="3949799925"/>
                  </a:ext>
                </a:extLst>
              </a:tr>
              <a:tr h="429005">
                <a:tc>
                  <a:txBody>
                    <a:bodyPr/>
                    <a:lstStyle/>
                    <a:p>
                      <a:pPr>
                        <a:buNone/>
                      </a:pPr>
                      <a:r>
                        <a:rPr lang="en-US" sz="1200"/>
                        <a:t>3. Goal</a:t>
                      </a:r>
                    </a:p>
                  </a:txBody>
                  <a:tcPr marL="61286" marR="61286" marT="30643" marB="30643" anchor="ctr"/>
                </a:tc>
                <a:tc>
                  <a:txBody>
                    <a:bodyPr/>
                    <a:lstStyle/>
                    <a:p>
                      <a:pPr>
                        <a:buNone/>
                      </a:pPr>
                      <a:r>
                        <a:rPr lang="en-US" sz="1200"/>
                        <a:t>What type of training is appropriate?</a:t>
                      </a:r>
                    </a:p>
                  </a:txBody>
                  <a:tcPr marL="61286" marR="61286" marT="30643" marB="30643" anchor="ctr"/>
                </a:tc>
                <a:tc>
                  <a:txBody>
                    <a:bodyPr/>
                    <a:lstStyle/>
                    <a:p>
                      <a:pPr>
                        <a:buNone/>
                      </a:pPr>
                      <a:r>
                        <a:rPr lang="en-US" sz="1200"/>
                        <a:t>Hypertrophy → greater resistance-training emphasis</a:t>
                      </a:r>
                    </a:p>
                  </a:txBody>
                  <a:tcPr marL="61286" marR="61286" marT="30643" marB="30643" anchor="ctr"/>
                </a:tc>
                <a:extLst>
                  <a:ext uri="{0D108BD9-81ED-4DB2-BD59-A6C34878D82A}">
                    <a16:rowId xmlns:a16="http://schemas.microsoft.com/office/drawing/2014/main" val="83583775"/>
                  </a:ext>
                </a:extLst>
              </a:tr>
              <a:tr h="429005">
                <a:tc>
                  <a:txBody>
                    <a:bodyPr/>
                    <a:lstStyle/>
                    <a:p>
                      <a:pPr>
                        <a:buNone/>
                      </a:pPr>
                      <a:r>
                        <a:rPr lang="en-US" sz="1200"/>
                        <a:t>4. Experience</a:t>
                      </a:r>
                    </a:p>
                  </a:txBody>
                  <a:tcPr marL="61286" marR="61286" marT="30643" marB="30643" anchor="ctr"/>
                </a:tc>
                <a:tc>
                  <a:txBody>
                    <a:bodyPr/>
                    <a:lstStyle/>
                    <a:p>
                      <a:pPr>
                        <a:buNone/>
                      </a:pPr>
                      <a:r>
                        <a:rPr lang="en-US" sz="1200"/>
                        <a:t>How complex can exercises be?</a:t>
                      </a:r>
                    </a:p>
                  </a:txBody>
                  <a:tcPr marL="61286" marR="61286" marT="30643" marB="30643" anchor="ctr"/>
                </a:tc>
                <a:tc>
                  <a:txBody>
                    <a:bodyPr/>
                    <a:lstStyle/>
                    <a:p>
                      <a:pPr>
                        <a:buNone/>
                      </a:pPr>
                      <a:r>
                        <a:rPr lang="en-US" sz="1200"/>
                        <a:t>Beginner → favor stable/simple movements</a:t>
                      </a:r>
                    </a:p>
                  </a:txBody>
                  <a:tcPr marL="61286" marR="61286" marT="30643" marB="30643" anchor="ctr"/>
                </a:tc>
                <a:extLst>
                  <a:ext uri="{0D108BD9-81ED-4DB2-BD59-A6C34878D82A}">
                    <a16:rowId xmlns:a16="http://schemas.microsoft.com/office/drawing/2014/main" val="1631451683"/>
                  </a:ext>
                </a:extLst>
              </a:tr>
              <a:tr h="429005">
                <a:tc>
                  <a:txBody>
                    <a:bodyPr/>
                    <a:lstStyle/>
                    <a:p>
                      <a:pPr>
                        <a:buNone/>
                      </a:pPr>
                      <a:r>
                        <a:rPr lang="en-US" sz="1200"/>
                        <a:t>5. Training Environment</a:t>
                      </a:r>
                    </a:p>
                  </a:txBody>
                  <a:tcPr marL="61286" marR="61286" marT="30643" marB="30643" anchor="ctr"/>
                </a:tc>
                <a:tc>
                  <a:txBody>
                    <a:bodyPr/>
                    <a:lstStyle/>
                    <a:p>
                      <a:pPr>
                        <a:buNone/>
                      </a:pPr>
                      <a:r>
                        <a:rPr lang="en-US" sz="1200"/>
                        <a:t>What can the user actually perform?</a:t>
                      </a:r>
                    </a:p>
                  </a:txBody>
                  <a:tcPr marL="61286" marR="61286" marT="30643" marB="30643" anchor="ctr"/>
                </a:tc>
                <a:tc>
                  <a:txBody>
                    <a:bodyPr/>
                    <a:lstStyle/>
                    <a:p>
                      <a:pPr>
                        <a:buNone/>
                      </a:pPr>
                      <a:r>
                        <a:rPr lang="en-US" sz="1200"/>
                        <a:t>Hotel room → bodyweight/band exercises</a:t>
                      </a:r>
                    </a:p>
                  </a:txBody>
                  <a:tcPr marL="61286" marR="61286" marT="30643" marB="30643" anchor="ctr"/>
                </a:tc>
                <a:extLst>
                  <a:ext uri="{0D108BD9-81ED-4DB2-BD59-A6C34878D82A}">
                    <a16:rowId xmlns:a16="http://schemas.microsoft.com/office/drawing/2014/main" val="605823942"/>
                  </a:ext>
                </a:extLst>
              </a:tr>
              <a:tr h="429005">
                <a:tc>
                  <a:txBody>
                    <a:bodyPr/>
                    <a:lstStyle/>
                    <a:p>
                      <a:pPr>
                        <a:buNone/>
                      </a:pPr>
                      <a:r>
                        <a:rPr lang="en-US" sz="1200"/>
                        <a:t>6. Workout Allocation</a:t>
                      </a:r>
                    </a:p>
                  </a:txBody>
                  <a:tcPr marL="61286" marR="61286" marT="30643" marB="30643" anchor="ctr"/>
                </a:tc>
                <a:tc>
                  <a:txBody>
                    <a:bodyPr/>
                    <a:lstStyle/>
                    <a:p>
                      <a:pPr>
                        <a:buNone/>
                      </a:pPr>
                      <a:r>
                        <a:rPr lang="en-US" sz="1200"/>
                        <a:t>Upper/lower/core/full body?</a:t>
                      </a:r>
                    </a:p>
                  </a:txBody>
                  <a:tcPr marL="61286" marR="61286" marT="30643" marB="30643" anchor="ctr"/>
                </a:tc>
                <a:tc>
                  <a:txBody>
                    <a:bodyPr/>
                    <a:lstStyle/>
                    <a:p>
                      <a:pPr>
                        <a:buNone/>
                      </a:pPr>
                      <a:r>
                        <a:rPr lang="en-US" sz="1200"/>
                        <a:t>Recent chest workout → decrease chest priority</a:t>
                      </a:r>
                    </a:p>
                  </a:txBody>
                  <a:tcPr marL="61286" marR="61286" marT="30643" marB="30643" anchor="ctr"/>
                </a:tc>
                <a:extLst>
                  <a:ext uri="{0D108BD9-81ED-4DB2-BD59-A6C34878D82A}">
                    <a16:rowId xmlns:a16="http://schemas.microsoft.com/office/drawing/2014/main" val="2379149463"/>
                  </a:ext>
                </a:extLst>
              </a:tr>
              <a:tr h="429005">
                <a:tc>
                  <a:txBody>
                    <a:bodyPr/>
                    <a:lstStyle/>
                    <a:p>
                      <a:pPr>
                        <a:buNone/>
                      </a:pPr>
                      <a:r>
                        <a:rPr lang="en-US" sz="1200"/>
                        <a:t>7. Movement Pattern</a:t>
                      </a:r>
                    </a:p>
                  </a:txBody>
                  <a:tcPr marL="61286" marR="61286" marT="30643" marB="30643" anchor="ctr"/>
                </a:tc>
                <a:tc>
                  <a:txBody>
                    <a:bodyPr/>
                    <a:lstStyle/>
                    <a:p>
                      <a:pPr>
                        <a:buNone/>
                      </a:pPr>
                      <a:r>
                        <a:rPr lang="en-US" sz="1200"/>
                        <a:t>What movement families are required?</a:t>
                      </a:r>
                    </a:p>
                  </a:txBody>
                  <a:tcPr marL="61286" marR="61286" marT="30643" marB="30643" anchor="ctr"/>
                </a:tc>
                <a:tc>
                  <a:txBody>
                    <a:bodyPr/>
                    <a:lstStyle/>
                    <a:p>
                      <a:pPr>
                        <a:buNone/>
                      </a:pPr>
                      <a:r>
                        <a:rPr lang="en-US" sz="1200"/>
                        <a:t>Full body → squat + hinge + push + pull + core</a:t>
                      </a:r>
                    </a:p>
                  </a:txBody>
                  <a:tcPr marL="61286" marR="61286" marT="30643" marB="30643" anchor="ctr"/>
                </a:tc>
                <a:extLst>
                  <a:ext uri="{0D108BD9-81ED-4DB2-BD59-A6C34878D82A}">
                    <a16:rowId xmlns:a16="http://schemas.microsoft.com/office/drawing/2014/main" val="3170518794"/>
                  </a:ext>
                </a:extLst>
              </a:tr>
              <a:tr h="245146">
                <a:tc>
                  <a:txBody>
                    <a:bodyPr/>
                    <a:lstStyle/>
                    <a:p>
                      <a:pPr>
                        <a:buNone/>
                      </a:pPr>
                      <a:r>
                        <a:rPr lang="en-US" sz="1200"/>
                        <a:t>8. Exercise Selection</a:t>
                      </a:r>
                    </a:p>
                  </a:txBody>
                  <a:tcPr marL="61286" marR="61286" marT="30643" marB="30643" anchor="ctr"/>
                </a:tc>
                <a:tc>
                  <a:txBody>
                    <a:bodyPr/>
                    <a:lstStyle/>
                    <a:p>
                      <a:pPr>
                        <a:buNone/>
                      </a:pPr>
                      <a:r>
                        <a:rPr lang="en-US" sz="1200"/>
                        <a:t>Which catalog entries qualify?</a:t>
                      </a:r>
                    </a:p>
                  </a:txBody>
                  <a:tcPr marL="61286" marR="61286" marT="30643" marB="30643" anchor="ctr"/>
                </a:tc>
                <a:tc>
                  <a:txBody>
                    <a:bodyPr/>
                    <a:lstStyle/>
                    <a:p>
                      <a:pPr>
                        <a:buNone/>
                      </a:pPr>
                      <a:r>
                        <a:rPr lang="en-US" sz="1200"/>
                        <a:t>Filter catalog using metadata</a:t>
                      </a:r>
                    </a:p>
                  </a:txBody>
                  <a:tcPr marL="61286" marR="61286" marT="30643" marB="30643" anchor="ctr"/>
                </a:tc>
                <a:extLst>
                  <a:ext uri="{0D108BD9-81ED-4DB2-BD59-A6C34878D82A}">
                    <a16:rowId xmlns:a16="http://schemas.microsoft.com/office/drawing/2014/main" val="3661021879"/>
                  </a:ext>
                </a:extLst>
              </a:tr>
              <a:tr h="429005">
                <a:tc>
                  <a:txBody>
                    <a:bodyPr/>
                    <a:lstStyle/>
                    <a:p>
                      <a:pPr>
                        <a:buNone/>
                      </a:pPr>
                      <a:r>
                        <a:rPr lang="en-US" sz="1200"/>
                        <a:t>9. Exercise Scoring</a:t>
                      </a:r>
                    </a:p>
                  </a:txBody>
                  <a:tcPr marL="61286" marR="61286" marT="30643" marB="30643" anchor="ctr"/>
                </a:tc>
                <a:tc>
                  <a:txBody>
                    <a:bodyPr/>
                    <a:lstStyle/>
                    <a:p>
                      <a:pPr>
                        <a:buNone/>
                      </a:pPr>
                      <a:r>
                        <a:rPr lang="en-US" sz="1200"/>
                        <a:t>Which qualified exercises are best?</a:t>
                      </a:r>
                    </a:p>
                  </a:txBody>
                  <a:tcPr marL="61286" marR="61286" marT="30643" marB="30643" anchor="ctr"/>
                </a:tc>
                <a:tc>
                  <a:txBody>
                    <a:bodyPr/>
                    <a:lstStyle/>
                    <a:p>
                      <a:pPr>
                        <a:buNone/>
                      </a:pPr>
                      <a:r>
                        <a:rPr lang="en-US" sz="1200"/>
                        <a:t>Goal match + equipment + skill + recovery</a:t>
                      </a:r>
                    </a:p>
                  </a:txBody>
                  <a:tcPr marL="61286" marR="61286" marT="30643" marB="30643" anchor="ctr"/>
                </a:tc>
                <a:extLst>
                  <a:ext uri="{0D108BD9-81ED-4DB2-BD59-A6C34878D82A}">
                    <a16:rowId xmlns:a16="http://schemas.microsoft.com/office/drawing/2014/main" val="3448939848"/>
                  </a:ext>
                </a:extLst>
              </a:tr>
              <a:tr h="429005">
                <a:tc>
                  <a:txBody>
                    <a:bodyPr/>
                    <a:lstStyle/>
                    <a:p>
                      <a:pPr>
                        <a:buNone/>
                      </a:pPr>
                      <a:r>
                        <a:rPr lang="en-US" sz="1200"/>
                        <a:t>10. Workout Construction</a:t>
                      </a:r>
                    </a:p>
                  </a:txBody>
                  <a:tcPr marL="61286" marR="61286" marT="30643" marB="30643" anchor="ctr"/>
                </a:tc>
                <a:tc>
                  <a:txBody>
                    <a:bodyPr/>
                    <a:lstStyle/>
                    <a:p>
                      <a:pPr>
                        <a:buNone/>
                      </a:pPr>
                      <a:r>
                        <a:rPr lang="en-US" sz="1200"/>
                        <a:t>How should they be arranged?</a:t>
                      </a:r>
                    </a:p>
                  </a:txBody>
                  <a:tcPr marL="61286" marR="61286" marT="30643" marB="30643" anchor="ctr"/>
                </a:tc>
                <a:tc>
                  <a:txBody>
                    <a:bodyPr/>
                    <a:lstStyle/>
                    <a:p>
                      <a:pPr>
                        <a:buNone/>
                      </a:pPr>
                      <a:r>
                        <a:rPr lang="en-US" sz="1200" dirty="0"/>
                        <a:t>Warm-up → stability → strength → power → cooldown</a:t>
                      </a:r>
                    </a:p>
                  </a:txBody>
                  <a:tcPr marL="61286" marR="61286" marT="30643" marB="30643" anchor="ctr"/>
                </a:tc>
                <a:extLst>
                  <a:ext uri="{0D108BD9-81ED-4DB2-BD59-A6C34878D82A}">
                    <a16:rowId xmlns:a16="http://schemas.microsoft.com/office/drawing/2014/main" val="2229471983"/>
                  </a:ext>
                </a:extLst>
              </a:tr>
            </a:tbl>
          </a:graphicData>
        </a:graphic>
      </p:graphicFrame>
    </p:spTree>
    <p:extLst>
      <p:ext uri="{BB962C8B-B14F-4D97-AF65-F5344CB8AC3E}">
        <p14:creationId xmlns:p14="http://schemas.microsoft.com/office/powerpoint/2010/main" val="1510575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4C644-DC1A-1711-B286-1CF448918C3C}"/>
            </a:ext>
          </a:extLst>
        </p:cNvPr>
        <p:cNvGrpSpPr/>
        <p:nvPr/>
      </p:nvGrpSpPr>
      <p:grpSpPr>
        <a:xfrm>
          <a:off x="0" y="0"/>
          <a:ext cx="0" cy="0"/>
          <a:chOff x="0" y="0"/>
          <a:chExt cx="0" cy="0"/>
        </a:xfrm>
      </p:grpSpPr>
      <p:sp>
        <p:nvSpPr>
          <p:cNvPr id="33" name="Title 1">
            <a:extLst>
              <a:ext uri="{FF2B5EF4-FFF2-40B4-BE49-F238E27FC236}">
                <a16:creationId xmlns:a16="http://schemas.microsoft.com/office/drawing/2014/main" id="{8ED4918D-7E55-E5A9-C3DE-B2CAE736CD00}"/>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Rules Engine</a:t>
            </a:r>
          </a:p>
        </p:txBody>
      </p:sp>
      <p:sp>
        <p:nvSpPr>
          <p:cNvPr id="3" name="Content Placeholder 2">
            <a:extLst>
              <a:ext uri="{FF2B5EF4-FFF2-40B4-BE49-F238E27FC236}">
                <a16:creationId xmlns:a16="http://schemas.microsoft.com/office/drawing/2014/main" id="{C03400C7-0800-8482-B622-07F8CE582CAF}"/>
              </a:ext>
            </a:extLst>
          </p:cNvPr>
          <p:cNvSpPr txBox="1">
            <a:spLocks/>
          </p:cNvSpPr>
          <p:nvPr/>
        </p:nvSpPr>
        <p:spPr>
          <a:xfrm>
            <a:off x="92419" y="1002793"/>
            <a:ext cx="2469628"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latin typeface="Calibri" panose="020F0502020204030204" pitchFamily="34" charset="0"/>
                <a:ea typeface="Calibri" panose="020F0502020204030204" pitchFamily="34" charset="0"/>
                <a:cs typeface="Calibri" panose="020F0502020204030204" pitchFamily="34" charset="0"/>
              </a:rPr>
              <a:t>Example:</a:t>
            </a:r>
          </a:p>
        </p:txBody>
      </p:sp>
      <p:sp>
        <p:nvSpPr>
          <p:cNvPr id="5" name="TextBox 4">
            <a:extLst>
              <a:ext uri="{FF2B5EF4-FFF2-40B4-BE49-F238E27FC236}">
                <a16:creationId xmlns:a16="http://schemas.microsoft.com/office/drawing/2014/main" id="{A12FD7FD-0854-CD96-90A0-BFB37DF0B321}"/>
              </a:ext>
            </a:extLst>
          </p:cNvPr>
          <p:cNvSpPr txBox="1"/>
          <p:nvPr/>
        </p:nvSpPr>
        <p:spPr>
          <a:xfrm>
            <a:off x="152800" y="1327336"/>
            <a:ext cx="2409246" cy="1631216"/>
          </a:xfrm>
          <a:prstGeom prst="rect">
            <a:avLst/>
          </a:prstGeom>
          <a:noFill/>
          <a:ln>
            <a:solidFill>
              <a:schemeClr val="tx1"/>
            </a:solidFill>
          </a:ln>
        </p:spPr>
        <p:txBody>
          <a:bodyPr wrap="square">
            <a:spAutoFit/>
          </a:bodyPr>
          <a:lstStyle/>
          <a:p>
            <a:r>
              <a:rPr lang="en-US" sz="1000" dirty="0">
                <a:latin typeface="Calibri" panose="020F0502020204030204" pitchFamily="34" charset="0"/>
                <a:ea typeface="Calibri" panose="020F0502020204030204" pitchFamily="34" charset="0"/>
                <a:cs typeface="Calibri" panose="020F0502020204030204" pitchFamily="34" charset="0"/>
              </a:rPr>
              <a:t>Age: 45</a:t>
            </a:r>
          </a:p>
          <a:p>
            <a:r>
              <a:rPr lang="en-US" sz="1000" dirty="0">
                <a:latin typeface="Calibri" panose="020F0502020204030204" pitchFamily="34" charset="0"/>
                <a:ea typeface="Calibri" panose="020F0502020204030204" pitchFamily="34" charset="0"/>
                <a:cs typeface="Calibri" panose="020F0502020204030204" pitchFamily="34" charset="0"/>
              </a:rPr>
              <a:t>Experience: Beginner</a:t>
            </a:r>
          </a:p>
          <a:p>
            <a:r>
              <a:rPr lang="en-US" sz="1000" dirty="0">
                <a:latin typeface="Calibri" panose="020F0502020204030204" pitchFamily="34" charset="0"/>
                <a:ea typeface="Calibri" panose="020F0502020204030204" pitchFamily="34" charset="0"/>
                <a:cs typeface="Calibri" panose="020F0502020204030204" pitchFamily="34" charset="0"/>
              </a:rPr>
              <a:t>Goal: Weight Loss</a:t>
            </a:r>
          </a:p>
          <a:p>
            <a:r>
              <a:rPr lang="en-US" sz="1000" dirty="0">
                <a:latin typeface="Calibri" panose="020F0502020204030204" pitchFamily="34" charset="0"/>
                <a:ea typeface="Calibri" panose="020F0502020204030204" pitchFamily="34" charset="0"/>
                <a:cs typeface="Calibri" panose="020F0502020204030204" pitchFamily="34" charset="0"/>
              </a:rPr>
              <a:t>Environment: Home</a:t>
            </a:r>
          </a:p>
          <a:p>
            <a:r>
              <a:rPr lang="en-US" sz="1000" dirty="0">
                <a:latin typeface="Calibri" panose="020F0502020204030204" pitchFamily="34" charset="0"/>
                <a:ea typeface="Calibri" panose="020F0502020204030204" pitchFamily="34" charset="0"/>
                <a:cs typeface="Calibri" panose="020F0502020204030204" pitchFamily="34" charset="0"/>
              </a:rPr>
              <a:t>Equipment: Resistance Bands</a:t>
            </a:r>
          </a:p>
          <a:p>
            <a:r>
              <a:rPr lang="en-US" sz="1000" dirty="0">
                <a:latin typeface="Calibri" panose="020F0502020204030204" pitchFamily="34" charset="0"/>
                <a:ea typeface="Calibri" panose="020F0502020204030204" pitchFamily="34" charset="0"/>
                <a:cs typeface="Calibri" panose="020F0502020204030204" pitchFamily="34" charset="0"/>
              </a:rPr>
              <a:t>Knee Pain: Mild</a:t>
            </a:r>
          </a:p>
          <a:p>
            <a:r>
              <a:rPr lang="en-US" sz="1000" dirty="0">
                <a:latin typeface="Calibri" panose="020F0502020204030204" pitchFamily="34" charset="0"/>
                <a:ea typeface="Calibri" panose="020F0502020204030204" pitchFamily="34" charset="0"/>
                <a:cs typeface="Calibri" panose="020F0502020204030204" pitchFamily="34" charset="0"/>
              </a:rPr>
              <a:t>Sleep: 5.5 hours</a:t>
            </a:r>
          </a:p>
          <a:p>
            <a:r>
              <a:rPr lang="en-US" sz="1000" dirty="0">
                <a:latin typeface="Calibri" panose="020F0502020204030204" pitchFamily="34" charset="0"/>
                <a:ea typeface="Calibri" panose="020F0502020204030204" pitchFamily="34" charset="0"/>
                <a:cs typeface="Calibri" panose="020F0502020204030204" pitchFamily="34" charset="0"/>
              </a:rPr>
              <a:t>HRV: 18% below baseline</a:t>
            </a:r>
          </a:p>
          <a:p>
            <a:r>
              <a:rPr lang="en-US" sz="1000" dirty="0">
                <a:latin typeface="Calibri" panose="020F0502020204030204" pitchFamily="34" charset="0"/>
                <a:ea typeface="Calibri" panose="020F0502020204030204" pitchFamily="34" charset="0"/>
                <a:cs typeface="Calibri" panose="020F0502020204030204" pitchFamily="34" charset="0"/>
              </a:rPr>
              <a:t>Last Workout: Lower Body Yesterday</a:t>
            </a:r>
          </a:p>
          <a:p>
            <a:r>
              <a:rPr lang="en-US" sz="1000" dirty="0">
                <a:latin typeface="Calibri" panose="020F0502020204030204" pitchFamily="34" charset="0"/>
                <a:ea typeface="Calibri" panose="020F0502020204030204" pitchFamily="34" charset="0"/>
                <a:cs typeface="Calibri" panose="020F0502020204030204" pitchFamily="34" charset="0"/>
              </a:rPr>
              <a:t>Available Time: 30 minutes</a:t>
            </a:r>
          </a:p>
        </p:txBody>
      </p:sp>
      <p:sp>
        <p:nvSpPr>
          <p:cNvPr id="7" name="TextBox 6">
            <a:extLst>
              <a:ext uri="{FF2B5EF4-FFF2-40B4-BE49-F238E27FC236}">
                <a16:creationId xmlns:a16="http://schemas.microsoft.com/office/drawing/2014/main" id="{519D5984-9E4C-CD7D-F60B-31D4D41B4FC7}"/>
              </a:ext>
            </a:extLst>
          </p:cNvPr>
          <p:cNvSpPr txBox="1"/>
          <p:nvPr/>
        </p:nvSpPr>
        <p:spPr>
          <a:xfrm>
            <a:off x="92419" y="633461"/>
            <a:ext cx="6124754" cy="276999"/>
          </a:xfrm>
          <a:prstGeom prst="rect">
            <a:avLst/>
          </a:prstGeom>
          <a:noFill/>
        </p:spPr>
        <p:txBody>
          <a:bodyPr wrap="square">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Fitakha should deterministically reason first</a:t>
            </a:r>
          </a:p>
        </p:txBody>
      </p:sp>
      <p:sp>
        <p:nvSpPr>
          <p:cNvPr id="8" name="Arrow: Right 7">
            <a:extLst>
              <a:ext uri="{FF2B5EF4-FFF2-40B4-BE49-F238E27FC236}">
                <a16:creationId xmlns:a16="http://schemas.microsoft.com/office/drawing/2014/main" id="{3208FC06-44D2-2663-326C-F1FDBEF5F8EB}"/>
              </a:ext>
            </a:extLst>
          </p:cNvPr>
          <p:cNvSpPr/>
          <p:nvPr/>
        </p:nvSpPr>
        <p:spPr>
          <a:xfrm>
            <a:off x="2562046" y="2039427"/>
            <a:ext cx="552286" cy="207034"/>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0E3281A4-05F7-BABA-7B47-C4362CB3CC68}"/>
              </a:ext>
            </a:extLst>
          </p:cNvPr>
          <p:cNvSpPr/>
          <p:nvPr/>
        </p:nvSpPr>
        <p:spPr>
          <a:xfrm>
            <a:off x="3372928" y="836623"/>
            <a:ext cx="3674853" cy="713233"/>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Step1 – Safety</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Knee pain</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remove high-impact plyometrics </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remove exercises exceeding allowed knee-load classification</a:t>
            </a:r>
          </a:p>
        </p:txBody>
      </p:sp>
      <p:sp>
        <p:nvSpPr>
          <p:cNvPr id="11" name="Rectangle 10">
            <a:extLst>
              <a:ext uri="{FF2B5EF4-FFF2-40B4-BE49-F238E27FC236}">
                <a16:creationId xmlns:a16="http://schemas.microsoft.com/office/drawing/2014/main" id="{D5B465EB-DB5F-B9FD-699F-9CBBA4A5F225}"/>
              </a:ext>
            </a:extLst>
          </p:cNvPr>
          <p:cNvSpPr/>
          <p:nvPr/>
        </p:nvSpPr>
        <p:spPr>
          <a:xfrm>
            <a:off x="3372927" y="1751023"/>
            <a:ext cx="3674853" cy="713233"/>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Step2 – Readiness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Poor </a:t>
            </a:r>
            <a:r>
              <a:rPr lang="en-US" sz="1000" dirty="0" err="1">
                <a:solidFill>
                  <a:schemeClr val="tx1"/>
                </a:solidFill>
                <a:latin typeface="Calibri" panose="020F0502020204030204" pitchFamily="34" charset="0"/>
                <a:ea typeface="Calibri" panose="020F0502020204030204" pitchFamily="34" charset="0"/>
                <a:cs typeface="Calibri" panose="020F0502020204030204" pitchFamily="34" charset="0"/>
              </a:rPr>
              <a:t>sleep+HRV</a:t>
            </a: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below baseline</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LOW/MODERATE readiness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intensity ceiling = MODERATE</a:t>
            </a:r>
          </a:p>
        </p:txBody>
      </p:sp>
      <p:sp>
        <p:nvSpPr>
          <p:cNvPr id="13" name="Rectangle 12">
            <a:extLst>
              <a:ext uri="{FF2B5EF4-FFF2-40B4-BE49-F238E27FC236}">
                <a16:creationId xmlns:a16="http://schemas.microsoft.com/office/drawing/2014/main" id="{5347F3F7-1E5C-103D-CBF1-5086C82ECFCD}"/>
              </a:ext>
            </a:extLst>
          </p:cNvPr>
          <p:cNvSpPr/>
          <p:nvPr/>
        </p:nvSpPr>
        <p:spPr>
          <a:xfrm>
            <a:off x="3372926" y="2634510"/>
            <a:ext cx="3674853" cy="596663"/>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Step3 – Recent Training</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Lower body performed yesterday</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reduce lower-body training load</a:t>
            </a:r>
          </a:p>
        </p:txBody>
      </p:sp>
      <p:sp>
        <p:nvSpPr>
          <p:cNvPr id="15" name="Rectangle 14">
            <a:extLst>
              <a:ext uri="{FF2B5EF4-FFF2-40B4-BE49-F238E27FC236}">
                <a16:creationId xmlns:a16="http://schemas.microsoft.com/office/drawing/2014/main" id="{33270559-D078-0698-825B-6B840ACFA6C8}"/>
              </a:ext>
            </a:extLst>
          </p:cNvPr>
          <p:cNvSpPr/>
          <p:nvPr/>
        </p:nvSpPr>
        <p:spPr>
          <a:xfrm>
            <a:off x="3372925" y="3401427"/>
            <a:ext cx="3674853" cy="596663"/>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Step4 – Goal</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WEIGHT_LOSS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favor full-body / metabolic resistance training</a:t>
            </a:r>
          </a:p>
        </p:txBody>
      </p:sp>
      <p:sp>
        <p:nvSpPr>
          <p:cNvPr id="17" name="Rectangle 16">
            <a:extLst>
              <a:ext uri="{FF2B5EF4-FFF2-40B4-BE49-F238E27FC236}">
                <a16:creationId xmlns:a16="http://schemas.microsoft.com/office/drawing/2014/main" id="{10CA1F07-9F1F-C107-A351-E11813D7C610}"/>
              </a:ext>
            </a:extLst>
          </p:cNvPr>
          <p:cNvSpPr/>
          <p:nvPr/>
        </p:nvSpPr>
        <p:spPr>
          <a:xfrm>
            <a:off x="3372924" y="4178378"/>
            <a:ext cx="3674853" cy="713233"/>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Step 5 — Equipment</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HOME</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Resistance bands available</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BODYWEIGHT + BAND exercises</a:t>
            </a:r>
          </a:p>
        </p:txBody>
      </p:sp>
      <p:sp>
        <p:nvSpPr>
          <p:cNvPr id="19" name="Rectangle 18">
            <a:extLst>
              <a:ext uri="{FF2B5EF4-FFF2-40B4-BE49-F238E27FC236}">
                <a16:creationId xmlns:a16="http://schemas.microsoft.com/office/drawing/2014/main" id="{DC3CB82E-67E5-2A0D-9C1C-2A5128337100}"/>
              </a:ext>
            </a:extLst>
          </p:cNvPr>
          <p:cNvSpPr/>
          <p:nvPr/>
        </p:nvSpPr>
        <p:spPr>
          <a:xfrm>
            <a:off x="3372924" y="5071899"/>
            <a:ext cx="3674853" cy="1152640"/>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Step 6 — Exercise Catalog query</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err="1">
                <a:solidFill>
                  <a:schemeClr val="tx1"/>
                </a:solidFill>
                <a:latin typeface="Calibri" panose="020F0502020204030204" pitchFamily="34" charset="0"/>
                <a:ea typeface="Calibri" panose="020F0502020204030204" pitchFamily="34" charset="0"/>
                <a:cs typeface="Calibri" panose="020F0502020204030204" pitchFamily="34" charset="0"/>
              </a:rPr>
              <a:t>training_goal</a:t>
            </a: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 = WEIGHT_LOSS</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equipment ∈ [BODYWEIGHT, RESISTANCE_BAND]</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difficulty ∈ [BEGINNER]</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impact != HIGH</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contraindication != KNEE_PAIN</a:t>
            </a:r>
            <a:b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intensity &lt;= MODERATE</a:t>
            </a:r>
          </a:p>
        </p:txBody>
      </p:sp>
      <p:cxnSp>
        <p:nvCxnSpPr>
          <p:cNvPr id="22" name="Straight Arrow Connector 21">
            <a:extLst>
              <a:ext uri="{FF2B5EF4-FFF2-40B4-BE49-F238E27FC236}">
                <a16:creationId xmlns:a16="http://schemas.microsoft.com/office/drawing/2014/main" id="{3AB93CA4-024E-CCCC-A854-00E3D65F03F3}"/>
              </a:ext>
            </a:extLst>
          </p:cNvPr>
          <p:cNvCxnSpPr>
            <a:stCxn id="9" idx="2"/>
            <a:endCxn id="11" idx="0"/>
          </p:cNvCxnSpPr>
          <p:nvPr/>
        </p:nvCxnSpPr>
        <p:spPr>
          <a:xfrm flipH="1">
            <a:off x="5210354" y="1549856"/>
            <a:ext cx="1" cy="20116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282BEF2-5901-AA77-6757-3A8A4B4AC47D}"/>
              </a:ext>
            </a:extLst>
          </p:cNvPr>
          <p:cNvCxnSpPr>
            <a:cxnSpLocks/>
            <a:stCxn id="11" idx="2"/>
            <a:endCxn id="13" idx="0"/>
          </p:cNvCxnSpPr>
          <p:nvPr/>
        </p:nvCxnSpPr>
        <p:spPr>
          <a:xfrm flipH="1">
            <a:off x="5210353" y="2464256"/>
            <a:ext cx="1" cy="1702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5BED78A-0B68-55A2-4651-71550339FFCC}"/>
              </a:ext>
            </a:extLst>
          </p:cNvPr>
          <p:cNvCxnSpPr>
            <a:cxnSpLocks/>
            <a:stCxn id="13" idx="2"/>
            <a:endCxn id="15" idx="0"/>
          </p:cNvCxnSpPr>
          <p:nvPr/>
        </p:nvCxnSpPr>
        <p:spPr>
          <a:xfrm flipH="1">
            <a:off x="5210352" y="3231173"/>
            <a:ext cx="1" cy="1702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9A0E251-C6DE-D06D-8CA6-0B5685B433A5}"/>
              </a:ext>
            </a:extLst>
          </p:cNvPr>
          <p:cNvCxnSpPr>
            <a:cxnSpLocks/>
            <a:stCxn id="15" idx="2"/>
            <a:endCxn id="17" idx="0"/>
          </p:cNvCxnSpPr>
          <p:nvPr/>
        </p:nvCxnSpPr>
        <p:spPr>
          <a:xfrm flipH="1">
            <a:off x="5210351" y="3998090"/>
            <a:ext cx="1" cy="18028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40BC484-3C48-B236-0E86-E3D0CF78A84C}"/>
              </a:ext>
            </a:extLst>
          </p:cNvPr>
          <p:cNvCxnSpPr>
            <a:cxnSpLocks/>
            <a:stCxn id="17" idx="2"/>
            <a:endCxn id="19" idx="0"/>
          </p:cNvCxnSpPr>
          <p:nvPr/>
        </p:nvCxnSpPr>
        <p:spPr>
          <a:xfrm>
            <a:off x="5210351" y="4891611"/>
            <a:ext cx="0" cy="18028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7D21FD3-6710-AFCF-7770-12CAF1C3AAB1}"/>
              </a:ext>
            </a:extLst>
          </p:cNvPr>
          <p:cNvSpPr txBox="1"/>
          <p:nvPr/>
        </p:nvSpPr>
        <p:spPr>
          <a:xfrm>
            <a:off x="3275706" y="4837861"/>
            <a:ext cx="1466218" cy="461665"/>
          </a:xfrm>
          <a:prstGeom prst="rect">
            <a:avLst/>
          </a:prstGeom>
          <a:noFill/>
        </p:spPr>
        <p:txBody>
          <a:bodyPr wrap="square">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Engine will search:</a:t>
            </a:r>
          </a:p>
        </p:txBody>
      </p:sp>
      <p:sp>
        <p:nvSpPr>
          <p:cNvPr id="40" name="TextBox 39">
            <a:extLst>
              <a:ext uri="{FF2B5EF4-FFF2-40B4-BE49-F238E27FC236}">
                <a16:creationId xmlns:a16="http://schemas.microsoft.com/office/drawing/2014/main" id="{7823449A-55E2-B2BE-6A28-BBA1043D4DE9}"/>
              </a:ext>
            </a:extLst>
          </p:cNvPr>
          <p:cNvSpPr txBox="1"/>
          <p:nvPr/>
        </p:nvSpPr>
        <p:spPr>
          <a:xfrm>
            <a:off x="7789373" y="1666747"/>
            <a:ext cx="2484958" cy="2123658"/>
          </a:xfrm>
          <a:prstGeom prst="rect">
            <a:avLst/>
          </a:prstGeom>
          <a:noFill/>
          <a:ln>
            <a:solidFill>
              <a:schemeClr val="bg1">
                <a:lumMod val="75000"/>
              </a:schemeClr>
            </a:solidFill>
          </a:ln>
        </p:spPr>
        <p:txBody>
          <a:bodyPr wrap="square">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1,000</a:t>
            </a:r>
          </a:p>
          <a:p>
            <a:r>
              <a:rPr lang="en-US" sz="1200" dirty="0">
                <a:latin typeface="Calibri" panose="020F0502020204030204" pitchFamily="34" charset="0"/>
                <a:ea typeface="Calibri" panose="020F0502020204030204" pitchFamily="34" charset="0"/>
                <a:cs typeface="Calibri" panose="020F0502020204030204" pitchFamily="34" charset="0"/>
              </a:rPr>
              <a:t>  ↓ safety</a:t>
            </a:r>
          </a:p>
          <a:p>
            <a:r>
              <a:rPr lang="en-US" sz="1200" dirty="0">
                <a:latin typeface="Calibri" panose="020F0502020204030204" pitchFamily="34" charset="0"/>
                <a:ea typeface="Calibri" panose="020F0502020204030204" pitchFamily="34" charset="0"/>
                <a:cs typeface="Calibri" panose="020F0502020204030204" pitchFamily="34" charset="0"/>
              </a:rPr>
              <a:t>650</a:t>
            </a:r>
          </a:p>
          <a:p>
            <a:r>
              <a:rPr lang="en-US" sz="1200" dirty="0">
                <a:latin typeface="Calibri" panose="020F0502020204030204" pitchFamily="34" charset="0"/>
                <a:ea typeface="Calibri" panose="020F0502020204030204" pitchFamily="34" charset="0"/>
                <a:cs typeface="Calibri" panose="020F0502020204030204" pitchFamily="34" charset="0"/>
              </a:rPr>
              <a:t>  ↓ equipment</a:t>
            </a:r>
          </a:p>
          <a:p>
            <a:r>
              <a:rPr lang="en-US" sz="1200" dirty="0">
                <a:latin typeface="Calibri" panose="020F0502020204030204" pitchFamily="34" charset="0"/>
                <a:ea typeface="Calibri" panose="020F0502020204030204" pitchFamily="34" charset="0"/>
                <a:cs typeface="Calibri" panose="020F0502020204030204" pitchFamily="34" charset="0"/>
              </a:rPr>
              <a:t>180</a:t>
            </a:r>
          </a:p>
          <a:p>
            <a:r>
              <a:rPr lang="en-US" sz="1200" dirty="0">
                <a:latin typeface="Calibri" panose="020F0502020204030204" pitchFamily="34" charset="0"/>
                <a:ea typeface="Calibri" panose="020F0502020204030204" pitchFamily="34" charset="0"/>
                <a:cs typeface="Calibri" panose="020F0502020204030204" pitchFamily="34" charset="0"/>
              </a:rPr>
              <a:t>  ↓ experience</a:t>
            </a:r>
          </a:p>
          <a:p>
            <a:r>
              <a:rPr lang="en-US" sz="1200" dirty="0">
                <a:latin typeface="Calibri" panose="020F0502020204030204" pitchFamily="34" charset="0"/>
                <a:ea typeface="Calibri" panose="020F0502020204030204" pitchFamily="34" charset="0"/>
                <a:cs typeface="Calibri" panose="020F0502020204030204" pitchFamily="34" charset="0"/>
              </a:rPr>
              <a:t>100</a:t>
            </a:r>
          </a:p>
          <a:p>
            <a:r>
              <a:rPr lang="en-US" sz="1200" dirty="0">
                <a:latin typeface="Calibri" panose="020F0502020204030204" pitchFamily="34" charset="0"/>
                <a:ea typeface="Calibri" panose="020F0502020204030204" pitchFamily="34" charset="0"/>
                <a:cs typeface="Calibri" panose="020F0502020204030204" pitchFamily="34" charset="0"/>
              </a:rPr>
              <a:t>  ↓ movement / muscle needs</a:t>
            </a:r>
          </a:p>
          <a:p>
            <a:r>
              <a:rPr lang="en-US" sz="1200" dirty="0">
                <a:latin typeface="Calibri" panose="020F0502020204030204" pitchFamily="34" charset="0"/>
                <a:ea typeface="Calibri" panose="020F0502020204030204" pitchFamily="34" charset="0"/>
                <a:cs typeface="Calibri" panose="020F0502020204030204" pitchFamily="34" charset="0"/>
              </a:rPr>
              <a:t>45</a:t>
            </a:r>
          </a:p>
          <a:p>
            <a:r>
              <a:rPr lang="en-US" sz="1200" dirty="0">
                <a:latin typeface="Calibri" panose="020F0502020204030204" pitchFamily="34" charset="0"/>
                <a:ea typeface="Calibri" panose="020F0502020204030204" pitchFamily="34" charset="0"/>
                <a:cs typeface="Calibri" panose="020F0502020204030204" pitchFamily="34" charset="0"/>
              </a:rPr>
              <a:t>  ↓ recent workout + readiness</a:t>
            </a:r>
          </a:p>
          <a:p>
            <a:r>
              <a:rPr lang="en-US" sz="1200" dirty="0">
                <a:latin typeface="Calibri" panose="020F0502020204030204" pitchFamily="34" charset="0"/>
                <a:ea typeface="Calibri" panose="020F0502020204030204" pitchFamily="34" charset="0"/>
                <a:cs typeface="Calibri" panose="020F0502020204030204" pitchFamily="34" charset="0"/>
              </a:rPr>
              <a:t>18</a:t>
            </a:r>
          </a:p>
        </p:txBody>
      </p:sp>
      <p:sp>
        <p:nvSpPr>
          <p:cNvPr id="42" name="TextBox 41">
            <a:extLst>
              <a:ext uri="{FF2B5EF4-FFF2-40B4-BE49-F238E27FC236}">
                <a16:creationId xmlns:a16="http://schemas.microsoft.com/office/drawing/2014/main" id="{D2A77018-A07D-5E10-A3CA-BFA7B4891E6E}"/>
              </a:ext>
            </a:extLst>
          </p:cNvPr>
          <p:cNvSpPr txBox="1"/>
          <p:nvPr/>
        </p:nvSpPr>
        <p:spPr>
          <a:xfrm>
            <a:off x="7578934" y="1093210"/>
            <a:ext cx="3802990" cy="260597"/>
          </a:xfrm>
          <a:prstGeom prst="rect">
            <a:avLst/>
          </a:prstGeom>
          <a:noFill/>
        </p:spPr>
        <p:txBody>
          <a:bodyPr wrap="square">
            <a:spAutoFit/>
          </a:bodyPr>
          <a:lstStyle>
            <a:defPPr>
              <a:defRPr lang="en-US"/>
            </a:defPPr>
            <a:lvl1pPr>
              <a:defRPr sz="1200">
                <a:latin typeface="Calibri" panose="020F0502020204030204" pitchFamily="34" charset="0"/>
                <a:ea typeface="Calibri" panose="020F0502020204030204" pitchFamily="34" charset="0"/>
                <a:cs typeface="Calibri" panose="020F0502020204030204" pitchFamily="34" charset="0"/>
              </a:defRPr>
            </a:lvl1pPr>
          </a:lstStyle>
          <a:p>
            <a:r>
              <a:rPr lang="en-US" dirty="0"/>
              <a:t>Master Exercise Catalog contains over 1,000 exercises</a:t>
            </a:r>
          </a:p>
        </p:txBody>
      </p:sp>
      <p:sp>
        <p:nvSpPr>
          <p:cNvPr id="44" name="TextBox 43">
            <a:extLst>
              <a:ext uri="{FF2B5EF4-FFF2-40B4-BE49-F238E27FC236}">
                <a16:creationId xmlns:a16="http://schemas.microsoft.com/office/drawing/2014/main" id="{7614ED55-A7C9-1932-B38A-0640AE3BDD6C}"/>
              </a:ext>
            </a:extLst>
          </p:cNvPr>
          <p:cNvSpPr txBox="1"/>
          <p:nvPr/>
        </p:nvSpPr>
        <p:spPr>
          <a:xfrm>
            <a:off x="8543043" y="1358033"/>
            <a:ext cx="1001446" cy="276999"/>
          </a:xfrm>
          <a:prstGeom prst="rect">
            <a:avLst/>
          </a:prstGeom>
          <a:noFill/>
        </p:spPr>
        <p:txBody>
          <a:bodyPr wrap="square">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Rules Engine</a:t>
            </a:r>
          </a:p>
        </p:txBody>
      </p:sp>
      <p:sp>
        <p:nvSpPr>
          <p:cNvPr id="46" name="TextBox 45">
            <a:extLst>
              <a:ext uri="{FF2B5EF4-FFF2-40B4-BE49-F238E27FC236}">
                <a16:creationId xmlns:a16="http://schemas.microsoft.com/office/drawing/2014/main" id="{51A7585D-9141-7DEA-729F-AB7E23D5931F}"/>
              </a:ext>
            </a:extLst>
          </p:cNvPr>
          <p:cNvSpPr txBox="1"/>
          <p:nvPr/>
        </p:nvSpPr>
        <p:spPr>
          <a:xfrm>
            <a:off x="7578934" y="3867791"/>
            <a:ext cx="3802990" cy="276999"/>
          </a:xfrm>
          <a:prstGeom prst="rect">
            <a:avLst/>
          </a:prstGeom>
          <a:noFill/>
        </p:spPr>
        <p:txBody>
          <a:bodyPr wrap="square">
            <a:spAutoFit/>
          </a:bodyPr>
          <a:lstStyle>
            <a:defPPr>
              <a:defRPr lang="en-US"/>
            </a:defPPr>
            <a:lvl1pPr>
              <a:defRPr sz="1200">
                <a:latin typeface="Calibri" panose="020F0502020204030204" pitchFamily="34" charset="0"/>
                <a:ea typeface="Calibri" panose="020F0502020204030204" pitchFamily="34" charset="0"/>
                <a:cs typeface="Calibri" panose="020F0502020204030204" pitchFamily="34" charset="0"/>
              </a:defRPr>
            </a:lvl1pPr>
          </a:lstStyle>
          <a:p>
            <a:r>
              <a:rPr lang="en-US" dirty="0"/>
              <a:t>But only 18 are going to the AI and AI might select:</a:t>
            </a:r>
          </a:p>
        </p:txBody>
      </p:sp>
      <p:sp>
        <p:nvSpPr>
          <p:cNvPr id="48" name="TextBox 47">
            <a:extLst>
              <a:ext uri="{FF2B5EF4-FFF2-40B4-BE49-F238E27FC236}">
                <a16:creationId xmlns:a16="http://schemas.microsoft.com/office/drawing/2014/main" id="{C755BEEB-7B61-7064-4BD9-C4E6B988CAE7}"/>
              </a:ext>
            </a:extLst>
          </p:cNvPr>
          <p:cNvSpPr txBox="1"/>
          <p:nvPr/>
        </p:nvSpPr>
        <p:spPr>
          <a:xfrm>
            <a:off x="7801287" y="4237697"/>
            <a:ext cx="2484958" cy="1200329"/>
          </a:xfrm>
          <a:prstGeom prst="rect">
            <a:avLst/>
          </a:prstGeom>
          <a:noFill/>
          <a:ln>
            <a:solidFill>
              <a:schemeClr val="bg1">
                <a:lumMod val="75000"/>
              </a:schemeClr>
            </a:solidFill>
          </a:ln>
        </p:spPr>
        <p:txBody>
          <a:bodyPr wrap="square">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Band Chest Press</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Band Seated Row</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Glute Bridge</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Standing </a:t>
            </a:r>
            <a:r>
              <a:rPr lang="en-US" sz="1200" dirty="0" err="1">
                <a:latin typeface="Calibri" panose="020F0502020204030204" pitchFamily="34" charset="0"/>
                <a:ea typeface="Calibri" panose="020F0502020204030204" pitchFamily="34" charset="0"/>
                <a:cs typeface="Calibri" panose="020F0502020204030204" pitchFamily="34" charset="0"/>
              </a:rPr>
              <a:t>Pallof</a:t>
            </a:r>
            <a:r>
              <a:rPr lang="en-US" sz="1200" dirty="0">
                <a:latin typeface="Calibri" panose="020F0502020204030204" pitchFamily="34" charset="0"/>
                <a:ea typeface="Calibri" panose="020F0502020204030204" pitchFamily="34" charset="0"/>
                <a:cs typeface="Calibri" panose="020F0502020204030204" pitchFamily="34" charset="0"/>
              </a:rPr>
              <a:t> Press</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Supported Single-Leg Balance</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Band Lateral Walk</a:t>
            </a:r>
          </a:p>
        </p:txBody>
      </p:sp>
      <p:sp>
        <p:nvSpPr>
          <p:cNvPr id="50" name="TextBox 49">
            <a:extLst>
              <a:ext uri="{FF2B5EF4-FFF2-40B4-BE49-F238E27FC236}">
                <a16:creationId xmlns:a16="http://schemas.microsoft.com/office/drawing/2014/main" id="{76B90DD3-7A65-9347-B18C-B78E036A91E9}"/>
              </a:ext>
            </a:extLst>
          </p:cNvPr>
          <p:cNvSpPr txBox="1"/>
          <p:nvPr/>
        </p:nvSpPr>
        <p:spPr>
          <a:xfrm>
            <a:off x="7587567" y="5499967"/>
            <a:ext cx="3802990" cy="276999"/>
          </a:xfrm>
          <a:prstGeom prst="rect">
            <a:avLst/>
          </a:prstGeom>
          <a:noFill/>
        </p:spPr>
        <p:txBody>
          <a:bodyPr wrap="square">
            <a:spAutoFit/>
          </a:bodyPr>
          <a:lstStyle>
            <a:defPPr>
              <a:defRPr lang="en-US"/>
            </a:defPPr>
            <a:lvl1pPr>
              <a:defRPr sz="1200">
                <a:latin typeface="Calibri" panose="020F0502020204030204" pitchFamily="34" charset="0"/>
                <a:ea typeface="Calibri" panose="020F0502020204030204" pitchFamily="34" charset="0"/>
                <a:cs typeface="Calibri" panose="020F0502020204030204" pitchFamily="34" charset="0"/>
              </a:defRPr>
            </a:lvl1pPr>
          </a:lstStyle>
          <a:p>
            <a:r>
              <a:rPr lang="en-US" dirty="0"/>
              <a:t>and determine sequencing, sets/reps, rest, coaching instructions, etc.</a:t>
            </a:r>
          </a:p>
        </p:txBody>
      </p:sp>
      <p:sp>
        <p:nvSpPr>
          <p:cNvPr id="52" name="TextBox 51">
            <a:extLst>
              <a:ext uri="{FF2B5EF4-FFF2-40B4-BE49-F238E27FC236}">
                <a16:creationId xmlns:a16="http://schemas.microsoft.com/office/drawing/2014/main" id="{50750E22-F1C5-4291-E454-91096874BCBC}"/>
              </a:ext>
            </a:extLst>
          </p:cNvPr>
          <p:cNvSpPr txBox="1"/>
          <p:nvPr/>
        </p:nvSpPr>
        <p:spPr>
          <a:xfrm>
            <a:off x="7577271" y="5947540"/>
            <a:ext cx="4454558" cy="276999"/>
          </a:xfrm>
          <a:prstGeom prst="rect">
            <a:avLst/>
          </a:prstGeom>
          <a:noFill/>
        </p:spPr>
        <p:txBody>
          <a:bodyPr wrap="square">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Fitness Engine </a:t>
            </a:r>
            <a:r>
              <a:rPr lang="en-US" sz="1200" b="1" dirty="0">
                <a:solidFill>
                  <a:srgbClr val="FF0000"/>
                </a:solidFill>
                <a:latin typeface="Calibri" panose="020F0502020204030204" pitchFamily="34" charset="0"/>
                <a:ea typeface="Calibri" panose="020F0502020204030204" pitchFamily="34" charset="0"/>
                <a:cs typeface="Calibri" panose="020F0502020204030204" pitchFamily="34" charset="0"/>
              </a:rPr>
              <a:t>Moat</a:t>
            </a:r>
            <a:r>
              <a:rPr lang="en-US" sz="1200" b="1" dirty="0">
                <a:latin typeface="Calibri" panose="020F0502020204030204" pitchFamily="34" charset="0"/>
                <a:ea typeface="Calibri" panose="020F0502020204030204" pitchFamily="34" charset="0"/>
                <a:cs typeface="Calibri" panose="020F0502020204030204" pitchFamily="34" charset="0"/>
              </a:rPr>
              <a:t> is Why this exercise? Why not that exercise?</a:t>
            </a:r>
          </a:p>
        </p:txBody>
      </p:sp>
    </p:spTree>
    <p:extLst>
      <p:ext uri="{BB962C8B-B14F-4D97-AF65-F5344CB8AC3E}">
        <p14:creationId xmlns:p14="http://schemas.microsoft.com/office/powerpoint/2010/main" val="1978431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64AE7-F3E9-88B9-9BEC-FC52CC89095B}"/>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B96BBE7C-1ED6-1B62-4AA2-EEA7A6181E71}"/>
              </a:ext>
            </a:extLst>
          </p:cNvPr>
          <p:cNvSpPr txBox="1">
            <a:spLocks/>
          </p:cNvSpPr>
          <p:nvPr/>
        </p:nvSpPr>
        <p:spPr>
          <a:xfrm>
            <a:off x="333954" y="678250"/>
            <a:ext cx="11322657" cy="324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latin typeface="Calibri" panose="020F0502020204030204" pitchFamily="34" charset="0"/>
                <a:ea typeface="Calibri" panose="020F0502020204030204" pitchFamily="34" charset="0"/>
                <a:cs typeface="Calibri" panose="020F0502020204030204" pitchFamily="34" charset="0"/>
              </a:rPr>
              <a:t>The Rules Engine takes what we know about the user and applies explicit rules.</a:t>
            </a:r>
          </a:p>
        </p:txBody>
      </p:sp>
      <p:sp>
        <p:nvSpPr>
          <p:cNvPr id="33" name="Title 1">
            <a:extLst>
              <a:ext uri="{FF2B5EF4-FFF2-40B4-BE49-F238E27FC236}">
                <a16:creationId xmlns:a16="http://schemas.microsoft.com/office/drawing/2014/main" id="{3941A828-6456-0F24-BC96-5BE33AAB4E7E}"/>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Rules Engine</a:t>
            </a:r>
          </a:p>
        </p:txBody>
      </p:sp>
      <p:sp>
        <p:nvSpPr>
          <p:cNvPr id="10" name="TextBox 9">
            <a:extLst>
              <a:ext uri="{FF2B5EF4-FFF2-40B4-BE49-F238E27FC236}">
                <a16:creationId xmlns:a16="http://schemas.microsoft.com/office/drawing/2014/main" id="{D20C1AD6-9C6B-0BCD-B738-CC7273D69F2A}"/>
              </a:ext>
            </a:extLst>
          </p:cNvPr>
          <p:cNvSpPr txBox="1"/>
          <p:nvPr/>
        </p:nvSpPr>
        <p:spPr>
          <a:xfrm>
            <a:off x="333954" y="1002793"/>
            <a:ext cx="11672516" cy="4708981"/>
          </a:xfrm>
          <a:prstGeom prst="rect">
            <a:avLst/>
          </a:prstGeom>
          <a:noFill/>
        </p:spPr>
        <p:txBody>
          <a:bodyPr wrap="square">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Example:</a:t>
            </a:r>
          </a:p>
          <a:p>
            <a:r>
              <a:rPr lang="en-US" sz="1200" b="1" dirty="0">
                <a:latin typeface="Calibri" panose="020F0502020204030204" pitchFamily="34" charset="0"/>
                <a:ea typeface="Calibri" panose="020F0502020204030204" pitchFamily="34" charset="0"/>
                <a:cs typeface="Calibri" panose="020F0502020204030204" pitchFamily="34" charset="0"/>
              </a:rPr>
              <a:t>Rule 1 — Goal/body area</a:t>
            </a:r>
          </a:p>
          <a:p>
            <a:r>
              <a:rPr lang="en-US" sz="1200" dirty="0">
                <a:latin typeface="Calibri" panose="020F0502020204030204" pitchFamily="34" charset="0"/>
                <a:ea typeface="Calibri" panose="020F0502020204030204" pitchFamily="34" charset="0"/>
                <a:cs typeface="Calibri" panose="020F0502020204030204" pitchFamily="34" charset="0"/>
              </a:rPr>
              <a:t>User wants legs → consider lower-body exercises.</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1,000 exercises → perhaps 250</a:t>
            </a:r>
          </a:p>
          <a:p>
            <a:r>
              <a:rPr lang="en-US" sz="1200" b="1" dirty="0">
                <a:latin typeface="Calibri" panose="020F0502020204030204" pitchFamily="34" charset="0"/>
                <a:ea typeface="Calibri" panose="020F0502020204030204" pitchFamily="34" charset="0"/>
                <a:cs typeface="Calibri" panose="020F0502020204030204" pitchFamily="34" charset="0"/>
              </a:rPr>
              <a:t>Rule 2 — Location/equipment</a:t>
            </a:r>
          </a:p>
          <a:p>
            <a:r>
              <a:rPr lang="en-US" sz="1200" dirty="0">
                <a:latin typeface="Calibri" panose="020F0502020204030204" pitchFamily="34" charset="0"/>
                <a:ea typeface="Calibri" panose="020F0502020204030204" pitchFamily="34" charset="0"/>
                <a:cs typeface="Calibri" panose="020F0502020204030204" pitchFamily="34" charset="0"/>
              </a:rPr>
              <a:t>User is at home and has only dumbbells → remove exercises requiring machines, cables, barbells, etc.</a:t>
            </a:r>
          </a:p>
          <a:p>
            <a:r>
              <a:rPr lang="en-US" sz="1200" dirty="0">
                <a:latin typeface="Calibri" panose="020F0502020204030204" pitchFamily="34" charset="0"/>
                <a:ea typeface="Calibri" panose="020F0502020204030204" pitchFamily="34" charset="0"/>
                <a:cs typeface="Calibri" panose="020F0502020204030204" pitchFamily="34" charset="0"/>
              </a:rPr>
              <a:t>250 → perhaps 90</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So it is narrowed down like:</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Goblet Squat </a:t>
            </a:r>
            <a:r>
              <a:rPr lang="en-US" sz="1200" b="1" dirty="0">
                <a:latin typeface="Calibri" panose="020F0502020204030204" pitchFamily="34" charset="0"/>
                <a:ea typeface="Calibri" panose="020F0502020204030204" pitchFamily="34" charset="0"/>
                <a:cs typeface="Calibri" panose="020F0502020204030204" pitchFamily="34" charset="0"/>
              </a:rPr>
              <a:t>YES</a:t>
            </a:r>
          </a:p>
          <a:p>
            <a:r>
              <a:rPr lang="en-US" sz="1200" dirty="0">
                <a:latin typeface="Calibri" panose="020F0502020204030204" pitchFamily="34" charset="0"/>
                <a:ea typeface="Calibri" panose="020F0502020204030204" pitchFamily="34" charset="0"/>
                <a:cs typeface="Calibri" panose="020F0502020204030204" pitchFamily="34" charset="0"/>
              </a:rPr>
              <a:t>Leg Press </a:t>
            </a:r>
            <a:r>
              <a:rPr lang="en-US" sz="1200" b="1" dirty="0">
                <a:latin typeface="Calibri" panose="020F0502020204030204" pitchFamily="34" charset="0"/>
                <a:ea typeface="Calibri" panose="020F0502020204030204" pitchFamily="34" charset="0"/>
                <a:cs typeface="Calibri" panose="020F0502020204030204" pitchFamily="34" charset="0"/>
              </a:rPr>
              <a:t>NO </a:t>
            </a:r>
            <a:r>
              <a:rPr lang="en-US" sz="1200" dirty="0">
                <a:latin typeface="Calibri" panose="020F0502020204030204" pitchFamily="34" charset="0"/>
                <a:ea typeface="Calibri" panose="020F0502020204030204" pitchFamily="34" charset="0"/>
                <a:cs typeface="Calibri" panose="020F0502020204030204" pitchFamily="34" charset="0"/>
              </a:rPr>
              <a:t>because machine required </a:t>
            </a:r>
          </a:p>
          <a:p>
            <a:r>
              <a:rPr lang="en-US" sz="1200" dirty="0">
                <a:latin typeface="Calibri" panose="020F0502020204030204" pitchFamily="34" charset="0"/>
                <a:ea typeface="Calibri" panose="020F0502020204030204" pitchFamily="34" charset="0"/>
                <a:cs typeface="Calibri" panose="020F0502020204030204" pitchFamily="34" charset="0"/>
              </a:rPr>
              <a:t>Barbell Back Squat </a:t>
            </a:r>
            <a:r>
              <a:rPr lang="en-US" sz="1200" b="1" dirty="0">
                <a:latin typeface="Calibri" panose="020F0502020204030204" pitchFamily="34" charset="0"/>
                <a:ea typeface="Calibri" panose="020F0502020204030204" pitchFamily="34" charset="0"/>
                <a:cs typeface="Calibri" panose="020F0502020204030204" pitchFamily="34" charset="0"/>
              </a:rPr>
              <a:t>NO </a:t>
            </a:r>
            <a:r>
              <a:rPr lang="en-US" sz="1200" dirty="0">
                <a:latin typeface="Calibri" panose="020F0502020204030204" pitchFamily="34" charset="0"/>
                <a:ea typeface="Calibri" panose="020F0502020204030204" pitchFamily="34" charset="0"/>
                <a:cs typeface="Calibri" panose="020F0502020204030204" pitchFamily="34" charset="0"/>
              </a:rPr>
              <a:t>because barbell unavailable</a:t>
            </a:r>
          </a:p>
          <a:p>
            <a:r>
              <a:rPr lang="en-US" sz="1200" b="1" dirty="0">
                <a:latin typeface="Calibri" panose="020F0502020204030204" pitchFamily="34" charset="0"/>
                <a:ea typeface="Calibri" panose="020F0502020204030204" pitchFamily="34" charset="0"/>
                <a:cs typeface="Calibri" panose="020F0502020204030204" pitchFamily="34" charset="0"/>
              </a:rPr>
              <a:t>Rule 3 — Experience</a:t>
            </a:r>
            <a:br>
              <a:rPr lang="en-US" sz="1200" b="1"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User is a beginner → remove exercises classified as advanced.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90 → perhaps 60</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dirty="0">
                <a:latin typeface="Calibri" panose="020F0502020204030204" pitchFamily="34" charset="0"/>
                <a:ea typeface="Calibri" panose="020F0502020204030204" pitchFamily="34" charset="0"/>
                <a:cs typeface="Calibri" panose="020F0502020204030204" pitchFamily="34" charset="0"/>
              </a:rPr>
              <a:t>Rule 4 — Injury/condition constraints</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User reports knee pain.</a:t>
            </a:r>
            <a:br>
              <a:rPr lang="en-US" sz="1200" b="1"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Don't automatically prescribe certain high-impact or high-knee-load movements; flag or exclude exercises according to the safety rules and available assessment data.</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60 → perhaps 35 appropriate candidates</a:t>
            </a:r>
          </a:p>
          <a:p>
            <a:r>
              <a:rPr lang="en-US" sz="1200" dirty="0">
                <a:latin typeface="Calibri" panose="020F0502020204030204" pitchFamily="34" charset="0"/>
                <a:ea typeface="Calibri" panose="020F0502020204030204" pitchFamily="34" charset="0"/>
                <a:cs typeface="Calibri" panose="020F0502020204030204" pitchFamily="34" charset="0"/>
              </a:rPr>
              <a:t>From 1,000 exercises→ Taxonomy lets us understand/classify them→ Rules Engine narrows them to ~35 candidates→ AI chooses and assembles the workout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So instead of asking to figure out from 1,000 exercises we give 35 exercises that satisfy our deterministic rules. And ask AI to create the best 30-minute lower-body strength workout for the user's goals, recent training, preferences, and readiness.</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dirty="0">
                <a:latin typeface="Calibri" panose="020F0502020204030204" pitchFamily="34" charset="0"/>
                <a:ea typeface="Calibri" panose="020F0502020204030204" pitchFamily="34" charset="0"/>
                <a:cs typeface="Calibri" panose="020F0502020204030204" pitchFamily="34" charset="0"/>
              </a:rPr>
              <a:t>Taxonomy tells us WHAT an exercise is. Rules Engine determines WHETHER it qualifies. AI decides HOW to use the qualified exercises.</a:t>
            </a:r>
          </a:p>
          <a:p>
            <a:endParaRPr lang="en-US" sz="1200" dirty="0">
              <a:latin typeface="Calibri" panose="020F0502020204030204" pitchFamily="34" charset="0"/>
              <a:ea typeface="Calibri" panose="020F0502020204030204" pitchFamily="34" charset="0"/>
              <a:cs typeface="Calibri" panose="020F0502020204030204" pitchFamily="34" charset="0"/>
            </a:endParaRPr>
          </a:p>
          <a:p>
            <a:pPr algn="ctr"/>
            <a:r>
              <a:rPr lang="en-US" sz="1200" b="1" i="1" dirty="0"/>
              <a:t>This separation is critical to the architecture because we don't want the LLM making every safety, equipment, and eligibility decision by itself.</a:t>
            </a:r>
            <a:endParaRPr lang="en-US" sz="1200" b="1"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1379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B10FC-92C3-4033-D10C-5FC2B493E31D}"/>
              </a:ext>
            </a:extLst>
          </p:cNvPr>
          <p:cNvSpPr>
            <a:spLocks noGrp="1"/>
          </p:cNvSpPr>
          <p:nvPr>
            <p:ph type="title"/>
          </p:nvPr>
        </p:nvSpPr>
        <p:spPr>
          <a:xfrm>
            <a:off x="5120640" y="2766219"/>
            <a:ext cx="1950720" cy="1325563"/>
          </a:xfrm>
        </p:spPr>
        <p:txBody>
          <a:bodyPr/>
          <a:lstStyle/>
          <a:p>
            <a:r>
              <a:rPr lang="en-US" dirty="0"/>
              <a:t>Archive</a:t>
            </a:r>
          </a:p>
        </p:txBody>
      </p:sp>
    </p:spTree>
    <p:extLst>
      <p:ext uri="{BB962C8B-B14F-4D97-AF65-F5344CB8AC3E}">
        <p14:creationId xmlns:p14="http://schemas.microsoft.com/office/powerpoint/2010/main" val="1045880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3F749-2922-3EAD-B624-350B0CD1E10E}"/>
              </a:ext>
            </a:extLst>
          </p:cNvPr>
          <p:cNvSpPr>
            <a:spLocks noGrp="1"/>
          </p:cNvSpPr>
          <p:nvPr>
            <p:ph type="title"/>
          </p:nvPr>
        </p:nvSpPr>
        <p:spPr>
          <a:xfrm>
            <a:off x="36576" y="36577"/>
            <a:ext cx="12118848" cy="713232"/>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Fitakha Channel YouTube Discovery</a:t>
            </a:r>
          </a:p>
        </p:txBody>
      </p:sp>
      <p:sp>
        <p:nvSpPr>
          <p:cNvPr id="3" name="Content Placeholder 2">
            <a:extLst>
              <a:ext uri="{FF2B5EF4-FFF2-40B4-BE49-F238E27FC236}">
                <a16:creationId xmlns:a16="http://schemas.microsoft.com/office/drawing/2014/main" id="{3ED36293-D633-8036-2BCC-F03BE821932B}"/>
              </a:ext>
            </a:extLst>
          </p:cNvPr>
          <p:cNvSpPr>
            <a:spLocks noGrp="1"/>
          </p:cNvSpPr>
          <p:nvPr>
            <p:ph idx="1"/>
          </p:nvPr>
        </p:nvSpPr>
        <p:spPr>
          <a:xfrm>
            <a:off x="36576" y="749809"/>
            <a:ext cx="11104572" cy="320535"/>
          </a:xfrm>
        </p:spPr>
        <p:txBody>
          <a:bodyPr>
            <a:normAutofit/>
          </a:bodyPr>
          <a:lstStyle/>
          <a:p>
            <a:pPr marL="0" indent="0">
              <a:buNone/>
            </a:pPr>
            <a:r>
              <a:rPr lang="en-US" sz="1400" b="1" i="1" dirty="0">
                <a:latin typeface="Calibri" panose="020F0502020204030204" pitchFamily="34" charset="0"/>
                <a:ea typeface="Calibri" panose="020F0502020204030204" pitchFamily="34" charset="0"/>
                <a:cs typeface="Calibri" panose="020F0502020204030204" pitchFamily="34" charset="0"/>
              </a:rPr>
              <a:t>How people who do not already know your channel find your videos on YouTube</a:t>
            </a:r>
          </a:p>
        </p:txBody>
      </p:sp>
      <p:sp>
        <p:nvSpPr>
          <p:cNvPr id="4" name="Content Placeholder 2">
            <a:extLst>
              <a:ext uri="{FF2B5EF4-FFF2-40B4-BE49-F238E27FC236}">
                <a16:creationId xmlns:a16="http://schemas.microsoft.com/office/drawing/2014/main" id="{67397ED6-D726-F65A-1D8F-B753AB5B464E}"/>
              </a:ext>
            </a:extLst>
          </p:cNvPr>
          <p:cNvSpPr txBox="1">
            <a:spLocks/>
          </p:cNvSpPr>
          <p:nvPr/>
        </p:nvSpPr>
        <p:spPr>
          <a:xfrm>
            <a:off x="36575" y="1022638"/>
            <a:ext cx="11612085" cy="3926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1" dirty="0">
                <a:latin typeface="Calibri" panose="020F0502020204030204" pitchFamily="34" charset="0"/>
                <a:ea typeface="Calibri" panose="020F0502020204030204" pitchFamily="34" charset="0"/>
                <a:cs typeface="Calibri" panose="020F0502020204030204" pitchFamily="34" charset="0"/>
              </a:rPr>
              <a:t>Exercise-content strategy:</a:t>
            </a:r>
            <a:r>
              <a:rPr lang="en-US" sz="1200" dirty="0">
                <a:latin typeface="Calibri" panose="020F0502020204030204" pitchFamily="34" charset="0"/>
                <a:ea typeface="Calibri" panose="020F0502020204030204" pitchFamily="34" charset="0"/>
                <a:cs typeface="Calibri" panose="020F0502020204030204" pitchFamily="34" charset="0"/>
              </a:rPr>
              <a:t> Discovery is very important because you don't want to depend only on people searching for “Fitakha.” You want YouTube to put your exercise videos in front of people looking for solutions.</a:t>
            </a:r>
          </a:p>
        </p:txBody>
      </p:sp>
      <p:graphicFrame>
        <p:nvGraphicFramePr>
          <p:cNvPr id="7" name="Table 6">
            <a:extLst>
              <a:ext uri="{FF2B5EF4-FFF2-40B4-BE49-F238E27FC236}">
                <a16:creationId xmlns:a16="http://schemas.microsoft.com/office/drawing/2014/main" id="{41CF716C-7CD2-9C63-84AC-79B98A70EDEB}"/>
              </a:ext>
            </a:extLst>
          </p:cNvPr>
          <p:cNvGraphicFramePr>
            <a:graphicFrameLocks noGrp="1"/>
          </p:cNvGraphicFramePr>
          <p:nvPr>
            <p:extLst>
              <p:ext uri="{D42A27DB-BD31-4B8C-83A1-F6EECF244321}">
                <p14:modId xmlns:p14="http://schemas.microsoft.com/office/powerpoint/2010/main" val="1384293942"/>
              </p:ext>
            </p:extLst>
          </p:nvPr>
        </p:nvGraphicFramePr>
        <p:xfrm>
          <a:off x="353874" y="1428989"/>
          <a:ext cx="7221606" cy="2103120"/>
        </p:xfrm>
        <a:graphic>
          <a:graphicData uri="http://schemas.openxmlformats.org/drawingml/2006/table">
            <a:tbl>
              <a:tblPr>
                <a:tableStyleId>{5C22544A-7EE6-4342-B048-85BDC9FD1C3A}</a:tableStyleId>
              </a:tblPr>
              <a:tblGrid>
                <a:gridCol w="1459023">
                  <a:extLst>
                    <a:ext uri="{9D8B030D-6E8A-4147-A177-3AD203B41FA5}">
                      <a16:colId xmlns:a16="http://schemas.microsoft.com/office/drawing/2014/main" val="3222951471"/>
                    </a:ext>
                  </a:extLst>
                </a:gridCol>
                <a:gridCol w="5762583">
                  <a:extLst>
                    <a:ext uri="{9D8B030D-6E8A-4147-A177-3AD203B41FA5}">
                      <a16:colId xmlns:a16="http://schemas.microsoft.com/office/drawing/2014/main" val="2611585711"/>
                    </a:ext>
                  </a:extLst>
                </a:gridCol>
              </a:tblGrid>
              <a:tr h="0">
                <a:tc>
                  <a:txBody>
                    <a:bodyPr/>
                    <a:lstStyle/>
                    <a:p>
                      <a:pPr>
                        <a:buNone/>
                      </a:pPr>
                      <a:r>
                        <a:rPr lang="en-US" sz="1200" dirty="0"/>
                        <a:t>Discovery route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1200"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59595048"/>
                  </a:ext>
                </a:extLst>
              </a:tr>
              <a:tr h="0">
                <a:tc>
                  <a:txBody>
                    <a:bodyPr/>
                    <a:lstStyle/>
                    <a:p>
                      <a:pPr>
                        <a:buNone/>
                      </a:pPr>
                      <a:r>
                        <a:rPr lang="en-US" sz="1200" dirty="0"/>
                        <a:t>YouTube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t>Someone searches “how to do Bulgarian split squat correctly”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90036097"/>
                  </a:ext>
                </a:extLst>
              </a:tr>
              <a:tr h="0">
                <a:tc>
                  <a:txBody>
                    <a:bodyPr/>
                    <a:lstStyle/>
                    <a:p>
                      <a:pPr>
                        <a:buNone/>
                      </a:pPr>
                      <a:r>
                        <a:rPr lang="en-US" sz="1200" dirty="0"/>
                        <a:t>Suggested Videos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t>Your “5 Bulgarian Split Squat Mistakes” appears beside another fitness video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5855121"/>
                  </a:ext>
                </a:extLst>
              </a:tr>
              <a:tr h="0">
                <a:tc>
                  <a:txBody>
                    <a:bodyPr/>
                    <a:lstStyle/>
                    <a:p>
                      <a:pPr>
                        <a:buNone/>
                      </a:pPr>
                      <a:r>
                        <a:rPr lang="en-US" sz="1200" dirty="0"/>
                        <a:t>Home/Browse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a:t>YouTube recommends “Are You Squatting Correctly?” on someone's home screen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4992779"/>
                  </a:ext>
                </a:extLst>
              </a:tr>
              <a:tr h="0">
                <a:tc>
                  <a:txBody>
                    <a:bodyPr/>
                    <a:lstStyle/>
                    <a:p>
                      <a:pPr>
                        <a:buNone/>
                      </a:pPr>
                      <a:r>
                        <a:rPr lang="en-US" sz="1200"/>
                        <a:t>Shorts Feed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t>Your 30-second “Knee collapsing during squat? Try this” appears while someone scrolls Shorts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30380321"/>
                  </a:ext>
                </a:extLst>
              </a:tr>
              <a:tr h="0">
                <a:tc>
                  <a:txBody>
                    <a:bodyPr/>
                    <a:lstStyle/>
                    <a:p>
                      <a:pPr>
                        <a:buNone/>
                      </a:pPr>
                      <a:r>
                        <a:rPr lang="en-US" sz="1200"/>
                        <a:t>Playlists / Channel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t>Someone watches your “Exercise Library → Legs” playlist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3479399"/>
                  </a:ext>
                </a:extLst>
              </a:tr>
              <a:tr h="0">
                <a:tc>
                  <a:txBody>
                    <a:bodyPr/>
                    <a:lstStyle/>
                    <a:p>
                      <a:pPr>
                        <a:buNone/>
                      </a:pPr>
                      <a:r>
                        <a:rPr lang="en-US" sz="1200"/>
                        <a:t>External Discovery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200" dirty="0"/>
                        <a:t>Someone reaches the video through Google, Fitakha, WhatsApp, Instagram,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478291"/>
                  </a:ext>
                </a:extLst>
              </a:tr>
            </a:tbl>
          </a:graphicData>
        </a:graphic>
      </p:graphicFrame>
      <p:sp>
        <p:nvSpPr>
          <p:cNvPr id="8" name="Content Placeholder 2">
            <a:extLst>
              <a:ext uri="{FF2B5EF4-FFF2-40B4-BE49-F238E27FC236}">
                <a16:creationId xmlns:a16="http://schemas.microsoft.com/office/drawing/2014/main" id="{3CDCFD40-DD9A-B5C9-F796-8F9724372329}"/>
              </a:ext>
            </a:extLst>
          </p:cNvPr>
          <p:cNvSpPr txBox="1">
            <a:spLocks/>
          </p:cNvSpPr>
          <p:nvPr/>
        </p:nvSpPr>
        <p:spPr>
          <a:xfrm>
            <a:off x="1" y="3722936"/>
            <a:ext cx="7575480" cy="15169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1" dirty="0">
                <a:latin typeface="Calibri" panose="020F0502020204030204" pitchFamily="34" charset="0"/>
                <a:ea typeface="Calibri" panose="020F0502020204030204" pitchFamily="34" charset="0"/>
                <a:cs typeface="Calibri" panose="020F0502020204030204" pitchFamily="34" charset="0"/>
              </a:rPr>
              <a:t>Search:</a:t>
            </a:r>
            <a:r>
              <a:rPr lang="en-US" sz="1200" dirty="0">
                <a:latin typeface="Calibri" panose="020F0502020204030204" pitchFamily="34" charset="0"/>
                <a:ea typeface="Calibri" panose="020F0502020204030204" pitchFamily="34" charset="0"/>
                <a:cs typeface="Calibri" panose="020F0502020204030204" pitchFamily="34" charset="0"/>
              </a:rPr>
              <a:t> The viewer already has an intention. For example, “proper deadlift form.” You need a clear title, description, spoken content, and video that accurately answers that question.</a:t>
            </a:r>
          </a:p>
          <a:p>
            <a:r>
              <a:rPr lang="en-US" sz="1200" b="1" dirty="0">
                <a:latin typeface="Calibri" panose="020F0502020204030204" pitchFamily="34" charset="0"/>
                <a:ea typeface="Calibri" panose="020F0502020204030204" pitchFamily="34" charset="0"/>
                <a:cs typeface="Calibri" panose="020F0502020204030204" pitchFamily="34" charset="0"/>
              </a:rPr>
              <a:t>Recommendation: </a:t>
            </a:r>
            <a:r>
              <a:rPr lang="en-US" sz="1200" dirty="0">
                <a:latin typeface="Calibri" panose="020F0502020204030204" pitchFamily="34" charset="0"/>
                <a:ea typeface="Calibri" panose="020F0502020204030204" pitchFamily="34" charset="0"/>
                <a:cs typeface="Calibri" panose="020F0502020204030204" pitchFamily="34" charset="0"/>
              </a:rPr>
              <a:t>The viewer wasn't necessarily looking for you. YouTube decides your video might interest them based on what they watch and how viewers respond to your content. Here, the topic, thumbnail/title, opening seconds, watch time, satisfaction and whether people continue watching matter greatly.</a:t>
            </a:r>
          </a:p>
          <a:p>
            <a:r>
              <a:rPr lang="en-US" sz="1200" b="1" dirty="0">
                <a:latin typeface="Calibri" panose="020F0502020204030204" pitchFamily="34" charset="0"/>
                <a:ea typeface="Calibri" panose="020F0502020204030204" pitchFamily="34" charset="0"/>
                <a:cs typeface="Calibri" panose="020F0502020204030204" pitchFamily="34" charset="0"/>
              </a:rPr>
              <a:t>Exercise Content Structure: </a:t>
            </a:r>
            <a:r>
              <a:rPr lang="en-US" sz="1200" dirty="0">
                <a:latin typeface="Calibri" panose="020F0502020204030204" pitchFamily="34" charset="0"/>
                <a:ea typeface="Calibri" panose="020F0502020204030204" pitchFamily="34" charset="0"/>
                <a:cs typeface="Calibri" panose="020F0502020204030204" pitchFamily="34" charset="0"/>
              </a:rPr>
              <a:t>One exercise can create multiple discovery opportunities. Identify → Classify → Teach → Correct → Progress</a:t>
            </a:r>
          </a:p>
          <a:p>
            <a:r>
              <a:rPr lang="en-US" sz="1200" b="1" dirty="0">
                <a:latin typeface="Calibri" panose="020F0502020204030204" pitchFamily="34" charset="0"/>
                <a:ea typeface="Calibri" panose="020F0502020204030204" pitchFamily="34" charset="0"/>
                <a:cs typeface="Calibri" panose="020F0502020204030204" pitchFamily="34" charset="0"/>
              </a:rPr>
              <a:t>Fitakha Content Engine: </a:t>
            </a:r>
            <a:r>
              <a:rPr lang="en-US" sz="1200" b="0" i="1" dirty="0">
                <a:latin typeface="Calibri" panose="020F0502020204030204" pitchFamily="34" charset="0"/>
                <a:ea typeface="Calibri" panose="020F0502020204030204" pitchFamily="34" charset="0"/>
                <a:cs typeface="Calibri" panose="020F0502020204030204" pitchFamily="34" charset="0"/>
              </a:rPr>
              <a:t>1 exercise → 1 canonical exercise video → 3–5 educational videos → 5–10 Shorts → app exercise asset → playlist → related workout videos.</a:t>
            </a: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0" name="Content Placeholder 2">
            <a:extLst>
              <a:ext uri="{FF2B5EF4-FFF2-40B4-BE49-F238E27FC236}">
                <a16:creationId xmlns:a16="http://schemas.microsoft.com/office/drawing/2014/main" id="{5A4983A3-8FAC-2DF1-DD72-54C113005A8A}"/>
              </a:ext>
            </a:extLst>
          </p:cNvPr>
          <p:cNvSpPr txBox="1">
            <a:spLocks/>
          </p:cNvSpPr>
          <p:nvPr/>
        </p:nvSpPr>
        <p:spPr>
          <a:xfrm>
            <a:off x="8770554" y="1404025"/>
            <a:ext cx="2519507" cy="17197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latin typeface="Calibri" panose="020F0502020204030204" pitchFamily="34" charset="0"/>
                <a:ea typeface="Calibri" panose="020F0502020204030204" pitchFamily="34" charset="0"/>
                <a:cs typeface="Calibri" panose="020F0502020204030204" pitchFamily="34" charset="0"/>
              </a:rPr>
              <a:t>Identify:</a:t>
            </a:r>
            <a:r>
              <a:rPr lang="en-US" sz="1200" dirty="0">
                <a:latin typeface="Calibri" panose="020F0502020204030204" pitchFamily="34" charset="0"/>
                <a:ea typeface="Calibri" panose="020F0502020204030204" pitchFamily="34" charset="0"/>
                <a:cs typeface="Calibri" panose="020F0502020204030204" pitchFamily="34" charset="0"/>
              </a:rPr>
              <a:t> “What muscles does a squat actually work?”</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dirty="0">
                <a:latin typeface="Calibri" panose="020F0502020204030204" pitchFamily="34" charset="0"/>
                <a:ea typeface="Calibri" panose="020F0502020204030204" pitchFamily="34" charset="0"/>
                <a:cs typeface="Calibri" panose="020F0502020204030204" pitchFamily="34" charset="0"/>
              </a:rPr>
              <a:t>Classify:</a:t>
            </a:r>
            <a:r>
              <a:rPr lang="en-US" sz="1200" dirty="0">
                <a:latin typeface="Calibri" panose="020F0502020204030204" pitchFamily="34" charset="0"/>
                <a:ea typeface="Calibri" panose="020F0502020204030204" pitchFamily="34" charset="0"/>
                <a:cs typeface="Calibri" panose="020F0502020204030204" pitchFamily="34" charset="0"/>
              </a:rPr>
              <a:t> “Squat: strength, stability or power exercise?”</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dirty="0">
                <a:latin typeface="Calibri" panose="020F0502020204030204" pitchFamily="34" charset="0"/>
                <a:ea typeface="Calibri" panose="020F0502020204030204" pitchFamily="34" charset="0"/>
                <a:cs typeface="Calibri" panose="020F0502020204030204" pitchFamily="34" charset="0"/>
              </a:rPr>
              <a:t>Teach:</a:t>
            </a:r>
            <a:r>
              <a:rPr lang="en-US" sz="1200" dirty="0">
                <a:latin typeface="Calibri" panose="020F0502020204030204" pitchFamily="34" charset="0"/>
                <a:ea typeface="Calibri" panose="020F0502020204030204" pitchFamily="34" charset="0"/>
                <a:cs typeface="Calibri" panose="020F0502020204030204" pitchFamily="34" charset="0"/>
              </a:rPr>
              <a:t> “How to squat correctly — beginner guide.”</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dirty="0">
                <a:latin typeface="Calibri" panose="020F0502020204030204" pitchFamily="34" charset="0"/>
                <a:ea typeface="Calibri" panose="020F0502020204030204" pitchFamily="34" charset="0"/>
                <a:cs typeface="Calibri" panose="020F0502020204030204" pitchFamily="34" charset="0"/>
              </a:rPr>
              <a:t>Correct:</a:t>
            </a:r>
            <a:r>
              <a:rPr lang="en-US" sz="1200" dirty="0">
                <a:latin typeface="Calibri" panose="020F0502020204030204" pitchFamily="34" charset="0"/>
                <a:ea typeface="Calibri" panose="020F0502020204030204" pitchFamily="34" charset="0"/>
                <a:cs typeface="Calibri" panose="020F0502020204030204" pitchFamily="34" charset="0"/>
              </a:rPr>
              <a:t> “5 squat mistakes that may be hurting your progress.”</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dirty="0">
                <a:latin typeface="Calibri" panose="020F0502020204030204" pitchFamily="34" charset="0"/>
                <a:ea typeface="Calibri" panose="020F0502020204030204" pitchFamily="34" charset="0"/>
                <a:cs typeface="Calibri" panose="020F0502020204030204" pitchFamily="34" charset="0"/>
              </a:rPr>
              <a:t>Progress:</a:t>
            </a:r>
            <a:r>
              <a:rPr lang="en-US" sz="1200" dirty="0">
                <a:latin typeface="Calibri" panose="020F0502020204030204" pitchFamily="34" charset="0"/>
                <a:ea typeface="Calibri" panose="020F0502020204030204" pitchFamily="34" charset="0"/>
                <a:cs typeface="Calibri" panose="020F0502020204030204" pitchFamily="34" charset="0"/>
              </a:rPr>
              <a:t> “Bodyweight squat → goblet squat → barbell squat.”</a:t>
            </a:r>
          </a:p>
        </p:txBody>
      </p:sp>
      <p:sp>
        <p:nvSpPr>
          <p:cNvPr id="11" name="Rectangle: Rounded Corners 10">
            <a:extLst>
              <a:ext uri="{FF2B5EF4-FFF2-40B4-BE49-F238E27FC236}">
                <a16:creationId xmlns:a16="http://schemas.microsoft.com/office/drawing/2014/main" id="{48475A2D-DE5F-607D-513A-7533059E0536}"/>
              </a:ext>
            </a:extLst>
          </p:cNvPr>
          <p:cNvSpPr/>
          <p:nvPr/>
        </p:nvSpPr>
        <p:spPr>
          <a:xfrm>
            <a:off x="7744873" y="1415335"/>
            <a:ext cx="1006334" cy="1719729"/>
          </a:xfrm>
          <a:prstGeom prst="roundRect">
            <a:avLst>
              <a:gd name="adj" fmla="val 11136"/>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1200" b="1" dirty="0">
                <a:latin typeface="Calibri" panose="020F0502020204030204" pitchFamily="34" charset="0"/>
                <a:ea typeface="Calibri" panose="020F0502020204030204" pitchFamily="34" charset="0"/>
                <a:cs typeface="Calibri" panose="020F0502020204030204" pitchFamily="34" charset="0"/>
              </a:rPr>
              <a:t>Ex: SQUAT</a:t>
            </a:r>
          </a:p>
        </p:txBody>
      </p:sp>
      <p:sp>
        <p:nvSpPr>
          <p:cNvPr id="13" name="TextBox 12">
            <a:extLst>
              <a:ext uri="{FF2B5EF4-FFF2-40B4-BE49-F238E27FC236}">
                <a16:creationId xmlns:a16="http://schemas.microsoft.com/office/drawing/2014/main" id="{550CB80C-460C-8F2C-6AD8-C325990ECB46}"/>
              </a:ext>
            </a:extLst>
          </p:cNvPr>
          <p:cNvSpPr txBox="1"/>
          <p:nvPr/>
        </p:nvSpPr>
        <p:spPr>
          <a:xfrm>
            <a:off x="8658706" y="3548011"/>
            <a:ext cx="2989953" cy="602569"/>
          </a:xfrm>
          <a:prstGeom prst="rect">
            <a:avLst/>
          </a:prstGeom>
          <a:ln>
            <a:solidFill>
              <a:schemeClr val="bg1">
                <a:lumMod val="50000"/>
              </a:schemeClr>
            </a:solidFill>
          </a:ln>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b="0" dirty="0">
                <a:latin typeface="Calibri" panose="020F0502020204030204" pitchFamily="34" charset="0"/>
                <a:ea typeface="Calibri" panose="020F0502020204030204" pitchFamily="34" charset="0"/>
                <a:cs typeface="Calibri" panose="020F0502020204030204" pitchFamily="34" charset="0"/>
              </a:rPr>
              <a:t>“Your knees doing THIS during squats?”</a:t>
            </a:r>
            <a:br>
              <a:rPr lang="en-US" b="0" dirty="0">
                <a:latin typeface="Calibri" panose="020F0502020204030204" pitchFamily="34" charset="0"/>
                <a:ea typeface="Calibri" panose="020F0502020204030204" pitchFamily="34" charset="0"/>
                <a:cs typeface="Calibri" panose="020F0502020204030204" pitchFamily="34" charset="0"/>
              </a:rPr>
            </a:br>
            <a:r>
              <a:rPr lang="en-US" b="0" dirty="0">
                <a:latin typeface="Calibri" panose="020F0502020204030204" pitchFamily="34" charset="0"/>
                <a:ea typeface="Calibri" panose="020F0502020204030204" pitchFamily="34" charset="0"/>
                <a:cs typeface="Calibri" panose="020F0502020204030204" pitchFamily="34" charset="0"/>
              </a:rPr>
              <a:t>“Stop making this squat mistake.”</a:t>
            </a:r>
            <a:br>
              <a:rPr lang="en-US" b="0" dirty="0">
                <a:latin typeface="Calibri" panose="020F0502020204030204" pitchFamily="34" charset="0"/>
                <a:ea typeface="Calibri" panose="020F0502020204030204" pitchFamily="34" charset="0"/>
                <a:cs typeface="Calibri" panose="020F0502020204030204" pitchFamily="34" charset="0"/>
              </a:rPr>
            </a:br>
            <a:r>
              <a:rPr lang="en-US" b="0" dirty="0">
                <a:latin typeface="Calibri" panose="020F0502020204030204" pitchFamily="34" charset="0"/>
                <a:ea typeface="Calibri" panose="020F0502020204030204" pitchFamily="34" charset="0"/>
                <a:cs typeface="Calibri" panose="020F0502020204030204" pitchFamily="34" charset="0"/>
              </a:rPr>
              <a:t>“Can you pass this 20-second squat test?”</a:t>
            </a:r>
          </a:p>
        </p:txBody>
      </p:sp>
      <p:cxnSp>
        <p:nvCxnSpPr>
          <p:cNvPr id="15" name="Straight Arrow Connector 14">
            <a:extLst>
              <a:ext uri="{FF2B5EF4-FFF2-40B4-BE49-F238E27FC236}">
                <a16:creationId xmlns:a16="http://schemas.microsoft.com/office/drawing/2014/main" id="{5678EAAF-F8C3-5783-38B8-0A86A3DE5987}"/>
              </a:ext>
            </a:extLst>
          </p:cNvPr>
          <p:cNvCxnSpPr>
            <a:cxnSpLocks/>
            <a:stCxn id="10" idx="2"/>
            <a:endCxn id="18" idx="0"/>
          </p:cNvCxnSpPr>
          <p:nvPr/>
        </p:nvCxnSpPr>
        <p:spPr>
          <a:xfrm>
            <a:off x="10030308" y="3123755"/>
            <a:ext cx="257" cy="2077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B3EC32E-C1A9-E3E9-58B6-2D2E06A38588}"/>
              </a:ext>
            </a:extLst>
          </p:cNvPr>
          <p:cNvSpPr txBox="1"/>
          <p:nvPr/>
        </p:nvSpPr>
        <p:spPr>
          <a:xfrm>
            <a:off x="9734650" y="3331470"/>
            <a:ext cx="591829" cy="276999"/>
          </a:xfrm>
          <a:prstGeom prst="rect">
            <a:avLst/>
          </a:prstGeom>
          <a:noFill/>
        </p:spPr>
        <p:txBody>
          <a:bodyPr wrap="non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Shorts</a:t>
            </a:r>
          </a:p>
        </p:txBody>
      </p:sp>
      <p:sp>
        <p:nvSpPr>
          <p:cNvPr id="28" name="TextBox 27">
            <a:extLst>
              <a:ext uri="{FF2B5EF4-FFF2-40B4-BE49-F238E27FC236}">
                <a16:creationId xmlns:a16="http://schemas.microsoft.com/office/drawing/2014/main" id="{5FB6ED5F-F407-9746-0F25-B3658C90F128}"/>
              </a:ext>
            </a:extLst>
          </p:cNvPr>
          <p:cNvSpPr txBox="1"/>
          <p:nvPr/>
        </p:nvSpPr>
        <p:spPr>
          <a:xfrm>
            <a:off x="8658705" y="4388462"/>
            <a:ext cx="2989953" cy="830997"/>
          </a:xfrm>
          <a:prstGeom prst="rect">
            <a:avLst/>
          </a:prstGeom>
          <a:noFill/>
        </p:spPr>
        <p:txBody>
          <a:bodyPr wrap="square">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YouTube Discovery and the Fitakha exercise library can reinforce each other</a:t>
            </a:r>
            <a:r>
              <a:rPr lang="en-US" sz="1200" dirty="0">
                <a:latin typeface="Calibri" panose="020F0502020204030204" pitchFamily="34" charset="0"/>
                <a:ea typeface="Calibri" panose="020F0502020204030204" pitchFamily="34" charset="0"/>
                <a:cs typeface="Calibri" panose="020F0502020204030204" pitchFamily="34" charset="0"/>
              </a:rPr>
              <a:t>, rather than producing separate contents for the app and YouTube.</a:t>
            </a:r>
          </a:p>
        </p:txBody>
      </p:sp>
    </p:spTree>
    <p:extLst>
      <p:ext uri="{BB962C8B-B14F-4D97-AF65-F5344CB8AC3E}">
        <p14:creationId xmlns:p14="http://schemas.microsoft.com/office/powerpoint/2010/main" val="2261754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FDDF0EF-CB39-E38C-6B02-4DFBBCB661E7}"/>
              </a:ext>
            </a:extLst>
          </p:cNvPr>
          <p:cNvPicPr>
            <a:picLocks noChangeAspect="1"/>
          </p:cNvPicPr>
          <p:nvPr/>
        </p:nvPicPr>
        <p:blipFill>
          <a:blip r:embed="rId2"/>
          <a:stretch>
            <a:fillRect/>
          </a:stretch>
        </p:blipFill>
        <p:spPr>
          <a:xfrm>
            <a:off x="969125" y="1314717"/>
            <a:ext cx="3054507" cy="4673840"/>
          </a:xfrm>
          <a:prstGeom prst="rect">
            <a:avLst/>
          </a:prstGeom>
        </p:spPr>
      </p:pic>
      <p:pic>
        <p:nvPicPr>
          <p:cNvPr id="10" name="Picture 9">
            <a:extLst>
              <a:ext uri="{FF2B5EF4-FFF2-40B4-BE49-F238E27FC236}">
                <a16:creationId xmlns:a16="http://schemas.microsoft.com/office/drawing/2014/main" id="{C3009755-16FC-19FA-7BF1-D42FD27BE916}"/>
              </a:ext>
            </a:extLst>
          </p:cNvPr>
          <p:cNvPicPr>
            <a:picLocks noChangeAspect="1"/>
          </p:cNvPicPr>
          <p:nvPr/>
        </p:nvPicPr>
        <p:blipFill>
          <a:blip r:embed="rId3"/>
          <a:srcRect l="8793" t="27716" r="51183" b="18522"/>
          <a:stretch>
            <a:fillRect/>
          </a:stretch>
        </p:blipFill>
        <p:spPr>
          <a:xfrm>
            <a:off x="4416558" y="1677725"/>
            <a:ext cx="2600076" cy="2441050"/>
          </a:xfrm>
          <a:prstGeom prst="rect">
            <a:avLst/>
          </a:prstGeom>
        </p:spPr>
      </p:pic>
      <p:pic>
        <p:nvPicPr>
          <p:cNvPr id="12" name="Picture 11">
            <a:extLst>
              <a:ext uri="{FF2B5EF4-FFF2-40B4-BE49-F238E27FC236}">
                <a16:creationId xmlns:a16="http://schemas.microsoft.com/office/drawing/2014/main" id="{1812CFD4-8952-3EC2-A07C-60E67806AF18}"/>
              </a:ext>
            </a:extLst>
          </p:cNvPr>
          <p:cNvPicPr>
            <a:picLocks noChangeAspect="1"/>
          </p:cNvPicPr>
          <p:nvPr/>
        </p:nvPicPr>
        <p:blipFill>
          <a:blip r:embed="rId4"/>
          <a:srcRect t="6862" r="53393" b="4851"/>
          <a:stretch>
            <a:fillRect/>
          </a:stretch>
        </p:blipFill>
        <p:spPr>
          <a:xfrm>
            <a:off x="8310549" y="1478942"/>
            <a:ext cx="2912326" cy="2965836"/>
          </a:xfrm>
          <a:prstGeom prst="rect">
            <a:avLst/>
          </a:prstGeom>
        </p:spPr>
      </p:pic>
    </p:spTree>
    <p:extLst>
      <p:ext uri="{BB962C8B-B14F-4D97-AF65-F5344CB8AC3E}">
        <p14:creationId xmlns:p14="http://schemas.microsoft.com/office/powerpoint/2010/main" val="661728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00BCC1-A180-50D5-FF10-264BEA29EB9E}"/>
              </a:ext>
            </a:extLst>
          </p:cNvPr>
          <p:cNvPicPr>
            <a:picLocks noChangeAspect="1"/>
          </p:cNvPicPr>
          <p:nvPr/>
        </p:nvPicPr>
        <p:blipFill>
          <a:blip r:embed="rId3"/>
          <a:srcRect l="2843" t="32475" r="56440" b="4536"/>
          <a:stretch>
            <a:fillRect/>
          </a:stretch>
        </p:blipFill>
        <p:spPr>
          <a:xfrm>
            <a:off x="6687047" y="1558456"/>
            <a:ext cx="2647784" cy="2608028"/>
          </a:xfrm>
          <a:prstGeom prst="rect">
            <a:avLst/>
          </a:prstGeom>
        </p:spPr>
      </p:pic>
      <p:pic>
        <p:nvPicPr>
          <p:cNvPr id="7" name="Picture 6">
            <a:extLst>
              <a:ext uri="{FF2B5EF4-FFF2-40B4-BE49-F238E27FC236}">
                <a16:creationId xmlns:a16="http://schemas.microsoft.com/office/drawing/2014/main" id="{D0ABD164-EBAE-1844-B1DE-A47529A7FB32}"/>
              </a:ext>
            </a:extLst>
          </p:cNvPr>
          <p:cNvPicPr>
            <a:picLocks noChangeAspect="1"/>
          </p:cNvPicPr>
          <p:nvPr/>
        </p:nvPicPr>
        <p:blipFill>
          <a:blip r:embed="rId4"/>
          <a:srcRect t="6862" r="53393" b="4851"/>
          <a:stretch>
            <a:fillRect/>
          </a:stretch>
        </p:blipFill>
        <p:spPr>
          <a:xfrm>
            <a:off x="2971640" y="1979875"/>
            <a:ext cx="2912326" cy="2965836"/>
          </a:xfrm>
          <a:prstGeom prst="rect">
            <a:avLst/>
          </a:prstGeom>
        </p:spPr>
      </p:pic>
    </p:spTree>
    <p:extLst>
      <p:ext uri="{BB962C8B-B14F-4D97-AF65-F5344CB8AC3E}">
        <p14:creationId xmlns:p14="http://schemas.microsoft.com/office/powerpoint/2010/main" val="17446871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12677</TotalTime>
  <Words>5164</Words>
  <Application>Microsoft Office PowerPoint</Application>
  <PresentationFormat>Widescreen</PresentationFormat>
  <Paragraphs>596</Paragraphs>
  <Slides>28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Fitakha Product Family </vt:lpstr>
      <vt:lpstr>Fitakha Reference Architecture</vt:lpstr>
      <vt:lpstr>Fitakha Ecosystem + Minimum-Cost Tech Stack</vt:lpstr>
      <vt:lpstr>The Moat</vt:lpstr>
      <vt:lpstr>The Moat</vt:lpstr>
      <vt:lpstr>Exercise Graph + Content Model</vt:lpstr>
      <vt:lpstr>Exercise Graph + Content Model</vt:lpstr>
      <vt:lpstr>Why AI Still Matters?</vt:lpstr>
      <vt:lpstr>B2B Platform Integrations Models</vt:lpstr>
      <vt:lpstr>Business Model</vt:lpstr>
      <vt:lpstr>Fitakha Flywheel</vt:lpstr>
      <vt:lpstr>One Exercise → Many Assets</vt:lpstr>
      <vt:lpstr>Design</vt:lpstr>
      <vt:lpstr>Taxonomy</vt:lpstr>
      <vt:lpstr>Rules Engine</vt:lpstr>
      <vt:lpstr>Rules Engine</vt:lpstr>
      <vt:lpstr>Rules Engine</vt:lpstr>
      <vt:lpstr>Rules Engine</vt:lpstr>
      <vt:lpstr>Archive</vt:lpstr>
      <vt:lpstr>Fitakha Channel YouTube Discovery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Vimlesh Mittal</dc:creator>
  <cp:lastModifiedBy>Vimlesh Mittal</cp:lastModifiedBy>
  <cp:revision>11</cp:revision>
  <cp:lastPrinted>2026-08-30T02:26:42Z</cp:lastPrinted>
  <dcterms:created xsi:type="dcterms:W3CDTF">2026-08-26T16:52:41Z</dcterms:created>
  <dcterms:modified xsi:type="dcterms:W3CDTF">2026-09-26T14:16:45Z</dcterms:modified>
</cp:coreProperties>
</file>